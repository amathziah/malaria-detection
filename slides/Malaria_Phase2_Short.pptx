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58b49b4-ac94-f58a-a57c-5cbc1cc6605d}">
          <p14:sldIdLst>
            <p14:sldId id="256"/>
            <p14:sldId id="257"/>
          </p14:sldIdLst>
        </p14:section>
        <p14:section name="Reproduction" id="{2c434f80-7890-6190-5b1c-a87183492ac4}">
          <p14:sldIdLst>
            <p14:sldId id="258"/>
            <p14:sldId id="259"/>
            <p14:sldId id="260"/>
            <p14:sldId id="261"/>
          </p14:sldIdLst>
        </p14:section>
        <p14:section name="Results" id="{2c009677-d917-8b8e-b452-54af5d62aafe}">
          <p14:sldIdLst>
            <p14:sldId id="262"/>
            <p14:sldId id="263"/>
            <p14:sldId id="264"/>
            <p14:sldId id="265"/>
          </p14:sldIdLst>
        </p14:section>
        <p14:section name="Engineering and next steps" id="{ee4c47f7-fcd9-3873-5b38-02c75b41b0e4}">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short version of Phase 2: everything we did after the literature review, in thirteen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story in one slide. We picked Marques et al. as our base paper, rebuilt it from the authors' own code, and trained all ten folds in parallel. Mean fold accuracy 97.55 against 97.56, ensemble 97.62 against 98.29, ROC-AUC 99.73 against 99.76, about eleven minutes per fold. Next, we test it under a fair, slide-level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paper: published, executable code, the strictest validation in our review, a light backbone, and results strong enough to matter but with room to measure change. These are the numbers we had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attempt followed the paper's text and got within a point, but several settings were guesses. The authors' executed notebook differs from the text in eight places; these are the most important ones. It also revealed two quirks: evaluation on augmented images, and precision and recall swapped in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exactly as the code runs it: an 80/20 split, ten stratified folds on the 22,046 learning images, ten models, and an ensemble that averages their outputs on the 5,512 hold-out images. The split is seeded so every GPU used the same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EfficientNet-B0 with noisy-student weights and the paper's dense head of 128, 64 and 32 units with a two-unit softmax. 4,223,934 parameters, exactly the paper's Table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the numbers. Left: the ensemble's four outcomes on the 5,512 hold-out cells; 2,650 infected cells caught and 80 missed. Recall is the share of infected cells we catch, precision the share of our 'infected' calls that are right, and F1 balances the two. Right: a lower threshold catches more infections but raises more false alarms; we use 0.5. A pp is the plain difference between two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next to the paper's printed numbers, with the axis starting at 96 percent. Mean fold accuracy matches to a hundredth of a point; the ensemble metrics are about 0.7 points lower, all inside our one-point criterion. Scoring on clean images changes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 by fold we track the paper closely: the dashed line shows both means, 97.55 for us and 97.56 for the paper. On the right are the ensemble's mistakes on the hold-out cells: 80 missed infections and 51 false alarms, against 62 and 32 in the paper. Recall is our priority metric, because a missed infection is the worse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and middle: validation accuracy and loss for all ten folds, thin lines, and their mean, the thick line. Accuracy settles near 97.5 percent after about ten epochs, and the loss keeps drifting down as the learning rate halves. Right: the ensemble's ROC curve hugs the top-left corner with an AUC of 99.73 percent, so it ranks infected cells above healthy ones almost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our ten folds, one RTX 4090 each, all at once: about 11 minutes per fold, fold 3 on a slower host. Right: the paper needed 286 minutes per fold, so we are about 25 times faster, for about 4.8 dollars in total. The key speed-ups were a decoded image cache, parallel seeded augmentation, uint8 transfers and XLA, all without changing the maths, and the trained models are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H1 tests whether accuracy drops once cells from the same slide can no longer appear in both training and testing. H2 tests whether YUV stain normalisation wins it back. A0 is done; A1 to A3 are one switch each in 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reproduced within one point, two quirks of the paper documented, training about 25 times faster per fold with published models, and a clear plan for testing on unseen slides.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rtlCol="0"/>
          <a:lstStyle>
            <a:lvl1pPr algn="l" indent="0" marL="0">
              <a:buNone/>
              <a:defRPr lang="en-US" sz="1200" b="1" spc="15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Automated Malaria Cell Detection · Phase 2 (short)</a:t>
            </a:r>
            <a:endParaRPr lang="en-US" sz="10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3B43"/>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0E3B4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331720"/>
            <a:ext cx="10515600" cy="365760"/>
          </a:xfrm>
          <a:prstGeom prst="rect">
            <a:avLst/>
          </a:prstGeom>
          <a:noFill/>
          <a:ln/>
        </p:spPr>
        <p:txBody>
          <a:bodyPr wrap="square" rtlCol="0"/>
          <a:lstStyle>
            <a:lvl1pPr algn="l" indent="0" marL="0">
              <a:buNone/>
              <a:defRPr lang="en-US" sz="1600" b="1" spc="200" kern="0" dirty="0">
                <a:solidFill>
                  <a:schemeClr val="accent2"/>
                </a:solidFill>
              </a:defRPr>
            </a:lvl1pPr>
          </a:lstStyle>
          <a:p>
            <a:pPr algn="l" indent="0" marL="0">
              <a:buNone/>
            </a:pPr>
            <a:endParaRPr lang="en-US" sz="1600" dirty="0"/>
          </a:p>
        </p:txBody>
      </p:sp>
      <p:sp>
        <p:nvSpPr>
          <p:cNvPr id="3" name="Text 0"/>
          <p:cNvSpPr/>
          <p:nvPr>
            <p:ph idx="101" type="title" hasCustomPrompt="1"/>
          </p:nvPr>
        </p:nvSpPr>
        <p:spPr>
          <a:xfrm>
            <a:off x="822960" y="2743200"/>
            <a:ext cx="1051560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822960" y="3794760"/>
            <a:ext cx="10058400" cy="822960"/>
          </a:xfrm>
          <a:prstGeom prst="rect">
            <a:avLst/>
          </a:prstGeom>
          <a:noFill/>
          <a:ln/>
        </p:spPr>
        <p:txBody>
          <a:bodyPr wrap="square" rtlCol="0"/>
          <a:lstStyle>
            <a:lvl1pPr algn="l" indent="0" marL="0">
              <a:buNone/>
              <a:defRPr lang="en-US" sz="1800" dirty="0">
                <a:solidFill>
                  <a:schemeClr val="accent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960120"/>
            <a:ext cx="10515600" cy="365760"/>
          </a:xfrm>
          <a:prstGeom prst="rect">
            <a:avLst/>
          </a:prstGeom>
          <a:noFill/>
          <a:ln/>
        </p:spPr>
        <p:txBody>
          <a:bodyPr wrap="square" lIns="0" tIns="0" rIns="0" bIns="0" rtlCol="0" anchor="t"/>
          <a:lstStyle/>
          <a:p>
            <a:pPr indent="0" marL="0">
              <a:buNone/>
            </a:pPr>
            <a:r>
              <a:rPr lang="en-US" sz="1500" b="1" spc="200" kern="0" dirty="0">
                <a:solidFill>
                  <a:schemeClr val="accent2"/>
                </a:solidFill>
              </a:rPr>
              <a:t>PHASE 2 · SHORT VERSION</a:t>
            </a:r>
            <a:endParaRPr lang="en-US" sz="1500" dirty="0"/>
          </a:p>
        </p:txBody>
      </p:sp>
      <p:sp>
        <p:nvSpPr>
          <p:cNvPr id="3" name="Text 1"/>
          <p:cNvSpPr txBox="1"/>
          <p:nvPr/>
        </p:nvSpPr>
        <p:spPr>
          <a:xfrm>
            <a:off x="822960" y="1371600"/>
            <a:ext cx="10607040" cy="1463040"/>
          </a:xfrm>
          <a:prstGeom prst="rect">
            <a:avLst/>
          </a:prstGeom>
          <a:noFill/>
          <a:ln/>
        </p:spPr>
        <p:txBody>
          <a:bodyPr wrap="square" lIns="0" tIns="0" rIns="0" bIns="0" rtlCol="0" anchor="t"/>
          <a:lstStyle/>
          <a:p>
            <a:pPr indent="0" marL="0">
              <a:buNone/>
            </a:pPr>
            <a:r>
              <a:rPr lang="en-US" sz="4200" b="1" dirty="0">
                <a:solidFill>
                  <a:schemeClr val="bg1"/>
                </a:solidFill>
                <a:latin typeface="Calibri" pitchFamily="34" charset="0"/>
                <a:ea typeface="Calibri" pitchFamily="34" charset="-122"/>
                <a:cs typeface="Calibri" pitchFamily="34" charset="-120"/>
              </a:rPr>
              <a:t>Reproducing EfficientNet-B0 for malaria detection</a:t>
            </a:r>
            <a:endParaRPr lang="en-US" sz="4200" dirty="0"/>
          </a:p>
        </p:txBody>
      </p:sp>
      <p:sp>
        <p:nvSpPr>
          <p:cNvPr id="4" name="Text 2"/>
          <p:cNvSpPr txBox="1"/>
          <p:nvPr/>
        </p:nvSpPr>
        <p:spPr>
          <a:xfrm>
            <a:off x="822960" y="2880360"/>
            <a:ext cx="9875520" cy="914400"/>
          </a:xfrm>
          <a:prstGeom prst="rect">
            <a:avLst/>
          </a:prstGeom>
          <a:noFill/>
          <a:ln/>
        </p:spPr>
        <p:txBody>
          <a:bodyPr wrap="square" lIns="0" tIns="0" rIns="0" bIns="0" rtlCol="0" anchor="t"/>
          <a:lstStyle/>
          <a:p>
            <a:pPr indent="0" marL="0">
              <a:buNone/>
            </a:pPr>
            <a:r>
              <a:rPr lang="en-US" sz="2000" dirty="0">
                <a:solidFill>
                  <a:schemeClr val="accent2"/>
                </a:solidFill>
              </a:rPr>
              <a:t>From the paper's own code to all 10 folds: results, findings and what we test next</a:t>
            </a:r>
            <a:endParaRPr lang="en-US" sz="2000" dirty="0"/>
          </a:p>
        </p:txBody>
      </p:sp>
      <p:sp>
        <p:nvSpPr>
          <p:cNvPr id="5" name="Shape 3"/>
          <p:cNvSpPr/>
          <p:nvPr/>
        </p:nvSpPr>
        <p:spPr>
          <a:xfrm>
            <a:off x="822960" y="4206240"/>
            <a:ext cx="566928" cy="566928"/>
          </a:xfrm>
          <a:prstGeom prst="ellipse">
            <a:avLst/>
          </a:prstGeom>
          <a:solidFill>
            <a:schemeClr val="accent1"/>
          </a:solidFill>
          <a:ln w="6350">
            <a:solidFill>
              <a:schemeClr val="accent1"/>
            </a:solidFill>
            <a:prstDash val="solid"/>
          </a:ln>
        </p:spPr>
      </p:sp>
      <p:sp>
        <p:nvSpPr>
          <p:cNvPr id="6" name="Text 4"/>
          <p:cNvSpPr txBox="1"/>
          <p:nvPr/>
        </p:nvSpPr>
        <p:spPr>
          <a:xfrm>
            <a:off x="822960" y="42062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AJ</a:t>
            </a:r>
            <a:endParaRPr lang="en-US" sz="1600" dirty="0"/>
          </a:p>
        </p:txBody>
      </p:sp>
      <p:sp>
        <p:nvSpPr>
          <p:cNvPr id="7" name="Text 5"/>
          <p:cNvSpPr txBox="1"/>
          <p:nvPr/>
        </p:nvSpPr>
        <p:spPr>
          <a:xfrm>
            <a:off x="1536192" y="4178808"/>
            <a:ext cx="1874520" cy="685800"/>
          </a:xfrm>
          <a:prstGeom prst="rect">
            <a:avLst/>
          </a:prstGeom>
          <a:noFill/>
          <a:ln/>
        </p:spPr>
        <p:txBody>
          <a:bodyPr wrap="square" lIns="0" tIns="0" rIns="0" bIns="0" rtlCol="0" anchor="t"/>
          <a:lstStyle/>
          <a:p>
            <a:pPr indent="0" marL="0">
              <a:buNone/>
            </a:pPr>
            <a:r>
              <a:rPr lang="en-US" sz="1500" b="1" dirty="0">
                <a:solidFill>
                  <a:schemeClr val="bg1"/>
                </a:solidFill>
              </a:rPr>
              <a:t>J Amathziah</a:t>
            </a:r>
            <a:endParaRPr lang="en-US" sz="1500" dirty="0"/>
          </a:p>
          <a:p>
            <a:pPr indent="0" marL="0">
              <a:buNone/>
            </a:pPr>
            <a:r>
              <a:rPr lang="en-US" sz="1200" dirty="0">
                <a:solidFill>
                  <a:schemeClr val="accent2"/>
                </a:solidFill>
              </a:rPr>
              <a:t>230139 · Kaggle runs, repository</a:t>
            </a:r>
            <a:endParaRPr lang="en-US" sz="1500" dirty="0"/>
          </a:p>
        </p:txBody>
      </p:sp>
      <p:sp>
        <p:nvSpPr>
          <p:cNvPr id="8" name="Shape 6"/>
          <p:cNvSpPr/>
          <p:nvPr/>
        </p:nvSpPr>
        <p:spPr>
          <a:xfrm>
            <a:off x="3520440" y="4206240"/>
            <a:ext cx="566928" cy="566928"/>
          </a:xfrm>
          <a:prstGeom prst="ellipse">
            <a:avLst/>
          </a:prstGeom>
          <a:solidFill>
            <a:schemeClr val="accent1"/>
          </a:solidFill>
          <a:ln w="6350">
            <a:solidFill>
              <a:schemeClr val="accent1"/>
            </a:solidFill>
            <a:prstDash val="solid"/>
          </a:ln>
        </p:spPr>
      </p:sp>
      <p:sp>
        <p:nvSpPr>
          <p:cNvPr id="9" name="Text 7"/>
          <p:cNvSpPr txBox="1"/>
          <p:nvPr/>
        </p:nvSpPr>
        <p:spPr>
          <a:xfrm>
            <a:off x="3520440" y="42062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MM</a:t>
            </a:r>
            <a:endParaRPr lang="en-US" sz="1600" dirty="0"/>
          </a:p>
        </p:txBody>
      </p:sp>
      <p:sp>
        <p:nvSpPr>
          <p:cNvPr id="10" name="Text 8"/>
          <p:cNvSpPr txBox="1"/>
          <p:nvPr/>
        </p:nvSpPr>
        <p:spPr>
          <a:xfrm>
            <a:off x="4233672" y="4178808"/>
            <a:ext cx="1874520" cy="685800"/>
          </a:xfrm>
          <a:prstGeom prst="rect">
            <a:avLst/>
          </a:prstGeom>
          <a:noFill/>
          <a:ln/>
        </p:spPr>
        <p:txBody>
          <a:bodyPr wrap="square" lIns="0" tIns="0" rIns="0" bIns="0" rtlCol="0" anchor="t"/>
          <a:lstStyle/>
          <a:p>
            <a:pPr indent="0" marL="0">
              <a:buNone/>
            </a:pPr>
            <a:r>
              <a:rPr lang="en-US" sz="1500" b="1" dirty="0">
                <a:solidFill>
                  <a:schemeClr val="bg1"/>
                </a:solidFill>
              </a:rPr>
              <a:t>C Murali Madhav</a:t>
            </a:r>
            <a:endParaRPr lang="en-US" sz="1500" dirty="0"/>
          </a:p>
          <a:p>
            <a:pPr indent="0" marL="0">
              <a:buNone/>
            </a:pPr>
            <a:r>
              <a:rPr lang="en-US" sz="1200" dirty="0">
                <a:solidFill>
                  <a:schemeClr val="accent2"/>
                </a:solidFill>
              </a:rPr>
              <a:t>230115 · Code: notebook, scripts</a:t>
            </a:r>
            <a:endParaRPr lang="en-US" sz="1500" dirty="0"/>
          </a:p>
        </p:txBody>
      </p:sp>
      <p:sp>
        <p:nvSpPr>
          <p:cNvPr id="11" name="Shape 9"/>
          <p:cNvSpPr/>
          <p:nvPr/>
        </p:nvSpPr>
        <p:spPr>
          <a:xfrm>
            <a:off x="6217920" y="4206240"/>
            <a:ext cx="566928" cy="566928"/>
          </a:xfrm>
          <a:prstGeom prst="ellipse">
            <a:avLst/>
          </a:prstGeom>
          <a:solidFill>
            <a:schemeClr val="accent1"/>
          </a:solidFill>
          <a:ln w="6350">
            <a:solidFill>
              <a:schemeClr val="accent1"/>
            </a:solidFill>
            <a:prstDash val="solid"/>
          </a:ln>
        </p:spPr>
      </p:sp>
      <p:sp>
        <p:nvSpPr>
          <p:cNvPr id="12" name="Text 10"/>
          <p:cNvSpPr txBox="1"/>
          <p:nvPr/>
        </p:nvSpPr>
        <p:spPr>
          <a:xfrm>
            <a:off x="6217920" y="42062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RY</a:t>
            </a:r>
            <a:endParaRPr lang="en-US" sz="1600" dirty="0"/>
          </a:p>
        </p:txBody>
      </p:sp>
      <p:sp>
        <p:nvSpPr>
          <p:cNvPr id="13" name="Text 11"/>
          <p:cNvSpPr txBox="1"/>
          <p:nvPr/>
        </p:nvSpPr>
        <p:spPr>
          <a:xfrm>
            <a:off x="6931152" y="4178808"/>
            <a:ext cx="1874520" cy="685800"/>
          </a:xfrm>
          <a:prstGeom prst="rect">
            <a:avLst/>
          </a:prstGeom>
          <a:noFill/>
          <a:ln/>
        </p:spPr>
        <p:txBody>
          <a:bodyPr wrap="square" lIns="0" tIns="0" rIns="0" bIns="0" rtlCol="0" anchor="t"/>
          <a:lstStyle/>
          <a:p>
            <a:pPr indent="0" marL="0">
              <a:buNone/>
            </a:pPr>
            <a:r>
              <a:rPr lang="en-US" sz="1500" b="1" dirty="0">
                <a:solidFill>
                  <a:schemeClr val="bg1"/>
                </a:solidFill>
              </a:rPr>
              <a:t>Ravi Yadav</a:t>
            </a:r>
            <a:endParaRPr lang="en-US" sz="1500" dirty="0"/>
          </a:p>
          <a:p>
            <a:pPr indent="0" marL="0">
              <a:buNone/>
            </a:pPr>
            <a:r>
              <a:rPr lang="en-US" sz="1200" dirty="0">
                <a:solidFill>
                  <a:schemeClr val="accent2"/>
                </a:solidFill>
              </a:rPr>
              <a:t>230131 · Slides</a:t>
            </a:r>
            <a:endParaRPr lang="en-US" sz="1500" dirty="0"/>
          </a:p>
        </p:txBody>
      </p:sp>
      <p:sp>
        <p:nvSpPr>
          <p:cNvPr id="14" name="Shape 12"/>
          <p:cNvSpPr/>
          <p:nvPr/>
        </p:nvSpPr>
        <p:spPr>
          <a:xfrm>
            <a:off x="8915400" y="4206240"/>
            <a:ext cx="566928" cy="566928"/>
          </a:xfrm>
          <a:prstGeom prst="ellipse">
            <a:avLst/>
          </a:prstGeom>
          <a:solidFill>
            <a:schemeClr val="accent1"/>
          </a:solidFill>
          <a:ln w="6350">
            <a:solidFill>
              <a:schemeClr val="accent1"/>
            </a:solidFill>
            <a:prstDash val="solid"/>
          </a:ln>
        </p:spPr>
      </p:sp>
      <p:sp>
        <p:nvSpPr>
          <p:cNvPr id="15" name="Text 13"/>
          <p:cNvSpPr txBox="1"/>
          <p:nvPr/>
        </p:nvSpPr>
        <p:spPr>
          <a:xfrm>
            <a:off x="8915400" y="420624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PJ</a:t>
            </a:r>
            <a:endParaRPr lang="en-US" sz="1600" dirty="0"/>
          </a:p>
        </p:txBody>
      </p:sp>
      <p:sp>
        <p:nvSpPr>
          <p:cNvPr id="16" name="Text 14"/>
          <p:cNvSpPr txBox="1"/>
          <p:nvPr/>
        </p:nvSpPr>
        <p:spPr>
          <a:xfrm>
            <a:off x="9628632" y="4178808"/>
            <a:ext cx="1874520" cy="685800"/>
          </a:xfrm>
          <a:prstGeom prst="rect">
            <a:avLst/>
          </a:prstGeom>
          <a:noFill/>
          <a:ln/>
        </p:spPr>
        <p:txBody>
          <a:bodyPr wrap="square" lIns="0" tIns="0" rIns="0" bIns="0" rtlCol="0" anchor="t"/>
          <a:lstStyle/>
          <a:p>
            <a:pPr indent="0" marL="0">
              <a:buNone/>
            </a:pPr>
            <a:r>
              <a:rPr lang="en-US" sz="1500" b="1" dirty="0">
                <a:solidFill>
                  <a:schemeClr val="bg1"/>
                </a:solidFill>
              </a:rPr>
              <a:t>Pugazhendhi J</a:t>
            </a:r>
            <a:endParaRPr lang="en-US" sz="1500" dirty="0"/>
          </a:p>
          <a:p>
            <a:pPr indent="0" marL="0">
              <a:buNone/>
            </a:pPr>
            <a:r>
              <a:rPr lang="en-US" sz="1200" dirty="0">
                <a:solidFill>
                  <a:schemeClr val="accent2"/>
                </a:solidFill>
              </a:rPr>
              <a:t>230066 · Report</a:t>
            </a:r>
            <a:endParaRPr lang="en-US" sz="1500" dirty="0"/>
          </a:p>
        </p:txBody>
      </p:sp>
      <p:sp>
        <p:nvSpPr>
          <p:cNvPr id="17" name="Text 15"/>
          <p:cNvSpPr txBox="1"/>
          <p:nvPr/>
        </p:nvSpPr>
        <p:spPr>
          <a:xfrm>
            <a:off x="822960" y="5989320"/>
            <a:ext cx="10515600" cy="320040"/>
          </a:xfrm>
          <a:prstGeom prst="rect">
            <a:avLst/>
          </a:prstGeom>
          <a:noFill/>
          <a:ln/>
        </p:spPr>
        <p:txBody>
          <a:bodyPr wrap="square" lIns="0" tIns="0" rIns="0" bIns="0" rtlCol="0" anchor="t"/>
          <a:lstStyle/>
          <a:p>
            <a:pPr indent="0" marL="0">
              <a:buNone/>
            </a:pPr>
            <a:r>
              <a:rPr lang="en-US" sz="1200" dirty="0">
                <a:solidFill>
                  <a:schemeClr val="accent2"/>
                </a:solidFill>
              </a:rPr>
              <a:t>Department of Computer Science · Rishihood University, Sonipat, India  ·  github.com/amathziah/malaria-detection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 ONE SLIDE</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What we did after Phase 1, and what we found</a:t>
            </a:r>
            <a:endParaRPr lang="en-US" sz="3200" dirty="0"/>
          </a:p>
        </p:txBody>
      </p:sp>
      <p:sp>
        <p:nvSpPr>
          <p:cNvPr id="4" name="Shape 2"/>
          <p:cNvSpPr/>
          <p:nvPr/>
        </p:nvSpPr>
        <p:spPr>
          <a:xfrm>
            <a:off x="548640" y="1691640"/>
            <a:ext cx="566928" cy="566928"/>
          </a:xfrm>
          <a:prstGeom prst="ellipse">
            <a:avLst/>
          </a:prstGeom>
          <a:solidFill>
            <a:schemeClr val="accent1"/>
          </a:solidFill>
          <a:ln w="635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667695" y="1810695"/>
            <a:ext cx="328818" cy="328818"/>
          </a:xfrm>
          <a:prstGeom prst="rect">
            <a:avLst/>
          </a:prstGeom>
        </p:spPr>
      </p:pic>
      <p:sp>
        <p:nvSpPr>
          <p:cNvPr id="6" name="Text 3"/>
          <p:cNvSpPr txBox="1"/>
          <p:nvPr/>
        </p:nvSpPr>
        <p:spPr>
          <a:xfrm>
            <a:off x="1344168" y="1655064"/>
            <a:ext cx="2724912" cy="16002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Phase 1 · reviewed 11 studies</a:t>
            </a:r>
            <a:endParaRPr lang="en-US" sz="1400" dirty="0"/>
          </a:p>
          <a:p>
            <a:pPr indent="0" marL="0">
              <a:spcAft>
                <a:spcPts val="300"/>
              </a:spcAft>
              <a:buNone/>
            </a:pPr>
            <a:r>
              <a:rPr lang="en-US" sz="1400" dirty="0">
                <a:solidFill>
                  <a:schemeClr val="tx1"/>
                </a:solidFill>
              </a:rPr>
              <a:t>Accuracy on the NIH cells is reported at 96–99.9 %, but most studies split images at random, so one patient's cells sit in both training and testing.</a:t>
            </a:r>
            <a:endParaRPr lang="en-US" sz="1400" dirty="0"/>
          </a:p>
        </p:txBody>
      </p:sp>
      <p:sp>
        <p:nvSpPr>
          <p:cNvPr id="7" name="Shape 4"/>
          <p:cNvSpPr/>
          <p:nvPr/>
        </p:nvSpPr>
        <p:spPr>
          <a:xfrm>
            <a:off x="4297680" y="1691640"/>
            <a:ext cx="566928" cy="566928"/>
          </a:xfrm>
          <a:prstGeom prst="ellipse">
            <a:avLst/>
          </a:prstGeom>
          <a:solidFill>
            <a:schemeClr val="accent1"/>
          </a:solidFill>
          <a:ln w="635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4416735" y="1810695"/>
            <a:ext cx="328818" cy="328818"/>
          </a:xfrm>
          <a:prstGeom prst="rect">
            <a:avLst/>
          </a:prstGeom>
        </p:spPr>
      </p:pic>
      <p:sp>
        <p:nvSpPr>
          <p:cNvPr id="9" name="Text 5"/>
          <p:cNvSpPr txBox="1"/>
          <p:nvPr/>
        </p:nvSpPr>
        <p:spPr>
          <a:xfrm>
            <a:off x="5093208" y="1655064"/>
            <a:ext cx="2724912" cy="16002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Phase 2 · reproduced the base paper</a:t>
            </a:r>
            <a:endParaRPr lang="en-US" sz="1400" dirty="0"/>
          </a:p>
          <a:p>
            <a:pPr indent="0" marL="0">
              <a:spcAft>
                <a:spcPts val="300"/>
              </a:spcAft>
              <a:buNone/>
            </a:pPr>
            <a:r>
              <a:rPr lang="en-US" sz="1400" dirty="0">
                <a:solidFill>
                  <a:schemeClr val="tx1"/>
                </a:solidFill>
              </a:rPr>
              <a:t>Marques et al. (2022): EfficientNet-B0 + a 10-fold ensemble. We rebuilt it from the authors' own code and trained all 10 folds.</a:t>
            </a:r>
            <a:endParaRPr lang="en-US" sz="1400" dirty="0"/>
          </a:p>
        </p:txBody>
      </p:sp>
      <p:sp>
        <p:nvSpPr>
          <p:cNvPr id="10" name="Shape 6"/>
          <p:cNvSpPr/>
          <p:nvPr/>
        </p:nvSpPr>
        <p:spPr>
          <a:xfrm>
            <a:off x="8046720" y="1691640"/>
            <a:ext cx="566928" cy="566928"/>
          </a:xfrm>
          <a:prstGeom prst="ellipse">
            <a:avLst/>
          </a:prstGeom>
          <a:solidFill>
            <a:schemeClr val="accent1"/>
          </a:solidFill>
          <a:ln w="6350">
            <a:solidFill>
              <a:schemeClr val="accent1"/>
            </a:solidFill>
            <a:prstDash val="solid"/>
          </a:ln>
        </p:spPr>
      </p:sp>
      <p:pic>
        <p:nvPicPr>
          <p:cNvPr id="11" name="Image 2" descr="preencoded.png">    </p:cNvPr>
          <p:cNvPicPr>
            <a:picLocks noChangeAspect="1"/>
          </p:cNvPicPr>
          <p:nvPr/>
        </p:nvPicPr>
        <p:blipFill>
          <a:blip r:embed="rId3"/>
          <a:stretch>
            <a:fillRect/>
          </a:stretch>
        </p:blipFill>
        <p:spPr>
          <a:xfrm>
            <a:off x="8165775" y="1810695"/>
            <a:ext cx="328818" cy="328818"/>
          </a:xfrm>
          <a:prstGeom prst="rect">
            <a:avLst/>
          </a:prstGeom>
        </p:spPr>
      </p:pic>
      <p:sp>
        <p:nvSpPr>
          <p:cNvPr id="12" name="Text 7"/>
          <p:cNvSpPr txBox="1"/>
          <p:nvPr/>
        </p:nvSpPr>
        <p:spPr>
          <a:xfrm>
            <a:off x="8842248" y="1655064"/>
            <a:ext cx="2724912" cy="16002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Next · test it fairly</a:t>
            </a:r>
            <a:endParaRPr lang="en-US" sz="1400" dirty="0"/>
          </a:p>
          <a:p>
            <a:pPr indent="0" marL="0">
              <a:spcAft>
                <a:spcPts val="300"/>
              </a:spcAft>
              <a:buNone/>
            </a:pPr>
            <a:r>
              <a:rPr lang="en-US" sz="1400" dirty="0">
                <a:solidFill>
                  <a:schemeClr val="tx1"/>
                </a:solidFill>
              </a:rPr>
              <a:t>H1: does accuracy drop once slide-level leakage is removed? H2: does YUV stain normalisation win it back?</a:t>
            </a:r>
            <a:endParaRPr lang="en-US" sz="1400" dirty="0"/>
          </a:p>
        </p:txBody>
      </p:sp>
      <p:sp>
        <p:nvSpPr>
          <p:cNvPr id="13" name="Shape 8"/>
          <p:cNvSpPr/>
          <p:nvPr/>
        </p:nvSpPr>
        <p:spPr>
          <a:xfrm>
            <a:off x="548640" y="3794760"/>
            <a:ext cx="2615184" cy="1600200"/>
          </a:xfrm>
          <a:prstGeom prst="roundRect">
            <a:avLst>
              <a:gd name="adj" fmla="val 4571"/>
            </a:avLst>
          </a:prstGeom>
          <a:solidFill>
            <a:schemeClr val="bg2"/>
          </a:solidFill>
          <a:ln w="9525">
            <a:solidFill>
              <a:schemeClr val="bg2"/>
            </a:solidFill>
            <a:prstDash val="solid"/>
          </a:ln>
        </p:spPr>
      </p:sp>
      <p:sp>
        <p:nvSpPr>
          <p:cNvPr id="14" name="Text 9"/>
          <p:cNvSpPr txBox="1"/>
          <p:nvPr/>
        </p:nvSpPr>
        <p:spPr>
          <a:xfrm>
            <a:off x="777240" y="4007358"/>
            <a:ext cx="2157984" cy="571500"/>
          </a:xfrm>
          <a:prstGeom prst="rect">
            <a:avLst/>
          </a:prstGeom>
          <a:noFill/>
          <a:ln/>
        </p:spPr>
        <p:txBody>
          <a:bodyPr wrap="square" lIns="0" tIns="0" rIns="0" bIns="0" rtlCol="0" anchor="ctr"/>
          <a:lstStyle/>
          <a:p>
            <a:pPr indent="0" marL="0">
              <a:buNone/>
            </a:pPr>
            <a:r>
              <a:rPr lang="en-US" sz="3600" b="1" dirty="0">
                <a:solidFill>
                  <a:schemeClr val="accent1"/>
                </a:solidFill>
              </a:rPr>
              <a:t>97.55 %</a:t>
            </a:r>
            <a:endParaRPr lang="en-US" sz="3600" dirty="0"/>
          </a:p>
        </p:txBody>
      </p:sp>
      <p:sp>
        <p:nvSpPr>
          <p:cNvPr id="15" name="Text 10"/>
          <p:cNvSpPr txBox="1"/>
          <p:nvPr/>
        </p:nvSpPr>
        <p:spPr>
          <a:xfrm>
            <a:off x="777240" y="457885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mean fold accuracy</a:t>
            </a:r>
            <a:endParaRPr lang="en-US" sz="1400" dirty="0"/>
          </a:p>
        </p:txBody>
      </p:sp>
      <p:sp>
        <p:nvSpPr>
          <p:cNvPr id="16" name="Text 11"/>
          <p:cNvSpPr txBox="1"/>
          <p:nvPr/>
        </p:nvSpPr>
        <p:spPr>
          <a:xfrm>
            <a:off x="777240" y="488975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97.56 % · Δ −0.01 pp</a:t>
            </a:r>
            <a:endParaRPr lang="en-US" sz="1200" dirty="0"/>
          </a:p>
        </p:txBody>
      </p:sp>
      <p:sp>
        <p:nvSpPr>
          <p:cNvPr id="17" name="Shape 12"/>
          <p:cNvSpPr/>
          <p:nvPr/>
        </p:nvSpPr>
        <p:spPr>
          <a:xfrm>
            <a:off x="3346704" y="3794760"/>
            <a:ext cx="2615184" cy="1600200"/>
          </a:xfrm>
          <a:prstGeom prst="roundRect">
            <a:avLst>
              <a:gd name="adj" fmla="val 4571"/>
            </a:avLst>
          </a:prstGeom>
          <a:solidFill>
            <a:schemeClr val="bg2"/>
          </a:solidFill>
          <a:ln w="9525">
            <a:solidFill>
              <a:schemeClr val="bg2"/>
            </a:solidFill>
            <a:prstDash val="solid"/>
          </a:ln>
        </p:spPr>
      </p:sp>
      <p:sp>
        <p:nvSpPr>
          <p:cNvPr id="18" name="Text 13"/>
          <p:cNvSpPr txBox="1"/>
          <p:nvPr/>
        </p:nvSpPr>
        <p:spPr>
          <a:xfrm>
            <a:off x="3575304" y="4007358"/>
            <a:ext cx="2157984" cy="571500"/>
          </a:xfrm>
          <a:prstGeom prst="rect">
            <a:avLst/>
          </a:prstGeom>
          <a:noFill/>
          <a:ln/>
        </p:spPr>
        <p:txBody>
          <a:bodyPr wrap="square" lIns="0" tIns="0" rIns="0" bIns="0" rtlCol="0" anchor="ctr"/>
          <a:lstStyle/>
          <a:p>
            <a:pPr indent="0" marL="0">
              <a:buNone/>
            </a:pPr>
            <a:r>
              <a:rPr lang="en-US" sz="3600" b="1" dirty="0">
                <a:solidFill>
                  <a:schemeClr val="accent1"/>
                </a:solidFill>
              </a:rPr>
              <a:t>97.62 %</a:t>
            </a:r>
            <a:endParaRPr lang="en-US" sz="3600" dirty="0"/>
          </a:p>
        </p:txBody>
      </p:sp>
      <p:sp>
        <p:nvSpPr>
          <p:cNvPr id="19" name="Text 14"/>
          <p:cNvSpPr txBox="1"/>
          <p:nvPr/>
        </p:nvSpPr>
        <p:spPr>
          <a:xfrm>
            <a:off x="3575304" y="457885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10-model ensemble</a:t>
            </a:r>
            <a:endParaRPr lang="en-US" sz="1400" dirty="0"/>
          </a:p>
        </p:txBody>
      </p:sp>
      <p:sp>
        <p:nvSpPr>
          <p:cNvPr id="20" name="Text 15"/>
          <p:cNvSpPr txBox="1"/>
          <p:nvPr/>
        </p:nvSpPr>
        <p:spPr>
          <a:xfrm>
            <a:off x="3575304" y="488975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98.29 % · Δ −0.67 pp</a:t>
            </a:r>
            <a:endParaRPr lang="en-US" sz="1200" dirty="0"/>
          </a:p>
        </p:txBody>
      </p:sp>
      <p:sp>
        <p:nvSpPr>
          <p:cNvPr id="21" name="Shape 16"/>
          <p:cNvSpPr/>
          <p:nvPr/>
        </p:nvSpPr>
        <p:spPr>
          <a:xfrm>
            <a:off x="6144768" y="3794760"/>
            <a:ext cx="2615184" cy="1600200"/>
          </a:xfrm>
          <a:prstGeom prst="roundRect">
            <a:avLst>
              <a:gd name="adj" fmla="val 4571"/>
            </a:avLst>
          </a:prstGeom>
          <a:solidFill>
            <a:schemeClr val="bg2"/>
          </a:solidFill>
          <a:ln w="9525">
            <a:solidFill>
              <a:schemeClr val="bg2"/>
            </a:solidFill>
            <a:prstDash val="solid"/>
          </a:ln>
        </p:spPr>
      </p:sp>
      <p:sp>
        <p:nvSpPr>
          <p:cNvPr id="22" name="Text 17"/>
          <p:cNvSpPr txBox="1"/>
          <p:nvPr/>
        </p:nvSpPr>
        <p:spPr>
          <a:xfrm>
            <a:off x="6373368" y="4007358"/>
            <a:ext cx="2157984" cy="571500"/>
          </a:xfrm>
          <a:prstGeom prst="rect">
            <a:avLst/>
          </a:prstGeom>
          <a:noFill/>
          <a:ln/>
        </p:spPr>
        <p:txBody>
          <a:bodyPr wrap="square" lIns="0" tIns="0" rIns="0" bIns="0" rtlCol="0" anchor="ctr"/>
          <a:lstStyle/>
          <a:p>
            <a:pPr indent="0" marL="0">
              <a:buNone/>
            </a:pPr>
            <a:r>
              <a:rPr lang="en-US" sz="3600" b="1" dirty="0">
                <a:solidFill>
                  <a:schemeClr val="accent1"/>
                </a:solidFill>
              </a:rPr>
              <a:t>99.73 %</a:t>
            </a:r>
            <a:endParaRPr lang="en-US" sz="3600" dirty="0"/>
          </a:p>
        </p:txBody>
      </p:sp>
      <p:sp>
        <p:nvSpPr>
          <p:cNvPr id="23" name="Text 18"/>
          <p:cNvSpPr txBox="1"/>
          <p:nvPr/>
        </p:nvSpPr>
        <p:spPr>
          <a:xfrm>
            <a:off x="6373368" y="457885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ensemble ROC-AUC</a:t>
            </a:r>
            <a:endParaRPr lang="en-US" sz="1400" dirty="0"/>
          </a:p>
        </p:txBody>
      </p:sp>
      <p:sp>
        <p:nvSpPr>
          <p:cNvPr id="24" name="Text 19"/>
          <p:cNvSpPr txBox="1"/>
          <p:nvPr/>
        </p:nvSpPr>
        <p:spPr>
          <a:xfrm>
            <a:off x="6373368" y="488975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99.76 % · Δ −0.03 pp</a:t>
            </a:r>
            <a:endParaRPr lang="en-US" sz="1200" dirty="0"/>
          </a:p>
        </p:txBody>
      </p:sp>
      <p:sp>
        <p:nvSpPr>
          <p:cNvPr id="25" name="Shape 20"/>
          <p:cNvSpPr/>
          <p:nvPr/>
        </p:nvSpPr>
        <p:spPr>
          <a:xfrm>
            <a:off x="8942832" y="3794760"/>
            <a:ext cx="2615184" cy="1600200"/>
          </a:xfrm>
          <a:prstGeom prst="roundRect">
            <a:avLst>
              <a:gd name="adj" fmla="val 4571"/>
            </a:avLst>
          </a:prstGeom>
          <a:solidFill>
            <a:schemeClr val="bg2"/>
          </a:solidFill>
          <a:ln w="9525">
            <a:solidFill>
              <a:schemeClr val="bg2"/>
            </a:solidFill>
            <a:prstDash val="solid"/>
          </a:ln>
        </p:spPr>
      </p:sp>
      <p:sp>
        <p:nvSpPr>
          <p:cNvPr id="26" name="Text 21"/>
          <p:cNvSpPr txBox="1"/>
          <p:nvPr/>
        </p:nvSpPr>
        <p:spPr>
          <a:xfrm>
            <a:off x="9171432" y="4007358"/>
            <a:ext cx="2157984" cy="571500"/>
          </a:xfrm>
          <a:prstGeom prst="rect">
            <a:avLst/>
          </a:prstGeom>
          <a:noFill/>
          <a:ln/>
        </p:spPr>
        <p:txBody>
          <a:bodyPr wrap="square" lIns="0" tIns="0" rIns="0" bIns="0" rtlCol="0" anchor="ctr"/>
          <a:lstStyle/>
          <a:p>
            <a:pPr indent="0" marL="0">
              <a:buNone/>
            </a:pPr>
            <a:r>
              <a:rPr lang="en-US" sz="3600" b="1" dirty="0">
                <a:solidFill>
                  <a:schemeClr val="accent1"/>
                </a:solidFill>
              </a:rPr>
              <a:t>≈ 11 min</a:t>
            </a:r>
            <a:endParaRPr lang="en-US" sz="3600" dirty="0"/>
          </a:p>
        </p:txBody>
      </p:sp>
      <p:sp>
        <p:nvSpPr>
          <p:cNvPr id="27" name="Text 22"/>
          <p:cNvSpPr txBox="1"/>
          <p:nvPr/>
        </p:nvSpPr>
        <p:spPr>
          <a:xfrm>
            <a:off x="9171432" y="4578858"/>
            <a:ext cx="2157984" cy="310896"/>
          </a:xfrm>
          <a:prstGeom prst="rect">
            <a:avLst/>
          </a:prstGeom>
          <a:noFill/>
          <a:ln/>
        </p:spPr>
        <p:txBody>
          <a:bodyPr wrap="square" lIns="0" tIns="0" rIns="0" bIns="0" rtlCol="0" anchor="ctr"/>
          <a:lstStyle/>
          <a:p>
            <a:pPr indent="0" marL="0">
              <a:buNone/>
            </a:pPr>
            <a:r>
              <a:rPr lang="en-US" sz="1400" b="1" dirty="0">
                <a:solidFill>
                  <a:schemeClr val="tx1"/>
                </a:solidFill>
              </a:rPr>
              <a:t>per fold on an RTX 4090</a:t>
            </a:r>
            <a:endParaRPr lang="en-US" sz="1400" dirty="0"/>
          </a:p>
        </p:txBody>
      </p:sp>
      <p:sp>
        <p:nvSpPr>
          <p:cNvPr id="28" name="Text 23"/>
          <p:cNvSpPr txBox="1"/>
          <p:nvPr/>
        </p:nvSpPr>
        <p:spPr>
          <a:xfrm>
            <a:off x="9171432" y="4889754"/>
            <a:ext cx="2157984" cy="274320"/>
          </a:xfrm>
          <a:prstGeom prst="rect">
            <a:avLst/>
          </a:prstGeom>
          <a:noFill/>
          <a:ln/>
        </p:spPr>
        <p:txBody>
          <a:bodyPr wrap="square" lIns="0" tIns="0" rIns="0" bIns="0" rtlCol="0" anchor="ctr"/>
          <a:lstStyle/>
          <a:p>
            <a:pPr indent="0" marL="0">
              <a:buNone/>
            </a:pPr>
            <a:r>
              <a:rPr lang="en-US" sz="1200" dirty="0">
                <a:solidFill>
                  <a:schemeClr val="accent6"/>
                </a:solidFill>
              </a:rPr>
              <a:t>paper ≈ 4 h 46 min per fold</a:t>
            </a:r>
            <a:endParaRPr lang="en-US" sz="1200" dirty="0"/>
          </a:p>
        </p:txBody>
      </p:sp>
      <p:sp>
        <p:nvSpPr>
          <p:cNvPr id="29" name="Text 24"/>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300" dirty="0">
                <a:solidFill>
                  <a:schemeClr val="accent6"/>
                </a:solidFill>
              </a:rPr>
              <a:t>All 10 folds within 1 percentage point of the paper. Every metric is computed from the saved predictions in results/A0_10fold_paper/.</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BASE PAPER · MARQUES ET AL. [8], 2022</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Why EfficientNet-B0 with a 10-fold ensemble</a:t>
            </a:r>
            <a:endParaRPr lang="en-US" sz="3200" dirty="0"/>
          </a:p>
        </p:txBody>
      </p:sp>
      <p:sp>
        <p:nvSpPr>
          <p:cNvPr id="4" name="Shape 2"/>
          <p:cNvSpPr/>
          <p:nvPr/>
        </p:nvSpPr>
        <p:spPr>
          <a:xfrm>
            <a:off x="548640" y="1645920"/>
            <a:ext cx="566928" cy="566928"/>
          </a:xfrm>
          <a:prstGeom prst="ellipse">
            <a:avLst/>
          </a:prstGeom>
          <a:solidFill>
            <a:schemeClr val="accent1"/>
          </a:solidFill>
          <a:ln w="635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667695" y="1764975"/>
            <a:ext cx="328818" cy="328818"/>
          </a:xfrm>
          <a:prstGeom prst="rect">
            <a:avLst/>
          </a:prstGeom>
        </p:spPr>
      </p:pic>
      <p:sp>
        <p:nvSpPr>
          <p:cNvPr id="6" name="Text 3"/>
          <p:cNvSpPr txBox="1"/>
          <p:nvPr/>
        </p:nvSpPr>
        <p:spPr>
          <a:xfrm>
            <a:off x="1344168" y="1609344"/>
            <a:ext cx="4599432"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Open, executable code</a:t>
            </a:r>
            <a:endParaRPr lang="en-US" sz="1400" dirty="0"/>
          </a:p>
          <a:p>
            <a:pPr indent="0" marL="0">
              <a:spcAft>
                <a:spcPts val="300"/>
              </a:spcAft>
              <a:buNone/>
            </a:pPr>
            <a:r>
              <a:rPr lang="en-US" sz="1400" dirty="0">
                <a:solidFill>
                  <a:schemeClr val="tx1"/>
                </a:solidFill>
              </a:rPr>
              <a:t>The authors published their executed Jupyter notebook as a supplementary file, so a faithful rebuild is possible.</a:t>
            </a:r>
            <a:endParaRPr lang="en-US" sz="1400" dirty="0"/>
          </a:p>
        </p:txBody>
      </p:sp>
      <p:sp>
        <p:nvSpPr>
          <p:cNvPr id="7" name="Shape 4"/>
          <p:cNvSpPr/>
          <p:nvPr/>
        </p:nvSpPr>
        <p:spPr>
          <a:xfrm>
            <a:off x="6172200" y="1645920"/>
            <a:ext cx="566928" cy="566928"/>
          </a:xfrm>
          <a:prstGeom prst="ellipse">
            <a:avLst/>
          </a:prstGeom>
          <a:solidFill>
            <a:schemeClr val="accent1"/>
          </a:solidFill>
          <a:ln w="635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6291255" y="1764975"/>
            <a:ext cx="328818" cy="328818"/>
          </a:xfrm>
          <a:prstGeom prst="rect">
            <a:avLst/>
          </a:prstGeom>
        </p:spPr>
      </p:pic>
      <p:sp>
        <p:nvSpPr>
          <p:cNvPr id="9" name="Text 5"/>
          <p:cNvSpPr txBox="1"/>
          <p:nvPr/>
        </p:nvSpPr>
        <p:spPr>
          <a:xfrm>
            <a:off x="6967728" y="1609344"/>
            <a:ext cx="4599432"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Strict validation</a:t>
            </a:r>
            <a:endParaRPr lang="en-US" sz="1400" dirty="0"/>
          </a:p>
          <a:p>
            <a:pPr indent="0" marL="0">
              <a:spcAft>
                <a:spcPts val="300"/>
              </a:spcAft>
              <a:buNone/>
            </a:pPr>
            <a:r>
              <a:rPr lang="en-US" sz="1400" dirty="0">
                <a:solidFill>
                  <a:schemeClr val="tx1"/>
                </a:solidFill>
              </a:rPr>
              <a:t>Stratified 10-fold cross-validation plus a separate hold-out set that no model trains on.</a:t>
            </a:r>
            <a:endParaRPr lang="en-US" sz="1400" dirty="0"/>
          </a:p>
        </p:txBody>
      </p:sp>
      <p:sp>
        <p:nvSpPr>
          <p:cNvPr id="10" name="Shape 6"/>
          <p:cNvSpPr/>
          <p:nvPr/>
        </p:nvSpPr>
        <p:spPr>
          <a:xfrm>
            <a:off x="548640" y="3063240"/>
            <a:ext cx="566928" cy="566928"/>
          </a:xfrm>
          <a:prstGeom prst="ellipse">
            <a:avLst/>
          </a:prstGeom>
          <a:solidFill>
            <a:schemeClr val="accent1"/>
          </a:solidFill>
          <a:ln w="6350">
            <a:solidFill>
              <a:schemeClr val="accent1"/>
            </a:solidFill>
            <a:prstDash val="solid"/>
          </a:ln>
        </p:spPr>
      </p:sp>
      <p:pic>
        <p:nvPicPr>
          <p:cNvPr id="11" name="Image 2" descr="preencoded.png">    </p:cNvPr>
          <p:cNvPicPr>
            <a:picLocks noChangeAspect="1"/>
          </p:cNvPicPr>
          <p:nvPr/>
        </p:nvPicPr>
        <p:blipFill>
          <a:blip r:embed="rId3"/>
          <a:stretch>
            <a:fillRect/>
          </a:stretch>
        </p:blipFill>
        <p:spPr>
          <a:xfrm>
            <a:off x="667695" y="3182295"/>
            <a:ext cx="328818" cy="328818"/>
          </a:xfrm>
          <a:prstGeom prst="rect">
            <a:avLst/>
          </a:prstGeom>
        </p:spPr>
      </p:pic>
      <p:sp>
        <p:nvSpPr>
          <p:cNvPr id="12" name="Text 7"/>
          <p:cNvSpPr txBox="1"/>
          <p:nvPr/>
        </p:nvSpPr>
        <p:spPr>
          <a:xfrm>
            <a:off x="1344168" y="3026664"/>
            <a:ext cx="4599432"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Light backbone</a:t>
            </a:r>
            <a:endParaRPr lang="en-US" sz="1400" dirty="0"/>
          </a:p>
          <a:p>
            <a:pPr indent="0" marL="0">
              <a:spcAft>
                <a:spcPts val="300"/>
              </a:spcAft>
              <a:buNone/>
            </a:pPr>
            <a:r>
              <a:rPr lang="en-US" sz="1400" dirty="0">
                <a:solidFill>
                  <a:schemeClr val="tx1"/>
                </a:solidFill>
              </a:rPr>
              <a:t>4.2 M parameters in total: the smallest EfficientNet, close to our deployability goal.</a:t>
            </a:r>
            <a:endParaRPr lang="en-US" sz="1400" dirty="0"/>
          </a:p>
        </p:txBody>
      </p:sp>
      <p:sp>
        <p:nvSpPr>
          <p:cNvPr id="13" name="Shape 8"/>
          <p:cNvSpPr/>
          <p:nvPr/>
        </p:nvSpPr>
        <p:spPr>
          <a:xfrm>
            <a:off x="6172200" y="3063240"/>
            <a:ext cx="566928" cy="566928"/>
          </a:xfrm>
          <a:prstGeom prst="ellipse">
            <a:avLst/>
          </a:prstGeom>
          <a:solidFill>
            <a:schemeClr val="accent1"/>
          </a:solidFill>
          <a:ln w="6350">
            <a:solidFill>
              <a:schemeClr val="accent1"/>
            </a:solidFill>
            <a:prstDash val="solid"/>
          </a:ln>
        </p:spPr>
      </p:sp>
      <p:pic>
        <p:nvPicPr>
          <p:cNvPr id="14" name="Image 3" descr="preencoded.png">    </p:cNvPr>
          <p:cNvPicPr>
            <a:picLocks noChangeAspect="1"/>
          </p:cNvPicPr>
          <p:nvPr/>
        </p:nvPicPr>
        <p:blipFill>
          <a:blip r:embed="rId4"/>
          <a:stretch>
            <a:fillRect/>
          </a:stretch>
        </p:blipFill>
        <p:spPr>
          <a:xfrm>
            <a:off x="6291255" y="3182295"/>
            <a:ext cx="328818" cy="328818"/>
          </a:xfrm>
          <a:prstGeom prst="rect">
            <a:avLst/>
          </a:prstGeom>
        </p:spPr>
      </p:pic>
      <p:sp>
        <p:nvSpPr>
          <p:cNvPr id="15" name="Text 9"/>
          <p:cNvSpPr txBox="1"/>
          <p:nvPr/>
        </p:nvSpPr>
        <p:spPr>
          <a:xfrm>
            <a:off x="6967728" y="3026664"/>
            <a:ext cx="4599432" cy="123444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Strong, not at the ceiling</a:t>
            </a:r>
            <a:endParaRPr lang="en-US" sz="1400" dirty="0"/>
          </a:p>
          <a:p>
            <a:pPr indent="0" marL="0">
              <a:spcAft>
                <a:spcPts val="300"/>
              </a:spcAft>
              <a:buNone/>
            </a:pPr>
            <a:r>
              <a:rPr lang="en-US" sz="1400" dirty="0">
                <a:solidFill>
                  <a:schemeClr val="tx1"/>
                </a:solidFill>
              </a:rPr>
              <a:t>98.29 % leaves room to see whether a change helps or hurts.</a:t>
            </a:r>
            <a:endParaRPr lang="en-US" sz="1400" dirty="0"/>
          </a:p>
        </p:txBody>
      </p:sp>
      <p:sp>
        <p:nvSpPr>
          <p:cNvPr id="16" name="Shape 10"/>
          <p:cNvSpPr/>
          <p:nvPr/>
        </p:nvSpPr>
        <p:spPr>
          <a:xfrm>
            <a:off x="548640" y="4572000"/>
            <a:ext cx="11064240" cy="1463040"/>
          </a:xfrm>
          <a:prstGeom prst="roundRect">
            <a:avLst>
              <a:gd name="adj" fmla="val 5000"/>
            </a:avLst>
          </a:prstGeom>
          <a:solidFill>
            <a:srgbClr val="E3F0F2"/>
          </a:solidFill>
          <a:ln w="9525">
            <a:solidFill>
              <a:srgbClr val="E3F0F2"/>
            </a:solidFill>
            <a:prstDash val="solid"/>
          </a:ln>
        </p:spPr>
      </p:sp>
      <p:sp>
        <p:nvSpPr>
          <p:cNvPr id="17" name="Text 11"/>
          <p:cNvSpPr txBox="1"/>
          <p:nvPr/>
        </p:nvSpPr>
        <p:spPr>
          <a:xfrm>
            <a:off x="822960" y="4681728"/>
            <a:ext cx="10515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THE PAPER'S TARGETS (from its own printed results)</a:t>
            </a:r>
            <a:endParaRPr lang="en-US" sz="1200" dirty="0"/>
          </a:p>
        </p:txBody>
      </p:sp>
      <p:sp>
        <p:nvSpPr>
          <p:cNvPr id="18" name="Text 12"/>
          <p:cNvSpPr txBox="1"/>
          <p:nvPr/>
        </p:nvSpPr>
        <p:spPr>
          <a:xfrm>
            <a:off x="822960" y="4983480"/>
            <a:ext cx="2606040" cy="960120"/>
          </a:xfrm>
          <a:prstGeom prst="rect">
            <a:avLst/>
          </a:prstGeom>
          <a:noFill/>
          <a:ln/>
        </p:spPr>
        <p:txBody>
          <a:bodyPr wrap="square" lIns="0" tIns="0" rIns="0" bIns="0" rtlCol="0" anchor="t"/>
          <a:lstStyle/>
          <a:p>
            <a:pPr indent="0" marL="0">
              <a:buNone/>
            </a:pPr>
            <a:r>
              <a:rPr lang="en-US" sz="2600" b="1" dirty="0">
                <a:solidFill>
                  <a:schemeClr val="accent1"/>
                </a:solidFill>
              </a:rPr>
              <a:t>97.56 %</a:t>
            </a:r>
            <a:endParaRPr lang="en-US" sz="1400" dirty="0"/>
          </a:p>
          <a:p>
            <a:pPr indent="0" marL="0">
              <a:buNone/>
            </a:pPr>
            <a:r>
              <a:rPr lang="en-US" sz="1300" dirty="0">
                <a:solidFill>
                  <a:schemeClr val="tx1"/>
                </a:solidFill>
              </a:rPr>
              <a:t>mean fold accuracy (Table 5)</a:t>
            </a:r>
            <a:endParaRPr lang="en-US" sz="1400" dirty="0"/>
          </a:p>
        </p:txBody>
      </p:sp>
      <p:sp>
        <p:nvSpPr>
          <p:cNvPr id="19" name="Text 13"/>
          <p:cNvSpPr txBox="1"/>
          <p:nvPr/>
        </p:nvSpPr>
        <p:spPr>
          <a:xfrm>
            <a:off x="3520440" y="4983480"/>
            <a:ext cx="2606040" cy="960120"/>
          </a:xfrm>
          <a:prstGeom prst="rect">
            <a:avLst/>
          </a:prstGeom>
          <a:noFill/>
          <a:ln/>
        </p:spPr>
        <p:txBody>
          <a:bodyPr wrap="square" lIns="0" tIns="0" rIns="0" bIns="0" rtlCol="0" anchor="t"/>
          <a:lstStyle/>
          <a:p>
            <a:pPr indent="0" marL="0">
              <a:buNone/>
            </a:pPr>
            <a:r>
              <a:rPr lang="en-US" sz="2600" b="1" dirty="0">
                <a:solidFill>
                  <a:schemeClr val="accent1"/>
                </a:solidFill>
              </a:rPr>
              <a:t>97.69 %</a:t>
            </a:r>
            <a:endParaRPr lang="en-US" sz="1400" dirty="0"/>
          </a:p>
          <a:p>
            <a:pPr indent="0" marL="0">
              <a:buNone/>
            </a:pPr>
            <a:r>
              <a:rPr lang="en-US" sz="1300" dirty="0">
                <a:solidFill>
                  <a:schemeClr val="tx1"/>
                </a:solidFill>
              </a:rPr>
              <a:t>single model on hold-out (Table 6)</a:t>
            </a:r>
            <a:endParaRPr lang="en-US" sz="1400" dirty="0"/>
          </a:p>
        </p:txBody>
      </p:sp>
      <p:sp>
        <p:nvSpPr>
          <p:cNvPr id="20" name="Text 14"/>
          <p:cNvSpPr txBox="1"/>
          <p:nvPr/>
        </p:nvSpPr>
        <p:spPr>
          <a:xfrm>
            <a:off x="6217920" y="4983480"/>
            <a:ext cx="2606040" cy="960120"/>
          </a:xfrm>
          <a:prstGeom prst="rect">
            <a:avLst/>
          </a:prstGeom>
          <a:noFill/>
          <a:ln/>
        </p:spPr>
        <p:txBody>
          <a:bodyPr wrap="square" lIns="0" tIns="0" rIns="0" bIns="0" rtlCol="0" anchor="t"/>
          <a:lstStyle/>
          <a:p>
            <a:pPr indent="0" marL="0">
              <a:buNone/>
            </a:pPr>
            <a:r>
              <a:rPr lang="en-US" sz="2600" b="1" dirty="0">
                <a:solidFill>
                  <a:schemeClr val="accent1"/>
                </a:solidFill>
              </a:rPr>
              <a:t>98.29 %</a:t>
            </a:r>
            <a:endParaRPr lang="en-US" sz="1400" dirty="0"/>
          </a:p>
          <a:p>
            <a:pPr indent="0" marL="0">
              <a:buNone/>
            </a:pPr>
            <a:r>
              <a:rPr lang="en-US" sz="1300" dirty="0">
                <a:solidFill>
                  <a:schemeClr val="tx1"/>
                </a:solidFill>
              </a:rPr>
              <a:t>ensemble accuracy</a:t>
            </a:r>
            <a:endParaRPr lang="en-US" sz="1400" dirty="0"/>
          </a:p>
        </p:txBody>
      </p:sp>
      <p:sp>
        <p:nvSpPr>
          <p:cNvPr id="21" name="Text 15"/>
          <p:cNvSpPr txBox="1"/>
          <p:nvPr/>
        </p:nvSpPr>
        <p:spPr>
          <a:xfrm>
            <a:off x="8915400" y="4983480"/>
            <a:ext cx="2606040" cy="960120"/>
          </a:xfrm>
          <a:prstGeom prst="rect">
            <a:avLst/>
          </a:prstGeom>
          <a:noFill/>
          <a:ln/>
        </p:spPr>
        <p:txBody>
          <a:bodyPr wrap="square" lIns="0" tIns="0" rIns="0" bIns="0" rtlCol="0" anchor="t"/>
          <a:lstStyle/>
          <a:p>
            <a:pPr indent="0" marL="0">
              <a:buNone/>
            </a:pPr>
            <a:r>
              <a:rPr lang="en-US" sz="2600" b="1" dirty="0">
                <a:solidFill>
                  <a:schemeClr val="accent1"/>
                </a:solidFill>
              </a:rPr>
              <a:t>99.76 %</a:t>
            </a:r>
            <a:endParaRPr lang="en-US" sz="1400" dirty="0"/>
          </a:p>
          <a:p>
            <a:pPr indent="0" marL="0">
              <a:buNone/>
            </a:pPr>
            <a:r>
              <a:rPr lang="en-US" sz="1300" dirty="0">
                <a:solidFill>
                  <a:schemeClr val="tx1"/>
                </a:solidFill>
              </a:rPr>
              <a:t>ensemble ROC-AUC</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THE PAPER'S OWN CODE REVEALED</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The authors' notebook differs from the paper's text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103120"/>
                <a:gridCol w="4754880"/>
                <a:gridCol w="4206240"/>
              </a:tblGrid>
              <a:tr h="40233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Paper's code (used now)</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Our first reproduction (from the text)</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402336">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Pretrained weights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noisy-student · efficientnet 1.1.1 (qubvel)</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ImageNet · tf.keras.applications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02336">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Classifier head</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GAP → 128 → 64 → 32 → 2 softmax, dropout 0.3</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GAP → dropout 0.2 → 1 sigmoid</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Loss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categorical cross-entropy, label smoothing 0.1</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binary cross-entropy</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02336">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Schedule</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33 epochs, LR × 0.5 on plateau, keep best val_loss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 15 epochs, LR × 0.1, early stopping</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402336">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Batch size</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16 (1,240 steps per epoch)</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128 (64 per GPU, 2 GPUs)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402336">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Augmentation</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full albumentations pipeline (noise, blur, distortions, CLAHE…)</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flips + 90° rotations</a:t>
                      </a:r>
                      <a:endParaRPr lang="en-US" sz="14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617720"/>
            <a:ext cx="11064240" cy="457200"/>
          </a:xfrm>
          <a:prstGeom prst="rect">
            <a:avLst/>
          </a:prstGeom>
          <a:noFill/>
          <a:ln/>
        </p:spPr>
        <p:txBody>
          <a:bodyPr wrap="square" lIns="0" tIns="0" rIns="0" bIns="0" rtlCol="0" anchor="t"/>
          <a:lstStyle/>
          <a:p>
            <a:pPr indent="0" marL="0">
              <a:buNone/>
            </a:pPr>
            <a:r>
              <a:rPr lang="en-US" sz="1200" dirty="0">
                <a:solidFill>
                  <a:schemeClr val="accent6"/>
                </a:solidFill>
              </a:rPr>
              <a:t>Source: Springer supplementary file MOESM1, the authors' executed notebook (30 Jan 2021). Our notebook now follows it line by line; 32 automated tests check the recipe.</a:t>
            </a:r>
            <a:endParaRPr lang="en-US" sz="1200" dirty="0"/>
          </a:p>
        </p:txBody>
      </p:sp>
      <p:sp>
        <p:nvSpPr>
          <p:cNvPr id="6" name="Shape 3"/>
          <p:cNvSpPr/>
          <p:nvPr/>
        </p:nvSpPr>
        <p:spPr>
          <a:xfrm>
            <a:off x="548640" y="5166360"/>
            <a:ext cx="11064240" cy="868680"/>
          </a:xfrm>
          <a:prstGeom prst="roundRect">
            <a:avLst>
              <a:gd name="adj" fmla="val 8421"/>
            </a:avLst>
          </a:prstGeom>
          <a:solidFill>
            <a:srgbClr val="E3F0F2"/>
          </a:solidFill>
          <a:ln w="9525">
            <a:solidFill>
              <a:srgbClr val="E3F0F2"/>
            </a:solidFill>
            <a:prstDash val="solid"/>
          </a:ln>
        </p:spPr>
      </p:sp>
      <p:sp>
        <p:nvSpPr>
          <p:cNvPr id="7" name="Shape 4"/>
          <p:cNvSpPr/>
          <p:nvPr/>
        </p:nvSpPr>
        <p:spPr>
          <a:xfrm>
            <a:off x="749808" y="5372100"/>
            <a:ext cx="457200" cy="457200"/>
          </a:xfrm>
          <a:prstGeom prst="ellipse">
            <a:avLst/>
          </a:prstGeom>
          <a:solidFill>
            <a:schemeClr val="accent4"/>
          </a:solidFill>
          <a:ln w="6350">
            <a:solidFill>
              <a:schemeClr val="accent4"/>
            </a:solidFill>
            <a:prstDash val="solid"/>
          </a:ln>
        </p:spPr>
      </p:sp>
      <p:pic>
        <p:nvPicPr>
          <p:cNvPr id="8" name="Image 0" descr="preencoded.png">    </p:cNvPr>
          <p:cNvPicPr>
            <a:picLocks noChangeAspect="1"/>
          </p:cNvPicPr>
          <p:nvPr/>
        </p:nvPicPr>
        <p:blipFill>
          <a:blip r:embed="rId1"/>
          <a:stretch>
            <a:fillRect/>
          </a:stretch>
        </p:blipFill>
        <p:spPr>
          <a:xfrm>
            <a:off x="845820" y="5468112"/>
            <a:ext cx="265176" cy="265176"/>
          </a:xfrm>
          <a:prstGeom prst="rect">
            <a:avLst/>
          </a:prstGeom>
        </p:spPr>
      </p:pic>
      <p:sp>
        <p:nvSpPr>
          <p:cNvPr id="9" name="Text 5"/>
          <p:cNvSpPr txBox="1"/>
          <p:nvPr/>
        </p:nvSpPr>
        <p:spPr>
          <a:xfrm>
            <a:off x="1389888" y="5239512"/>
            <a:ext cx="10012680" cy="722376"/>
          </a:xfrm>
          <a:prstGeom prst="rect">
            <a:avLst/>
          </a:prstGeom>
          <a:noFill/>
          <a:ln/>
        </p:spPr>
        <p:txBody>
          <a:bodyPr wrap="square" lIns="0" tIns="0" rIns="0" bIns="0" rtlCol="0" anchor="ctr"/>
          <a:lstStyle/>
          <a:p>
            <a:pPr indent="0" marL="0">
              <a:buNone/>
            </a:pPr>
            <a:r>
              <a:rPr lang="en-US" sz="1400" dirty="0">
                <a:solidFill>
                  <a:schemeClr val="tx1"/>
                </a:solidFill>
              </a:rPr>
              <a:t>Two quirks in the paper itself: its code evaluates on augmented images, and its text swaps precision and recall (true recall 97.74 %, precision 98.82 %).</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PAPER-EXACT PROTOCOL</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One split, ten fold models, one ensemble</a:t>
            </a:r>
            <a:endParaRPr lang="en-US" sz="3200" dirty="0"/>
          </a:p>
        </p:txBody>
      </p:sp>
      <p:sp>
        <p:nvSpPr>
          <p:cNvPr id="4" name="Shape 2"/>
          <p:cNvSpPr/>
          <p:nvPr/>
        </p:nvSpPr>
        <p:spPr>
          <a:xfrm>
            <a:off x="548640" y="1783080"/>
            <a:ext cx="1920240" cy="1188720"/>
          </a:xfrm>
          <a:prstGeom prst="roundRect">
            <a:avLst>
              <a:gd name="adj" fmla="val 6154"/>
            </a:avLst>
          </a:prstGeom>
          <a:solidFill>
            <a:schemeClr val="bg2"/>
          </a:solidFill>
          <a:ln w="9525">
            <a:solidFill>
              <a:schemeClr val="bg2"/>
            </a:solidFill>
            <a:prstDash val="solid"/>
          </a:ln>
        </p:spPr>
      </p:sp>
      <p:sp>
        <p:nvSpPr>
          <p:cNvPr id="5" name="Text 3"/>
          <p:cNvSpPr txBox="1"/>
          <p:nvPr/>
        </p:nvSpPr>
        <p:spPr>
          <a:xfrm>
            <a:off x="685800" y="1892808"/>
            <a:ext cx="1645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27,558</a:t>
            </a:r>
            <a:endParaRPr lang="en-US" sz="1400" dirty="0"/>
          </a:p>
          <a:p>
            <a:pPr algn="ctr" indent="0" marL="0">
              <a:buNone/>
            </a:pPr>
            <a:r>
              <a:rPr lang="en-US" sz="1300" dirty="0">
                <a:solidFill>
                  <a:schemeClr val="tx1"/>
                </a:solidFill>
              </a:rPr>
              <a:t>NIH cell images, 13,779 per class</a:t>
            </a:r>
            <a:endParaRPr lang="en-US" sz="1400" dirty="0"/>
          </a:p>
        </p:txBody>
      </p:sp>
      <p:sp>
        <p:nvSpPr>
          <p:cNvPr id="6" name="Shape 4"/>
          <p:cNvSpPr/>
          <p:nvPr/>
        </p:nvSpPr>
        <p:spPr>
          <a:xfrm>
            <a:off x="2834640" y="1783080"/>
            <a:ext cx="1920240" cy="1188720"/>
          </a:xfrm>
          <a:prstGeom prst="roundRect">
            <a:avLst>
              <a:gd name="adj" fmla="val 6154"/>
            </a:avLst>
          </a:prstGeom>
          <a:solidFill>
            <a:schemeClr val="bg2"/>
          </a:solidFill>
          <a:ln w="9525">
            <a:solidFill>
              <a:schemeClr val="bg2"/>
            </a:solidFill>
            <a:prstDash val="solid"/>
          </a:ln>
        </p:spPr>
      </p:sp>
      <p:sp>
        <p:nvSpPr>
          <p:cNvPr id="7" name="Text 5"/>
          <p:cNvSpPr txBox="1"/>
          <p:nvPr/>
        </p:nvSpPr>
        <p:spPr>
          <a:xfrm>
            <a:off x="2971800" y="1892808"/>
            <a:ext cx="1645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80 / 20 split</a:t>
            </a:r>
            <a:endParaRPr lang="en-US" sz="1400" dirty="0"/>
          </a:p>
          <a:p>
            <a:pPr algn="ctr" indent="0" marL="0">
              <a:buNone/>
            </a:pPr>
            <a:r>
              <a:rPr lang="en-US" sz="1300" dirty="0">
                <a:solidFill>
                  <a:schemeClr val="tx1"/>
                </a:solidFill>
              </a:rPr>
              <a:t>random, seeded so all 10 GPUs agree</a:t>
            </a:r>
            <a:endParaRPr lang="en-US" sz="1400" dirty="0"/>
          </a:p>
        </p:txBody>
      </p:sp>
      <p:sp>
        <p:nvSpPr>
          <p:cNvPr id="8" name="Shape 6"/>
          <p:cNvSpPr/>
          <p:nvPr/>
        </p:nvSpPr>
        <p:spPr>
          <a:xfrm>
            <a:off x="5120640" y="1783080"/>
            <a:ext cx="1920240" cy="1188720"/>
          </a:xfrm>
          <a:prstGeom prst="roundRect">
            <a:avLst>
              <a:gd name="adj" fmla="val 6154"/>
            </a:avLst>
          </a:prstGeom>
          <a:solidFill>
            <a:schemeClr val="bg2"/>
          </a:solidFill>
          <a:ln w="9525">
            <a:solidFill>
              <a:schemeClr val="bg2"/>
            </a:solidFill>
            <a:prstDash val="solid"/>
          </a:ln>
        </p:spPr>
      </p:sp>
      <p:sp>
        <p:nvSpPr>
          <p:cNvPr id="9" name="Text 7"/>
          <p:cNvSpPr txBox="1"/>
          <p:nvPr/>
        </p:nvSpPr>
        <p:spPr>
          <a:xfrm>
            <a:off x="5257800" y="1892808"/>
            <a:ext cx="1645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22,046</a:t>
            </a:r>
            <a:endParaRPr lang="en-US" sz="1400" dirty="0"/>
          </a:p>
          <a:p>
            <a:pPr algn="ctr" indent="0" marL="0">
              <a:buNone/>
            </a:pPr>
            <a:r>
              <a:rPr lang="en-US" sz="1300" dirty="0">
                <a:solidFill>
                  <a:schemeClr val="tx1"/>
                </a:solidFill>
              </a:rPr>
              <a:t>learning set for 10-fold CV</a:t>
            </a:r>
            <a:endParaRPr lang="en-US" sz="1400" dirty="0"/>
          </a:p>
        </p:txBody>
      </p:sp>
      <p:sp>
        <p:nvSpPr>
          <p:cNvPr id="10" name="Shape 8"/>
          <p:cNvSpPr/>
          <p:nvPr/>
        </p:nvSpPr>
        <p:spPr>
          <a:xfrm>
            <a:off x="7406640" y="1783080"/>
            <a:ext cx="1920240" cy="1188720"/>
          </a:xfrm>
          <a:prstGeom prst="roundRect">
            <a:avLst>
              <a:gd name="adj" fmla="val 6154"/>
            </a:avLst>
          </a:prstGeom>
          <a:solidFill>
            <a:schemeClr val="bg2"/>
          </a:solidFill>
          <a:ln w="9525">
            <a:solidFill>
              <a:schemeClr val="bg2"/>
            </a:solidFill>
            <a:prstDash val="solid"/>
          </a:ln>
        </p:spPr>
      </p:sp>
      <p:sp>
        <p:nvSpPr>
          <p:cNvPr id="11" name="Text 9"/>
          <p:cNvSpPr txBox="1"/>
          <p:nvPr/>
        </p:nvSpPr>
        <p:spPr>
          <a:xfrm>
            <a:off x="7543800" y="1892808"/>
            <a:ext cx="1645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10 stratified folds</a:t>
            </a:r>
            <a:endParaRPr lang="en-US" sz="1400" dirty="0"/>
          </a:p>
          <a:p>
            <a:pPr algn="ctr" indent="0" marL="0">
              <a:buNone/>
            </a:pPr>
            <a:r>
              <a:rPr lang="en-US" sz="1300" dirty="0">
                <a:solidFill>
                  <a:schemeClr val="tx1"/>
                </a:solidFill>
              </a:rPr>
              <a:t>each: train 19,841, test 2,205</a:t>
            </a:r>
            <a:endParaRPr lang="en-US" sz="1400" dirty="0"/>
          </a:p>
        </p:txBody>
      </p:sp>
      <p:sp>
        <p:nvSpPr>
          <p:cNvPr id="12" name="Shape 10"/>
          <p:cNvSpPr/>
          <p:nvPr/>
        </p:nvSpPr>
        <p:spPr>
          <a:xfrm>
            <a:off x="9692640" y="1783080"/>
            <a:ext cx="1920240" cy="1188720"/>
          </a:xfrm>
          <a:prstGeom prst="roundRect">
            <a:avLst>
              <a:gd name="adj" fmla="val 6154"/>
            </a:avLst>
          </a:prstGeom>
          <a:solidFill>
            <a:schemeClr val="bg2"/>
          </a:solidFill>
          <a:ln w="9525">
            <a:solidFill>
              <a:schemeClr val="bg2"/>
            </a:solidFill>
            <a:prstDash val="solid"/>
          </a:ln>
        </p:spPr>
      </p:sp>
      <p:sp>
        <p:nvSpPr>
          <p:cNvPr id="13" name="Text 11"/>
          <p:cNvSpPr txBox="1"/>
          <p:nvPr/>
        </p:nvSpPr>
        <p:spPr>
          <a:xfrm>
            <a:off x="9829800" y="1892808"/>
            <a:ext cx="1645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10 models</a:t>
            </a:r>
            <a:endParaRPr lang="en-US" sz="1400" dirty="0"/>
          </a:p>
          <a:p>
            <a:pPr algn="ctr" indent="0" marL="0">
              <a:buNone/>
            </a:pPr>
            <a:r>
              <a:rPr lang="en-US" sz="1300" dirty="0">
                <a:solidFill>
                  <a:schemeClr val="tx1"/>
                </a:solidFill>
              </a:rPr>
              <a:t>one per fold, best val_loss weights</a:t>
            </a:r>
            <a:endParaRPr lang="en-US" sz="1400" dirty="0"/>
          </a:p>
        </p:txBody>
      </p:sp>
      <p:sp>
        <p:nvSpPr>
          <p:cNvPr id="14" name="Shape 12"/>
          <p:cNvSpPr/>
          <p:nvPr/>
        </p:nvSpPr>
        <p:spPr>
          <a:xfrm>
            <a:off x="2505456" y="2377440"/>
            <a:ext cx="292608" cy="0"/>
          </a:xfrm>
          <a:prstGeom prst="line">
            <a:avLst/>
          </a:prstGeom>
          <a:noFill/>
          <a:ln w="19050">
            <a:solidFill>
              <a:srgbClr val="64748B"/>
            </a:solidFill>
            <a:prstDash val="solid"/>
            <a:tailEnd type="triangle"/>
          </a:ln>
        </p:spPr>
      </p:sp>
      <p:sp>
        <p:nvSpPr>
          <p:cNvPr id="15" name="Shape 13"/>
          <p:cNvSpPr/>
          <p:nvPr/>
        </p:nvSpPr>
        <p:spPr>
          <a:xfrm>
            <a:off x="4791456" y="2377440"/>
            <a:ext cx="292608" cy="0"/>
          </a:xfrm>
          <a:prstGeom prst="line">
            <a:avLst/>
          </a:prstGeom>
          <a:noFill/>
          <a:ln w="19050">
            <a:solidFill>
              <a:srgbClr val="64748B"/>
            </a:solidFill>
            <a:prstDash val="solid"/>
            <a:tailEnd type="triangle"/>
          </a:ln>
        </p:spPr>
      </p:sp>
      <p:sp>
        <p:nvSpPr>
          <p:cNvPr id="16" name="Shape 14"/>
          <p:cNvSpPr/>
          <p:nvPr/>
        </p:nvSpPr>
        <p:spPr>
          <a:xfrm>
            <a:off x="7077456" y="2377440"/>
            <a:ext cx="292608" cy="0"/>
          </a:xfrm>
          <a:prstGeom prst="line">
            <a:avLst/>
          </a:prstGeom>
          <a:noFill/>
          <a:ln w="19050">
            <a:solidFill>
              <a:srgbClr val="64748B"/>
            </a:solidFill>
            <a:prstDash val="solid"/>
            <a:tailEnd type="triangle"/>
          </a:ln>
        </p:spPr>
      </p:sp>
      <p:sp>
        <p:nvSpPr>
          <p:cNvPr id="17" name="Shape 15"/>
          <p:cNvSpPr/>
          <p:nvPr/>
        </p:nvSpPr>
        <p:spPr>
          <a:xfrm>
            <a:off x="9363456" y="2377440"/>
            <a:ext cx="292608" cy="0"/>
          </a:xfrm>
          <a:prstGeom prst="line">
            <a:avLst/>
          </a:prstGeom>
          <a:noFill/>
          <a:ln w="19050">
            <a:solidFill>
              <a:srgbClr val="64748B"/>
            </a:solidFill>
            <a:prstDash val="solid"/>
            <a:tailEnd type="triangle"/>
          </a:ln>
        </p:spPr>
      </p:sp>
      <p:sp>
        <p:nvSpPr>
          <p:cNvPr id="18" name="Shape 16"/>
          <p:cNvSpPr/>
          <p:nvPr/>
        </p:nvSpPr>
        <p:spPr>
          <a:xfrm>
            <a:off x="2834640" y="3886200"/>
            <a:ext cx="1920240" cy="1188720"/>
          </a:xfrm>
          <a:prstGeom prst="roundRect">
            <a:avLst>
              <a:gd name="adj" fmla="val 6154"/>
            </a:avLst>
          </a:prstGeom>
          <a:solidFill>
            <a:srgbClr val="FBF1E4"/>
          </a:solidFill>
          <a:ln w="9525">
            <a:solidFill>
              <a:srgbClr val="FBF1E4"/>
            </a:solidFill>
            <a:prstDash val="solid"/>
          </a:ln>
        </p:spPr>
      </p:sp>
      <p:sp>
        <p:nvSpPr>
          <p:cNvPr id="19" name="Text 17"/>
          <p:cNvSpPr txBox="1"/>
          <p:nvPr/>
        </p:nvSpPr>
        <p:spPr>
          <a:xfrm>
            <a:off x="2971800" y="3995928"/>
            <a:ext cx="1645920" cy="969264"/>
          </a:xfrm>
          <a:prstGeom prst="rect">
            <a:avLst/>
          </a:prstGeom>
          <a:noFill/>
          <a:ln/>
        </p:spPr>
        <p:txBody>
          <a:bodyPr wrap="square" lIns="0" tIns="0" rIns="0" bIns="0" rtlCol="0" anchor="ctr"/>
          <a:lstStyle/>
          <a:p>
            <a:pPr algn="ctr" indent="0" marL="0">
              <a:buNone/>
            </a:pPr>
            <a:r>
              <a:rPr lang="en-US" sz="1700" b="1" dirty="0">
                <a:solidFill>
                  <a:schemeClr val="accent4"/>
                </a:solidFill>
              </a:rPr>
              <a:t>5,512</a:t>
            </a:r>
            <a:endParaRPr lang="en-US" sz="1400" dirty="0"/>
          </a:p>
          <a:p>
            <a:pPr algn="ctr" indent="0" marL="0">
              <a:buNone/>
            </a:pPr>
            <a:r>
              <a:rPr lang="en-US" sz="1300" dirty="0">
                <a:solidFill>
                  <a:schemeClr val="tx1"/>
                </a:solidFill>
              </a:rPr>
              <a:t>hold-out set, never used in training</a:t>
            </a:r>
            <a:endParaRPr lang="en-US" sz="1400" dirty="0"/>
          </a:p>
        </p:txBody>
      </p:sp>
      <p:sp>
        <p:nvSpPr>
          <p:cNvPr id="20" name="Shape 18"/>
          <p:cNvSpPr/>
          <p:nvPr/>
        </p:nvSpPr>
        <p:spPr>
          <a:xfrm>
            <a:off x="5120640" y="3886200"/>
            <a:ext cx="6492240" cy="1188720"/>
          </a:xfrm>
          <a:prstGeom prst="roundRect">
            <a:avLst>
              <a:gd name="adj" fmla="val 6154"/>
            </a:avLst>
          </a:prstGeom>
          <a:solidFill>
            <a:srgbClr val="E3F0F2"/>
          </a:solidFill>
          <a:ln w="9525">
            <a:solidFill>
              <a:srgbClr val="E3F0F2"/>
            </a:solidFill>
            <a:prstDash val="solid"/>
          </a:ln>
        </p:spPr>
      </p:sp>
      <p:sp>
        <p:nvSpPr>
          <p:cNvPr id="21" name="Text 19"/>
          <p:cNvSpPr txBox="1"/>
          <p:nvPr/>
        </p:nvSpPr>
        <p:spPr>
          <a:xfrm>
            <a:off x="5257800" y="3995928"/>
            <a:ext cx="6217920" cy="969264"/>
          </a:xfrm>
          <a:prstGeom prst="rect">
            <a:avLst/>
          </a:prstGeom>
          <a:noFill/>
          <a:ln/>
        </p:spPr>
        <p:txBody>
          <a:bodyPr wrap="square" lIns="0" tIns="0" rIns="0" bIns="0" rtlCol="0" anchor="ctr"/>
          <a:lstStyle/>
          <a:p>
            <a:pPr algn="ctr" indent="0" marL="0">
              <a:buNone/>
            </a:pPr>
            <a:r>
              <a:rPr lang="en-US" sz="1700" b="1" dirty="0">
                <a:solidFill>
                  <a:schemeClr val="accent1"/>
                </a:solidFill>
              </a:rPr>
              <a:t>Ensemble = average of the 10 softmax outputs</a:t>
            </a:r>
            <a:endParaRPr lang="en-US" sz="1400" dirty="0"/>
          </a:p>
          <a:p>
            <a:pPr algn="ctr" indent="0" marL="0">
              <a:buNone/>
            </a:pPr>
            <a:r>
              <a:rPr lang="en-US" sz="1300" dirty="0">
                <a:solidFill>
                  <a:schemeClr val="tx1"/>
                </a:solidFill>
              </a:rPr>
              <a:t>scored on the hold-out set → 97.62 % accuracy, 99.73 % ROC-AUC (paper 98.29 %, 99.76 %)</a:t>
            </a:r>
            <a:endParaRPr lang="en-US" sz="1400" dirty="0"/>
          </a:p>
        </p:txBody>
      </p:sp>
      <p:sp>
        <p:nvSpPr>
          <p:cNvPr id="22" name="Shape 20"/>
          <p:cNvSpPr/>
          <p:nvPr/>
        </p:nvSpPr>
        <p:spPr>
          <a:xfrm>
            <a:off x="3794760" y="3008376"/>
            <a:ext cx="0" cy="841248"/>
          </a:xfrm>
          <a:prstGeom prst="line">
            <a:avLst/>
          </a:prstGeom>
          <a:noFill/>
          <a:ln w="19050">
            <a:solidFill>
              <a:srgbClr val="64748B"/>
            </a:solidFill>
            <a:prstDash val="solid"/>
            <a:tailEnd type="triangle"/>
          </a:ln>
        </p:spPr>
      </p:sp>
      <p:sp>
        <p:nvSpPr>
          <p:cNvPr id="23" name="Shape 21"/>
          <p:cNvSpPr/>
          <p:nvPr/>
        </p:nvSpPr>
        <p:spPr>
          <a:xfrm>
            <a:off x="4791456" y="4480560"/>
            <a:ext cx="292608" cy="0"/>
          </a:xfrm>
          <a:prstGeom prst="line">
            <a:avLst/>
          </a:prstGeom>
          <a:noFill/>
          <a:ln w="19050">
            <a:solidFill>
              <a:srgbClr val="64748B"/>
            </a:solidFill>
            <a:prstDash val="solid"/>
            <a:tailEnd type="triangle"/>
          </a:ln>
        </p:spPr>
      </p:sp>
      <p:sp>
        <p:nvSpPr>
          <p:cNvPr id="24" name="Shape 22"/>
          <p:cNvSpPr/>
          <p:nvPr/>
        </p:nvSpPr>
        <p:spPr>
          <a:xfrm>
            <a:off x="10652760" y="3008376"/>
            <a:ext cx="0" cy="841248"/>
          </a:xfrm>
          <a:prstGeom prst="line">
            <a:avLst/>
          </a:prstGeom>
          <a:noFill/>
          <a:ln w="19050">
            <a:solidFill>
              <a:srgbClr val="64748B"/>
            </a:solidFill>
            <a:prstDash val="solid"/>
            <a:tailEnd type="triangle"/>
          </a:ln>
        </p:spPr>
      </p:sp>
      <p:sp>
        <p:nvSpPr>
          <p:cNvPr id="25" name="Text 23"/>
          <p:cNvSpPr txBox="1"/>
          <p:nvPr/>
        </p:nvSpPr>
        <p:spPr>
          <a:xfrm>
            <a:off x="548640" y="5349240"/>
            <a:ext cx="11064240" cy="685800"/>
          </a:xfrm>
          <a:prstGeom prst="rect">
            <a:avLst/>
          </a:prstGeom>
          <a:noFill/>
          <a:ln/>
        </p:spPr>
        <p:txBody>
          <a:bodyPr wrap="square" lIns="0" tIns="0" rIns="0" bIns="0" rtlCol="0" anchor="t"/>
          <a:lstStyle/>
          <a:p>
            <a:pPr indent="0" marL="0">
              <a:buNone/>
            </a:pPr>
            <a:r>
              <a:rPr lang="en-US" sz="1300" dirty="0">
                <a:solidFill>
                  <a:schemeClr val="accent6"/>
                </a:solidFill>
              </a:rPr>
              <a:t>Every fold model is also scored on its own CV test part (the paper's Table 5) and on the hold-out set (Table 6). Each fold stores a fingerprint of the split (a0cc112e…): all 10 folds match.</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MODEL</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EfficientNet-B0 with the paper's dense head</a:t>
            </a:r>
            <a:endParaRPr lang="en-US" sz="3200" dirty="0"/>
          </a:p>
        </p:txBody>
      </p:sp>
      <p:sp>
        <p:nvSpPr>
          <p:cNvPr id="4" name="Shape 2"/>
          <p:cNvSpPr/>
          <p:nvPr/>
        </p:nvSpPr>
        <p:spPr>
          <a:xfrm>
            <a:off x="548640" y="1691640"/>
            <a:ext cx="1600200" cy="914400"/>
          </a:xfrm>
          <a:prstGeom prst="roundRect">
            <a:avLst>
              <a:gd name="adj" fmla="val 8000"/>
            </a:avLst>
          </a:prstGeom>
          <a:solidFill>
            <a:schemeClr val="bg2"/>
          </a:solidFill>
          <a:ln w="9525">
            <a:solidFill>
              <a:schemeClr val="bg2"/>
            </a:solidFill>
            <a:prstDash val="solid"/>
          </a:ln>
        </p:spPr>
      </p:sp>
      <p:sp>
        <p:nvSpPr>
          <p:cNvPr id="5" name="Text 3"/>
          <p:cNvSpPr txBox="1"/>
          <p:nvPr/>
        </p:nvSpPr>
        <p:spPr>
          <a:xfrm>
            <a:off x="640080" y="1764792"/>
            <a:ext cx="1417320" cy="768096"/>
          </a:xfrm>
          <a:prstGeom prst="rect">
            <a:avLst/>
          </a:prstGeom>
          <a:noFill/>
          <a:ln/>
        </p:spPr>
        <p:txBody>
          <a:bodyPr wrap="square" lIns="0" tIns="0" rIns="0" bIns="0" rtlCol="0" anchor="ctr"/>
          <a:lstStyle/>
          <a:p>
            <a:pPr algn="ctr" indent="0" marL="0">
              <a:buNone/>
            </a:pPr>
            <a:r>
              <a:rPr lang="en-US" sz="1500" b="1" dirty="0">
                <a:solidFill>
                  <a:schemeClr val="tx1"/>
                </a:solidFill>
              </a:rPr>
              <a:t>Input</a:t>
            </a:r>
            <a:endParaRPr lang="en-US" sz="1400" dirty="0"/>
          </a:p>
          <a:p>
            <a:pPr algn="ctr" indent="0" marL="0">
              <a:buNone/>
            </a:pPr>
            <a:r>
              <a:rPr lang="en-US" sz="1200" dirty="0">
                <a:solidFill>
                  <a:schemeClr val="accent6"/>
                </a:solidFill>
              </a:rPr>
              <a:t>224 × 224 × 3 · uint8</a:t>
            </a:r>
            <a:endParaRPr lang="en-US" sz="1400" dirty="0"/>
          </a:p>
        </p:txBody>
      </p:sp>
      <p:sp>
        <p:nvSpPr>
          <p:cNvPr id="6" name="Shape 4"/>
          <p:cNvSpPr/>
          <p:nvPr/>
        </p:nvSpPr>
        <p:spPr>
          <a:xfrm>
            <a:off x="2514600" y="1691640"/>
            <a:ext cx="1097280" cy="914400"/>
          </a:xfrm>
          <a:prstGeom prst="roundRect">
            <a:avLst>
              <a:gd name="adj" fmla="val 8000"/>
            </a:avLst>
          </a:prstGeom>
          <a:solidFill>
            <a:schemeClr val="bg2"/>
          </a:solidFill>
          <a:ln w="9525">
            <a:solidFill>
              <a:schemeClr val="bg2"/>
            </a:solidFill>
            <a:prstDash val="solid"/>
          </a:ln>
        </p:spPr>
      </p:sp>
      <p:sp>
        <p:nvSpPr>
          <p:cNvPr id="7" name="Text 5"/>
          <p:cNvSpPr txBox="1"/>
          <p:nvPr/>
        </p:nvSpPr>
        <p:spPr>
          <a:xfrm>
            <a:off x="2606040" y="1764792"/>
            <a:ext cx="914400" cy="768096"/>
          </a:xfrm>
          <a:prstGeom prst="rect">
            <a:avLst/>
          </a:prstGeom>
          <a:noFill/>
          <a:ln/>
        </p:spPr>
        <p:txBody>
          <a:bodyPr wrap="square" lIns="0" tIns="0" rIns="0" bIns="0" rtlCol="0" anchor="ctr"/>
          <a:lstStyle/>
          <a:p>
            <a:pPr algn="ctr" indent="0" marL="0">
              <a:buNone/>
            </a:pPr>
            <a:r>
              <a:rPr lang="en-US" sz="1500" b="1" dirty="0">
                <a:solidFill>
                  <a:schemeClr val="tx1"/>
                </a:solidFill>
              </a:rPr>
              <a:t>÷ 255</a:t>
            </a:r>
            <a:endParaRPr lang="en-US" sz="1400" dirty="0"/>
          </a:p>
          <a:p>
            <a:pPr algn="ctr" indent="0" marL="0">
              <a:buNone/>
            </a:pPr>
            <a:r>
              <a:rPr lang="en-US" sz="1200" dirty="0">
                <a:solidFill>
                  <a:schemeClr val="accent6"/>
                </a:solidFill>
              </a:rPr>
              <a:t>pixels to 0–1</a:t>
            </a:r>
            <a:endParaRPr lang="en-US" sz="1400" dirty="0"/>
          </a:p>
        </p:txBody>
      </p:sp>
      <p:sp>
        <p:nvSpPr>
          <p:cNvPr id="8" name="Shape 6"/>
          <p:cNvSpPr/>
          <p:nvPr/>
        </p:nvSpPr>
        <p:spPr>
          <a:xfrm>
            <a:off x="3977640" y="1691640"/>
            <a:ext cx="3794760" cy="914400"/>
          </a:xfrm>
          <a:prstGeom prst="roundRect">
            <a:avLst>
              <a:gd name="adj" fmla="val 8000"/>
            </a:avLst>
          </a:prstGeom>
          <a:solidFill>
            <a:srgbClr val="137C8E"/>
          </a:solidFill>
          <a:ln w="9525">
            <a:solidFill>
              <a:srgbClr val="137C8E"/>
            </a:solidFill>
            <a:prstDash val="solid"/>
          </a:ln>
        </p:spPr>
      </p:sp>
      <p:sp>
        <p:nvSpPr>
          <p:cNvPr id="9" name="Text 7"/>
          <p:cNvSpPr txBox="1"/>
          <p:nvPr/>
        </p:nvSpPr>
        <p:spPr>
          <a:xfrm>
            <a:off x="4069080" y="1764792"/>
            <a:ext cx="3611880" cy="768096"/>
          </a:xfrm>
          <a:prstGeom prst="rect">
            <a:avLst/>
          </a:prstGeom>
          <a:noFill/>
          <a:ln/>
        </p:spPr>
        <p:txBody>
          <a:bodyPr wrap="square" lIns="0" tIns="0" rIns="0" bIns="0" rtlCol="0" anchor="ctr"/>
          <a:lstStyle/>
          <a:p>
            <a:pPr algn="ctr" indent="0" marL="0">
              <a:buNone/>
            </a:pPr>
            <a:r>
              <a:rPr lang="en-US" sz="1500" b="1" dirty="0">
                <a:solidFill>
                  <a:schemeClr val="bg1"/>
                </a:solidFill>
              </a:rPr>
              <a:t>EfficientNet-B0 backbone</a:t>
            </a:r>
            <a:endParaRPr lang="en-US" sz="1400" dirty="0"/>
          </a:p>
          <a:p>
            <a:pPr algn="ctr" indent="0" marL="0">
              <a:buNone/>
            </a:pPr>
            <a:r>
              <a:rPr lang="en-US" sz="1200" dirty="0">
                <a:solidFill>
                  <a:schemeClr val="bg1"/>
                </a:solidFill>
              </a:rPr>
              <a:t>noisy-student weights · 4,049,564 parameters</a:t>
            </a:r>
            <a:endParaRPr lang="en-US" sz="1400" dirty="0"/>
          </a:p>
        </p:txBody>
      </p:sp>
      <p:sp>
        <p:nvSpPr>
          <p:cNvPr id="10" name="Shape 8"/>
          <p:cNvSpPr/>
          <p:nvPr/>
        </p:nvSpPr>
        <p:spPr>
          <a:xfrm>
            <a:off x="2185416" y="2148840"/>
            <a:ext cx="292608" cy="0"/>
          </a:xfrm>
          <a:prstGeom prst="line">
            <a:avLst/>
          </a:prstGeom>
          <a:noFill/>
          <a:ln w="19050">
            <a:solidFill>
              <a:srgbClr val="64748B"/>
            </a:solidFill>
            <a:prstDash val="solid"/>
            <a:tailEnd type="triangle"/>
          </a:ln>
        </p:spPr>
      </p:sp>
      <p:sp>
        <p:nvSpPr>
          <p:cNvPr id="11" name="Shape 9"/>
          <p:cNvSpPr/>
          <p:nvPr/>
        </p:nvSpPr>
        <p:spPr>
          <a:xfrm>
            <a:off x="3648456" y="2148840"/>
            <a:ext cx="292608" cy="0"/>
          </a:xfrm>
          <a:prstGeom prst="line">
            <a:avLst/>
          </a:prstGeom>
          <a:noFill/>
          <a:ln w="19050">
            <a:solidFill>
              <a:srgbClr val="64748B"/>
            </a:solidFill>
            <a:prstDash val="solid"/>
            <a:tailEnd type="triangle"/>
          </a:ln>
        </p:spPr>
      </p:sp>
      <p:sp>
        <p:nvSpPr>
          <p:cNvPr id="12" name="Shape 10"/>
          <p:cNvSpPr/>
          <p:nvPr/>
        </p:nvSpPr>
        <p:spPr>
          <a:xfrm>
            <a:off x="548640" y="2852928"/>
            <a:ext cx="731520" cy="566928"/>
          </a:xfrm>
          <a:prstGeom prst="roundRect">
            <a:avLst>
              <a:gd name="adj" fmla="val 12903"/>
            </a:avLst>
          </a:prstGeom>
          <a:solidFill>
            <a:srgbClr val="D8EAEE"/>
          </a:solidFill>
          <a:ln w="9525">
            <a:solidFill>
              <a:srgbClr val="D8EAEE"/>
            </a:solidFill>
            <a:prstDash val="solid"/>
          </a:ln>
        </p:spPr>
      </p:sp>
      <p:sp>
        <p:nvSpPr>
          <p:cNvPr id="13" name="Text 11"/>
          <p:cNvSpPr txBox="1"/>
          <p:nvPr/>
        </p:nvSpPr>
        <p:spPr>
          <a:xfrm>
            <a:off x="548640"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stem</a:t>
            </a:r>
            <a:endParaRPr lang="en-US" sz="1400" dirty="0"/>
          </a:p>
          <a:p>
            <a:pPr algn="ctr" indent="0" marL="0">
              <a:buNone/>
            </a:pPr>
            <a:r>
              <a:rPr lang="en-US" sz="1100" dirty="0">
                <a:solidFill>
                  <a:schemeClr val="accent6"/>
                </a:solidFill>
              </a:rPr>
              <a:t>32</a:t>
            </a:r>
            <a:endParaRPr lang="en-US" sz="1400" dirty="0"/>
          </a:p>
        </p:txBody>
      </p:sp>
      <p:sp>
        <p:nvSpPr>
          <p:cNvPr id="14" name="Shape 12"/>
          <p:cNvSpPr/>
          <p:nvPr/>
        </p:nvSpPr>
        <p:spPr>
          <a:xfrm>
            <a:off x="1357884" y="2852928"/>
            <a:ext cx="731520" cy="566928"/>
          </a:xfrm>
          <a:prstGeom prst="roundRect">
            <a:avLst>
              <a:gd name="adj" fmla="val 12903"/>
            </a:avLst>
          </a:prstGeom>
          <a:solidFill>
            <a:srgbClr val="D8EAEE"/>
          </a:solidFill>
          <a:ln w="9525">
            <a:solidFill>
              <a:srgbClr val="D8EAEE"/>
            </a:solidFill>
            <a:prstDash val="solid"/>
          </a:ln>
        </p:spPr>
      </p:sp>
      <p:sp>
        <p:nvSpPr>
          <p:cNvPr id="15" name="Text 13"/>
          <p:cNvSpPr txBox="1"/>
          <p:nvPr/>
        </p:nvSpPr>
        <p:spPr>
          <a:xfrm>
            <a:off x="1357884"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16</a:t>
            </a:r>
            <a:endParaRPr lang="en-US" sz="1400" dirty="0"/>
          </a:p>
          <a:p>
            <a:pPr algn="ctr" indent="0" marL="0">
              <a:buNone/>
            </a:pPr>
            <a:r>
              <a:rPr lang="en-US" sz="1100" dirty="0">
                <a:solidFill>
                  <a:schemeClr val="accent6"/>
                </a:solidFill>
              </a:rPr>
              <a:t>×1</a:t>
            </a:r>
            <a:endParaRPr lang="en-US" sz="1400" dirty="0"/>
          </a:p>
        </p:txBody>
      </p:sp>
      <p:sp>
        <p:nvSpPr>
          <p:cNvPr id="16" name="Shape 14"/>
          <p:cNvSpPr/>
          <p:nvPr/>
        </p:nvSpPr>
        <p:spPr>
          <a:xfrm>
            <a:off x="2167128" y="2852928"/>
            <a:ext cx="731520" cy="566928"/>
          </a:xfrm>
          <a:prstGeom prst="roundRect">
            <a:avLst>
              <a:gd name="adj" fmla="val 12903"/>
            </a:avLst>
          </a:prstGeom>
          <a:solidFill>
            <a:srgbClr val="D8EAEE"/>
          </a:solidFill>
          <a:ln w="9525">
            <a:solidFill>
              <a:srgbClr val="D8EAEE"/>
            </a:solidFill>
            <a:prstDash val="solid"/>
          </a:ln>
        </p:spPr>
      </p:sp>
      <p:sp>
        <p:nvSpPr>
          <p:cNvPr id="17" name="Text 15"/>
          <p:cNvSpPr txBox="1"/>
          <p:nvPr/>
        </p:nvSpPr>
        <p:spPr>
          <a:xfrm>
            <a:off x="2167128"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24</a:t>
            </a:r>
            <a:endParaRPr lang="en-US" sz="1400" dirty="0"/>
          </a:p>
          <a:p>
            <a:pPr algn="ctr" indent="0" marL="0">
              <a:buNone/>
            </a:pPr>
            <a:r>
              <a:rPr lang="en-US" sz="1100" dirty="0">
                <a:solidFill>
                  <a:schemeClr val="accent6"/>
                </a:solidFill>
              </a:rPr>
              <a:t>×2</a:t>
            </a:r>
            <a:endParaRPr lang="en-US" sz="1400" dirty="0"/>
          </a:p>
        </p:txBody>
      </p:sp>
      <p:sp>
        <p:nvSpPr>
          <p:cNvPr id="18" name="Shape 16"/>
          <p:cNvSpPr/>
          <p:nvPr/>
        </p:nvSpPr>
        <p:spPr>
          <a:xfrm>
            <a:off x="2976372" y="2852928"/>
            <a:ext cx="731520" cy="566928"/>
          </a:xfrm>
          <a:prstGeom prst="roundRect">
            <a:avLst>
              <a:gd name="adj" fmla="val 12903"/>
            </a:avLst>
          </a:prstGeom>
          <a:solidFill>
            <a:srgbClr val="D8EAEE"/>
          </a:solidFill>
          <a:ln w="9525">
            <a:solidFill>
              <a:srgbClr val="D8EAEE"/>
            </a:solidFill>
            <a:prstDash val="solid"/>
          </a:ln>
        </p:spPr>
      </p:sp>
      <p:sp>
        <p:nvSpPr>
          <p:cNvPr id="19" name="Text 17"/>
          <p:cNvSpPr txBox="1"/>
          <p:nvPr/>
        </p:nvSpPr>
        <p:spPr>
          <a:xfrm>
            <a:off x="2976372"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40</a:t>
            </a:r>
            <a:endParaRPr lang="en-US" sz="1400" dirty="0"/>
          </a:p>
          <a:p>
            <a:pPr algn="ctr" indent="0" marL="0">
              <a:buNone/>
            </a:pPr>
            <a:r>
              <a:rPr lang="en-US" sz="1100" dirty="0">
                <a:solidFill>
                  <a:schemeClr val="accent6"/>
                </a:solidFill>
              </a:rPr>
              <a:t>×2</a:t>
            </a:r>
            <a:endParaRPr lang="en-US" sz="1400" dirty="0"/>
          </a:p>
        </p:txBody>
      </p:sp>
      <p:sp>
        <p:nvSpPr>
          <p:cNvPr id="20" name="Shape 18"/>
          <p:cNvSpPr/>
          <p:nvPr/>
        </p:nvSpPr>
        <p:spPr>
          <a:xfrm>
            <a:off x="3785616" y="2852928"/>
            <a:ext cx="731520" cy="566928"/>
          </a:xfrm>
          <a:prstGeom prst="roundRect">
            <a:avLst>
              <a:gd name="adj" fmla="val 12903"/>
            </a:avLst>
          </a:prstGeom>
          <a:solidFill>
            <a:srgbClr val="D8EAEE"/>
          </a:solidFill>
          <a:ln w="9525">
            <a:solidFill>
              <a:srgbClr val="D8EAEE"/>
            </a:solidFill>
            <a:prstDash val="solid"/>
          </a:ln>
        </p:spPr>
      </p:sp>
      <p:sp>
        <p:nvSpPr>
          <p:cNvPr id="21" name="Text 19"/>
          <p:cNvSpPr txBox="1"/>
          <p:nvPr/>
        </p:nvSpPr>
        <p:spPr>
          <a:xfrm>
            <a:off x="3785616"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80</a:t>
            </a:r>
            <a:endParaRPr lang="en-US" sz="1400" dirty="0"/>
          </a:p>
          <a:p>
            <a:pPr algn="ctr" indent="0" marL="0">
              <a:buNone/>
            </a:pPr>
            <a:r>
              <a:rPr lang="en-US" sz="1100" dirty="0">
                <a:solidFill>
                  <a:schemeClr val="accent6"/>
                </a:solidFill>
              </a:rPr>
              <a:t>×3</a:t>
            </a:r>
            <a:endParaRPr lang="en-US" sz="1400" dirty="0"/>
          </a:p>
        </p:txBody>
      </p:sp>
      <p:sp>
        <p:nvSpPr>
          <p:cNvPr id="22" name="Shape 20"/>
          <p:cNvSpPr/>
          <p:nvPr/>
        </p:nvSpPr>
        <p:spPr>
          <a:xfrm>
            <a:off x="4594860" y="2852928"/>
            <a:ext cx="731520" cy="566928"/>
          </a:xfrm>
          <a:prstGeom prst="roundRect">
            <a:avLst>
              <a:gd name="adj" fmla="val 12903"/>
            </a:avLst>
          </a:prstGeom>
          <a:solidFill>
            <a:srgbClr val="D8EAEE"/>
          </a:solidFill>
          <a:ln w="9525">
            <a:solidFill>
              <a:srgbClr val="D8EAEE"/>
            </a:solidFill>
            <a:prstDash val="solid"/>
          </a:ln>
        </p:spPr>
      </p:sp>
      <p:sp>
        <p:nvSpPr>
          <p:cNvPr id="23" name="Text 21"/>
          <p:cNvSpPr txBox="1"/>
          <p:nvPr/>
        </p:nvSpPr>
        <p:spPr>
          <a:xfrm>
            <a:off x="4594860"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112</a:t>
            </a:r>
            <a:endParaRPr lang="en-US" sz="1400" dirty="0"/>
          </a:p>
          <a:p>
            <a:pPr algn="ctr" indent="0" marL="0">
              <a:buNone/>
            </a:pPr>
            <a:r>
              <a:rPr lang="en-US" sz="1100" dirty="0">
                <a:solidFill>
                  <a:schemeClr val="accent6"/>
                </a:solidFill>
              </a:rPr>
              <a:t>×3</a:t>
            </a:r>
            <a:endParaRPr lang="en-US" sz="1400" dirty="0"/>
          </a:p>
        </p:txBody>
      </p:sp>
      <p:sp>
        <p:nvSpPr>
          <p:cNvPr id="24" name="Shape 22"/>
          <p:cNvSpPr/>
          <p:nvPr/>
        </p:nvSpPr>
        <p:spPr>
          <a:xfrm>
            <a:off x="5404104" y="2852928"/>
            <a:ext cx="731520" cy="566928"/>
          </a:xfrm>
          <a:prstGeom prst="roundRect">
            <a:avLst>
              <a:gd name="adj" fmla="val 12903"/>
            </a:avLst>
          </a:prstGeom>
          <a:solidFill>
            <a:srgbClr val="D8EAEE"/>
          </a:solidFill>
          <a:ln w="9525">
            <a:solidFill>
              <a:srgbClr val="D8EAEE"/>
            </a:solidFill>
            <a:prstDash val="solid"/>
          </a:ln>
        </p:spPr>
      </p:sp>
      <p:sp>
        <p:nvSpPr>
          <p:cNvPr id="25" name="Text 23"/>
          <p:cNvSpPr txBox="1"/>
          <p:nvPr/>
        </p:nvSpPr>
        <p:spPr>
          <a:xfrm>
            <a:off x="5404104"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192</a:t>
            </a:r>
            <a:endParaRPr lang="en-US" sz="1400" dirty="0"/>
          </a:p>
          <a:p>
            <a:pPr algn="ctr" indent="0" marL="0">
              <a:buNone/>
            </a:pPr>
            <a:r>
              <a:rPr lang="en-US" sz="1100" dirty="0">
                <a:solidFill>
                  <a:schemeClr val="accent6"/>
                </a:solidFill>
              </a:rPr>
              <a:t>×4</a:t>
            </a:r>
            <a:endParaRPr lang="en-US" sz="1400" dirty="0"/>
          </a:p>
        </p:txBody>
      </p:sp>
      <p:sp>
        <p:nvSpPr>
          <p:cNvPr id="26" name="Shape 24"/>
          <p:cNvSpPr/>
          <p:nvPr/>
        </p:nvSpPr>
        <p:spPr>
          <a:xfrm>
            <a:off x="6213348" y="2852928"/>
            <a:ext cx="731520" cy="566928"/>
          </a:xfrm>
          <a:prstGeom prst="roundRect">
            <a:avLst>
              <a:gd name="adj" fmla="val 12903"/>
            </a:avLst>
          </a:prstGeom>
          <a:solidFill>
            <a:srgbClr val="D8EAEE"/>
          </a:solidFill>
          <a:ln w="9525">
            <a:solidFill>
              <a:srgbClr val="D8EAEE"/>
            </a:solidFill>
            <a:prstDash val="solid"/>
          </a:ln>
        </p:spPr>
      </p:sp>
      <p:sp>
        <p:nvSpPr>
          <p:cNvPr id="27" name="Text 25"/>
          <p:cNvSpPr txBox="1"/>
          <p:nvPr/>
        </p:nvSpPr>
        <p:spPr>
          <a:xfrm>
            <a:off x="6213348"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320</a:t>
            </a:r>
            <a:endParaRPr lang="en-US" sz="1400" dirty="0"/>
          </a:p>
          <a:p>
            <a:pPr algn="ctr" indent="0" marL="0">
              <a:buNone/>
            </a:pPr>
            <a:r>
              <a:rPr lang="en-US" sz="1100" dirty="0">
                <a:solidFill>
                  <a:schemeClr val="accent6"/>
                </a:solidFill>
              </a:rPr>
              <a:t>×1</a:t>
            </a:r>
            <a:endParaRPr lang="en-US" sz="1400" dirty="0"/>
          </a:p>
        </p:txBody>
      </p:sp>
      <p:sp>
        <p:nvSpPr>
          <p:cNvPr id="28" name="Shape 26"/>
          <p:cNvSpPr/>
          <p:nvPr/>
        </p:nvSpPr>
        <p:spPr>
          <a:xfrm>
            <a:off x="7022592" y="2852928"/>
            <a:ext cx="731520" cy="566928"/>
          </a:xfrm>
          <a:prstGeom prst="roundRect">
            <a:avLst>
              <a:gd name="adj" fmla="val 12903"/>
            </a:avLst>
          </a:prstGeom>
          <a:solidFill>
            <a:srgbClr val="D8EAEE"/>
          </a:solidFill>
          <a:ln w="9525">
            <a:solidFill>
              <a:srgbClr val="D8EAEE"/>
            </a:solidFill>
            <a:prstDash val="solid"/>
          </a:ln>
        </p:spPr>
      </p:sp>
      <p:sp>
        <p:nvSpPr>
          <p:cNvPr id="29" name="Text 27"/>
          <p:cNvSpPr txBox="1"/>
          <p:nvPr/>
        </p:nvSpPr>
        <p:spPr>
          <a:xfrm>
            <a:off x="7022592" y="2871216"/>
            <a:ext cx="731520" cy="530352"/>
          </a:xfrm>
          <a:prstGeom prst="rect">
            <a:avLst/>
          </a:prstGeom>
          <a:noFill/>
          <a:ln/>
        </p:spPr>
        <p:txBody>
          <a:bodyPr wrap="square" lIns="0" tIns="0" rIns="0" bIns="0" rtlCol="0" anchor="ctr"/>
          <a:lstStyle/>
          <a:p>
            <a:pPr algn="ctr" indent="0" marL="0">
              <a:buNone/>
            </a:pPr>
            <a:r>
              <a:rPr lang="en-US" sz="1200" b="1" dirty="0">
                <a:solidFill>
                  <a:schemeClr val="tx1"/>
                </a:solidFill>
              </a:rPr>
              <a:t>1×1</a:t>
            </a:r>
            <a:endParaRPr lang="en-US" sz="1400" dirty="0"/>
          </a:p>
          <a:p>
            <a:pPr algn="ctr" indent="0" marL="0">
              <a:buNone/>
            </a:pPr>
            <a:r>
              <a:rPr lang="en-US" sz="1100" dirty="0">
                <a:solidFill>
                  <a:schemeClr val="accent6"/>
                </a:solidFill>
              </a:rPr>
              <a:t>1280</a:t>
            </a:r>
            <a:endParaRPr lang="en-US" sz="1400" dirty="0"/>
          </a:p>
        </p:txBody>
      </p:sp>
      <p:sp>
        <p:nvSpPr>
          <p:cNvPr id="30" name="Text 28"/>
          <p:cNvSpPr txBox="1"/>
          <p:nvPr/>
        </p:nvSpPr>
        <p:spPr>
          <a:xfrm>
            <a:off x="548640" y="3474720"/>
            <a:ext cx="7223760" cy="457200"/>
          </a:xfrm>
          <a:prstGeom prst="rect">
            <a:avLst/>
          </a:prstGeom>
          <a:noFill/>
          <a:ln/>
        </p:spPr>
        <p:txBody>
          <a:bodyPr wrap="square" lIns="0" tIns="0" rIns="0" bIns="0" rtlCol="0" anchor="t"/>
          <a:lstStyle/>
          <a:p>
            <a:pPr indent="0" marL="0">
              <a:buNone/>
            </a:pPr>
            <a:r>
              <a:rPr lang="en-US" sz="1200" dirty="0">
                <a:solidFill>
                  <a:schemeClr val="accent6"/>
                </a:solidFill>
              </a:rPr>
              <a:t>Inside the backbone: a stem convolution, 16 MBConv blocks in 7 stages (output channels, repeats), and a 1×1 convolution → 7 × 7 × 1280 features.</a:t>
            </a:r>
            <a:endParaRPr lang="en-US" sz="1200" dirty="0"/>
          </a:p>
        </p:txBody>
      </p:sp>
      <p:sp>
        <p:nvSpPr>
          <p:cNvPr id="31" name="Shape 29"/>
          <p:cNvSpPr/>
          <p:nvPr/>
        </p:nvSpPr>
        <p:spPr>
          <a:xfrm>
            <a:off x="548640" y="4114800"/>
            <a:ext cx="1298448" cy="914400"/>
          </a:xfrm>
          <a:prstGeom prst="roundRect">
            <a:avLst>
              <a:gd name="adj" fmla="val 8000"/>
            </a:avLst>
          </a:prstGeom>
          <a:solidFill>
            <a:schemeClr val="bg2"/>
          </a:solidFill>
          <a:ln w="9525">
            <a:solidFill>
              <a:schemeClr val="bg2"/>
            </a:solidFill>
            <a:prstDash val="solid"/>
          </a:ln>
        </p:spPr>
      </p:sp>
      <p:sp>
        <p:nvSpPr>
          <p:cNvPr id="32" name="Text 30"/>
          <p:cNvSpPr txBox="1"/>
          <p:nvPr/>
        </p:nvSpPr>
        <p:spPr>
          <a:xfrm>
            <a:off x="640080" y="4187952"/>
            <a:ext cx="1115568" cy="768096"/>
          </a:xfrm>
          <a:prstGeom prst="rect">
            <a:avLst/>
          </a:prstGeom>
          <a:noFill/>
          <a:ln/>
        </p:spPr>
        <p:txBody>
          <a:bodyPr wrap="square" lIns="0" tIns="0" rIns="0" bIns="0" rtlCol="0" anchor="ctr"/>
          <a:lstStyle/>
          <a:p>
            <a:pPr algn="ctr" indent="0" marL="0">
              <a:buNone/>
            </a:pPr>
            <a:r>
              <a:rPr lang="en-US" sz="1500" b="1" dirty="0">
                <a:solidFill>
                  <a:schemeClr val="tx1"/>
                </a:solidFill>
              </a:rPr>
              <a:t>Global avg pool</a:t>
            </a:r>
            <a:endParaRPr lang="en-US" sz="1400" dirty="0"/>
          </a:p>
          <a:p>
            <a:pPr algn="ctr" indent="0" marL="0">
              <a:buNone/>
            </a:pPr>
            <a:r>
              <a:rPr lang="en-US" sz="1200" dirty="0">
                <a:solidFill>
                  <a:schemeClr val="accent6"/>
                </a:solidFill>
              </a:rPr>
              <a:t>→ 1,280</a:t>
            </a:r>
            <a:endParaRPr lang="en-US" sz="1400" dirty="0"/>
          </a:p>
        </p:txBody>
      </p:sp>
      <p:sp>
        <p:nvSpPr>
          <p:cNvPr id="33" name="Shape 31"/>
          <p:cNvSpPr/>
          <p:nvPr/>
        </p:nvSpPr>
        <p:spPr>
          <a:xfrm>
            <a:off x="2057400" y="4114800"/>
            <a:ext cx="1298448" cy="914400"/>
          </a:xfrm>
          <a:prstGeom prst="roundRect">
            <a:avLst>
              <a:gd name="adj" fmla="val 8000"/>
            </a:avLst>
          </a:prstGeom>
          <a:solidFill>
            <a:schemeClr val="bg2"/>
          </a:solidFill>
          <a:ln w="9525">
            <a:solidFill>
              <a:schemeClr val="bg2"/>
            </a:solidFill>
            <a:prstDash val="solid"/>
          </a:ln>
        </p:spPr>
      </p:sp>
      <p:sp>
        <p:nvSpPr>
          <p:cNvPr id="34" name="Text 32"/>
          <p:cNvSpPr txBox="1"/>
          <p:nvPr/>
        </p:nvSpPr>
        <p:spPr>
          <a:xfrm>
            <a:off x="2148840" y="4187952"/>
            <a:ext cx="1115568" cy="768096"/>
          </a:xfrm>
          <a:prstGeom prst="rect">
            <a:avLst/>
          </a:prstGeom>
          <a:noFill/>
          <a:ln/>
        </p:spPr>
        <p:txBody>
          <a:bodyPr wrap="square" lIns="0" tIns="0" rIns="0" bIns="0" rtlCol="0" anchor="ctr"/>
          <a:lstStyle/>
          <a:p>
            <a:pPr algn="ctr" indent="0" marL="0">
              <a:buNone/>
            </a:pPr>
            <a:r>
              <a:rPr lang="en-US" sz="1500" b="1" dirty="0">
                <a:solidFill>
                  <a:schemeClr val="tx1"/>
                </a:solidFill>
              </a:rPr>
              <a:t>Dense 128</a:t>
            </a:r>
            <a:endParaRPr lang="en-US" sz="1400" dirty="0"/>
          </a:p>
          <a:p>
            <a:pPr algn="ctr" indent="0" marL="0">
              <a:buNone/>
            </a:pPr>
            <a:r>
              <a:rPr lang="en-US" sz="1200" dirty="0">
                <a:solidFill>
                  <a:schemeClr val="accent6"/>
                </a:solidFill>
              </a:rPr>
              <a:t>ReLU, dropout 0.3</a:t>
            </a:r>
            <a:endParaRPr lang="en-US" sz="1400" dirty="0"/>
          </a:p>
        </p:txBody>
      </p:sp>
      <p:sp>
        <p:nvSpPr>
          <p:cNvPr id="35" name="Shape 33"/>
          <p:cNvSpPr/>
          <p:nvPr/>
        </p:nvSpPr>
        <p:spPr>
          <a:xfrm>
            <a:off x="3566160" y="4114800"/>
            <a:ext cx="1298448" cy="914400"/>
          </a:xfrm>
          <a:prstGeom prst="roundRect">
            <a:avLst>
              <a:gd name="adj" fmla="val 8000"/>
            </a:avLst>
          </a:prstGeom>
          <a:solidFill>
            <a:schemeClr val="bg2"/>
          </a:solidFill>
          <a:ln w="9525">
            <a:solidFill>
              <a:schemeClr val="bg2"/>
            </a:solidFill>
            <a:prstDash val="solid"/>
          </a:ln>
        </p:spPr>
      </p:sp>
      <p:sp>
        <p:nvSpPr>
          <p:cNvPr id="36" name="Text 34"/>
          <p:cNvSpPr txBox="1"/>
          <p:nvPr/>
        </p:nvSpPr>
        <p:spPr>
          <a:xfrm>
            <a:off x="3657600" y="4187952"/>
            <a:ext cx="1115568" cy="768096"/>
          </a:xfrm>
          <a:prstGeom prst="rect">
            <a:avLst/>
          </a:prstGeom>
          <a:noFill/>
          <a:ln/>
        </p:spPr>
        <p:txBody>
          <a:bodyPr wrap="square" lIns="0" tIns="0" rIns="0" bIns="0" rtlCol="0" anchor="ctr"/>
          <a:lstStyle/>
          <a:p>
            <a:pPr algn="ctr" indent="0" marL="0">
              <a:buNone/>
            </a:pPr>
            <a:r>
              <a:rPr lang="en-US" sz="1500" b="1" dirty="0">
                <a:solidFill>
                  <a:schemeClr val="tx1"/>
                </a:solidFill>
              </a:rPr>
              <a:t>Dense 64</a:t>
            </a:r>
            <a:endParaRPr lang="en-US" sz="1400" dirty="0"/>
          </a:p>
          <a:p>
            <a:pPr algn="ctr" indent="0" marL="0">
              <a:buNone/>
            </a:pPr>
            <a:r>
              <a:rPr lang="en-US" sz="1200" dirty="0">
                <a:solidFill>
                  <a:schemeClr val="accent6"/>
                </a:solidFill>
              </a:rPr>
              <a:t>ReLU, dropout 0.3</a:t>
            </a:r>
            <a:endParaRPr lang="en-US" sz="1400" dirty="0"/>
          </a:p>
        </p:txBody>
      </p:sp>
      <p:sp>
        <p:nvSpPr>
          <p:cNvPr id="37" name="Shape 35"/>
          <p:cNvSpPr/>
          <p:nvPr/>
        </p:nvSpPr>
        <p:spPr>
          <a:xfrm>
            <a:off x="5074920" y="4114800"/>
            <a:ext cx="1298448" cy="914400"/>
          </a:xfrm>
          <a:prstGeom prst="roundRect">
            <a:avLst>
              <a:gd name="adj" fmla="val 8000"/>
            </a:avLst>
          </a:prstGeom>
          <a:solidFill>
            <a:schemeClr val="bg2"/>
          </a:solidFill>
          <a:ln w="9525">
            <a:solidFill>
              <a:schemeClr val="bg2"/>
            </a:solidFill>
            <a:prstDash val="solid"/>
          </a:ln>
        </p:spPr>
      </p:sp>
      <p:sp>
        <p:nvSpPr>
          <p:cNvPr id="38" name="Text 36"/>
          <p:cNvSpPr txBox="1"/>
          <p:nvPr/>
        </p:nvSpPr>
        <p:spPr>
          <a:xfrm>
            <a:off x="5166360" y="4187952"/>
            <a:ext cx="1115568" cy="768096"/>
          </a:xfrm>
          <a:prstGeom prst="rect">
            <a:avLst/>
          </a:prstGeom>
          <a:noFill/>
          <a:ln/>
        </p:spPr>
        <p:txBody>
          <a:bodyPr wrap="square" lIns="0" tIns="0" rIns="0" bIns="0" rtlCol="0" anchor="ctr"/>
          <a:lstStyle/>
          <a:p>
            <a:pPr algn="ctr" indent="0" marL="0">
              <a:buNone/>
            </a:pPr>
            <a:r>
              <a:rPr lang="en-US" sz="1500" b="1" dirty="0">
                <a:solidFill>
                  <a:schemeClr val="tx1"/>
                </a:solidFill>
              </a:rPr>
              <a:t>Dense 32</a:t>
            </a:r>
            <a:endParaRPr lang="en-US" sz="1400" dirty="0"/>
          </a:p>
          <a:p>
            <a:pPr algn="ctr" indent="0" marL="0">
              <a:buNone/>
            </a:pPr>
            <a:r>
              <a:rPr lang="en-US" sz="1200" dirty="0">
                <a:solidFill>
                  <a:schemeClr val="accent6"/>
                </a:solidFill>
              </a:rPr>
              <a:t>ReLU, dropout 0.3</a:t>
            </a:r>
            <a:endParaRPr lang="en-US" sz="1400" dirty="0"/>
          </a:p>
        </p:txBody>
      </p:sp>
      <p:sp>
        <p:nvSpPr>
          <p:cNvPr id="39" name="Shape 37"/>
          <p:cNvSpPr/>
          <p:nvPr/>
        </p:nvSpPr>
        <p:spPr>
          <a:xfrm>
            <a:off x="6583680" y="4114800"/>
            <a:ext cx="1298448" cy="914400"/>
          </a:xfrm>
          <a:prstGeom prst="roundRect">
            <a:avLst>
              <a:gd name="adj" fmla="val 8000"/>
            </a:avLst>
          </a:prstGeom>
          <a:solidFill>
            <a:srgbClr val="7B4B94"/>
          </a:solidFill>
          <a:ln w="9525">
            <a:solidFill>
              <a:srgbClr val="7B4B94"/>
            </a:solidFill>
            <a:prstDash val="solid"/>
          </a:ln>
        </p:spPr>
      </p:sp>
      <p:sp>
        <p:nvSpPr>
          <p:cNvPr id="40" name="Text 38"/>
          <p:cNvSpPr txBox="1"/>
          <p:nvPr/>
        </p:nvSpPr>
        <p:spPr>
          <a:xfrm>
            <a:off x="6675120" y="4187952"/>
            <a:ext cx="1115568" cy="768096"/>
          </a:xfrm>
          <a:prstGeom prst="rect">
            <a:avLst/>
          </a:prstGeom>
          <a:noFill/>
          <a:ln/>
        </p:spPr>
        <p:txBody>
          <a:bodyPr wrap="square" lIns="0" tIns="0" rIns="0" bIns="0" rtlCol="0" anchor="ctr"/>
          <a:lstStyle/>
          <a:p>
            <a:pPr algn="ctr" indent="0" marL="0">
              <a:buNone/>
            </a:pPr>
            <a:r>
              <a:rPr lang="en-US" sz="1500" b="1" dirty="0">
                <a:solidFill>
                  <a:schemeClr val="bg1"/>
                </a:solidFill>
              </a:rPr>
              <a:t>Dense 2</a:t>
            </a:r>
            <a:endParaRPr lang="en-US" sz="1400" dirty="0"/>
          </a:p>
          <a:p>
            <a:pPr algn="ctr" indent="0" marL="0">
              <a:buNone/>
            </a:pPr>
            <a:r>
              <a:rPr lang="en-US" sz="1200" dirty="0">
                <a:solidFill>
                  <a:schemeClr val="bg1"/>
                </a:solidFill>
              </a:rPr>
              <a:t>softmax</a:t>
            </a:r>
            <a:endParaRPr lang="en-US" sz="1400" dirty="0"/>
          </a:p>
        </p:txBody>
      </p:sp>
      <p:sp>
        <p:nvSpPr>
          <p:cNvPr id="41" name="Shape 39"/>
          <p:cNvSpPr/>
          <p:nvPr/>
        </p:nvSpPr>
        <p:spPr>
          <a:xfrm>
            <a:off x="1874520" y="4572000"/>
            <a:ext cx="155448" cy="0"/>
          </a:xfrm>
          <a:prstGeom prst="line">
            <a:avLst/>
          </a:prstGeom>
          <a:noFill/>
          <a:ln w="19050">
            <a:solidFill>
              <a:srgbClr val="64748B"/>
            </a:solidFill>
            <a:prstDash val="solid"/>
            <a:tailEnd type="triangle"/>
          </a:ln>
        </p:spPr>
      </p:sp>
      <p:sp>
        <p:nvSpPr>
          <p:cNvPr id="42" name="Shape 40"/>
          <p:cNvSpPr/>
          <p:nvPr/>
        </p:nvSpPr>
        <p:spPr>
          <a:xfrm>
            <a:off x="3383280" y="4572000"/>
            <a:ext cx="155448" cy="0"/>
          </a:xfrm>
          <a:prstGeom prst="line">
            <a:avLst/>
          </a:prstGeom>
          <a:noFill/>
          <a:ln w="19050">
            <a:solidFill>
              <a:srgbClr val="64748B"/>
            </a:solidFill>
            <a:prstDash val="solid"/>
            <a:tailEnd type="triangle"/>
          </a:ln>
        </p:spPr>
      </p:sp>
      <p:sp>
        <p:nvSpPr>
          <p:cNvPr id="43" name="Shape 41"/>
          <p:cNvSpPr/>
          <p:nvPr/>
        </p:nvSpPr>
        <p:spPr>
          <a:xfrm>
            <a:off x="4892040" y="4572000"/>
            <a:ext cx="155448" cy="0"/>
          </a:xfrm>
          <a:prstGeom prst="line">
            <a:avLst/>
          </a:prstGeom>
          <a:noFill/>
          <a:ln w="19050">
            <a:solidFill>
              <a:srgbClr val="64748B"/>
            </a:solidFill>
            <a:prstDash val="solid"/>
            <a:tailEnd type="triangle"/>
          </a:ln>
        </p:spPr>
      </p:sp>
      <p:sp>
        <p:nvSpPr>
          <p:cNvPr id="44" name="Shape 42"/>
          <p:cNvSpPr/>
          <p:nvPr/>
        </p:nvSpPr>
        <p:spPr>
          <a:xfrm>
            <a:off x="6400800" y="4572000"/>
            <a:ext cx="155448" cy="0"/>
          </a:xfrm>
          <a:prstGeom prst="line">
            <a:avLst/>
          </a:prstGeom>
          <a:noFill/>
          <a:ln w="19050">
            <a:solidFill>
              <a:srgbClr val="64748B"/>
            </a:solidFill>
            <a:prstDash val="solid"/>
            <a:tailEnd type="triangle"/>
          </a:ln>
        </p:spPr>
      </p:sp>
      <p:sp>
        <p:nvSpPr>
          <p:cNvPr id="45" name="Text 43"/>
          <p:cNvSpPr txBox="1"/>
          <p:nvPr/>
        </p:nvSpPr>
        <p:spPr>
          <a:xfrm>
            <a:off x="548640" y="5166360"/>
            <a:ext cx="7223760" cy="365760"/>
          </a:xfrm>
          <a:prstGeom prst="rect">
            <a:avLst/>
          </a:prstGeom>
          <a:noFill/>
          <a:ln/>
        </p:spPr>
        <p:txBody>
          <a:bodyPr wrap="square" lIns="0" tIns="0" rIns="0" bIns="0" rtlCol="0" anchor="t"/>
          <a:lstStyle/>
          <a:p>
            <a:pPr indent="0" marL="0">
              <a:buNone/>
            </a:pPr>
            <a:r>
              <a:rPr lang="en-US" sz="1200" dirty="0">
                <a:solidFill>
                  <a:schemeClr val="accent6"/>
                </a:solidFill>
              </a:rPr>
              <a:t>Output: P(parasitized), P(uninfected). Loss: categorical cross-entropy with label smoothing 0.1.</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83880" y="1691640"/>
          <a:ext cx="3429000" cy="914400"/>
        </p:xfrm>
        <a:graphic>
          <a:graphicData uri="http://schemas.openxmlformats.org/drawingml/2006/table">
            <a:tbl>
              <a:tblPr/>
              <a:tblGrid>
                <a:gridCol w="2240280"/>
                <a:gridCol w="11887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Parameters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EfficientNet-B0 backbone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r" indent="0" marL="0">
                        <a:buNone/>
                      </a:pPr>
                      <a:r>
                        <a:rPr lang="en-US" sz="1300" dirty="0">
                          <a:solidFill>
                            <a:srgbClr val="1E293B"/>
                          </a:solidFill>
                          <a:latin typeface="Calibri" pitchFamily="34" charset="0"/>
                          <a:ea typeface="Calibri" pitchFamily="34" charset="-122"/>
                          <a:cs typeface="Calibri" pitchFamily="34" charset="-120"/>
                        </a:rPr>
                        <a:t>4,049,564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Dense head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E293B"/>
                          </a:solidFill>
                          <a:latin typeface="Calibri" pitchFamily="34" charset="0"/>
                          <a:ea typeface="Calibri" pitchFamily="34" charset="-122"/>
                          <a:cs typeface="Calibri" pitchFamily="34" charset="-120"/>
                        </a:rPr>
                        <a:t>174,370</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r" indent="0" marL="0">
                        <a:buNone/>
                      </a:pPr>
                      <a:r>
                        <a:rPr lang="en-US" sz="1300" b="1" dirty="0">
                          <a:solidFill>
                            <a:srgbClr val="1E293B"/>
                          </a:solidFill>
                          <a:latin typeface="Calibri" pitchFamily="34" charset="0"/>
                          <a:ea typeface="Calibri" pitchFamily="34" charset="-122"/>
                          <a:cs typeface="Calibri" pitchFamily="34" charset="-120"/>
                        </a:rPr>
                        <a:t>4,223,934</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Trainable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E293B"/>
                          </a:solidFill>
                          <a:latin typeface="Calibri" pitchFamily="34" charset="0"/>
                          <a:ea typeface="Calibri" pitchFamily="34" charset="-122"/>
                          <a:cs typeface="Calibri" pitchFamily="34" charset="-120"/>
                        </a:rPr>
                        <a:t>4,181,918</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Non-trainable (BatchNorm)</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algn="r" indent="0" marL="0">
                        <a:buNone/>
                      </a:pPr>
                      <a:r>
                        <a:rPr lang="en-US" sz="1300" dirty="0">
                          <a:solidFill>
                            <a:srgbClr val="1E293B"/>
                          </a:solidFill>
                          <a:latin typeface="Calibri" pitchFamily="34" charset="0"/>
                          <a:ea typeface="Calibri" pitchFamily="34" charset="-122"/>
                          <a:cs typeface="Calibri" pitchFamily="34" charset="-120"/>
                        </a:rPr>
                        <a:t>42,016</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bl>
          </a:graphicData>
        </a:graphic>
      </p:graphicFrame>
      <p:sp>
        <p:nvSpPr>
          <p:cNvPr id="47" name="Shape 44"/>
          <p:cNvSpPr/>
          <p:nvPr/>
        </p:nvSpPr>
        <p:spPr>
          <a:xfrm>
            <a:off x="8183880" y="4343400"/>
            <a:ext cx="3429000" cy="914400"/>
          </a:xfrm>
          <a:prstGeom prst="roundRect">
            <a:avLst>
              <a:gd name="adj" fmla="val 8000"/>
            </a:avLst>
          </a:prstGeom>
          <a:solidFill>
            <a:srgbClr val="E3F0F2"/>
          </a:solidFill>
          <a:ln w="9525">
            <a:solidFill>
              <a:srgbClr val="E3F0F2"/>
            </a:solidFill>
            <a:prstDash val="solid"/>
          </a:ln>
        </p:spPr>
      </p:sp>
      <p:sp>
        <p:nvSpPr>
          <p:cNvPr id="48" name="Shape 45"/>
          <p:cNvSpPr/>
          <p:nvPr/>
        </p:nvSpPr>
        <p:spPr>
          <a:xfrm>
            <a:off x="8385048" y="4572000"/>
            <a:ext cx="457200" cy="457200"/>
          </a:xfrm>
          <a:prstGeom prst="ellipse">
            <a:avLst/>
          </a:prstGeom>
          <a:solidFill>
            <a:schemeClr val="accent5"/>
          </a:solidFill>
          <a:ln w="6350">
            <a:solidFill>
              <a:schemeClr val="accent5"/>
            </a:solidFill>
            <a:prstDash val="solid"/>
          </a:ln>
        </p:spPr>
      </p:sp>
      <p:pic>
        <p:nvPicPr>
          <p:cNvPr id="49" name="Image 0" descr="preencoded.png">    </p:cNvPr>
          <p:cNvPicPr>
            <a:picLocks noChangeAspect="1"/>
          </p:cNvPicPr>
          <p:nvPr/>
        </p:nvPicPr>
        <p:blipFill>
          <a:blip r:embed="rId1"/>
          <a:stretch>
            <a:fillRect/>
          </a:stretch>
        </p:blipFill>
        <p:spPr>
          <a:xfrm>
            <a:off x="8481060" y="4668012"/>
            <a:ext cx="265176" cy="265176"/>
          </a:xfrm>
          <a:prstGeom prst="rect">
            <a:avLst/>
          </a:prstGeom>
        </p:spPr>
      </p:pic>
      <p:sp>
        <p:nvSpPr>
          <p:cNvPr id="50" name="Text 46"/>
          <p:cNvSpPr txBox="1"/>
          <p:nvPr/>
        </p:nvSpPr>
        <p:spPr>
          <a:xfrm>
            <a:off x="9025128" y="4416552"/>
            <a:ext cx="2377440" cy="768096"/>
          </a:xfrm>
          <a:prstGeom prst="rect">
            <a:avLst/>
          </a:prstGeom>
          <a:noFill/>
          <a:ln/>
        </p:spPr>
        <p:txBody>
          <a:bodyPr wrap="square" lIns="0" tIns="0" rIns="0" bIns="0" rtlCol="0" anchor="ctr"/>
          <a:lstStyle/>
          <a:p>
            <a:pPr indent="0" marL="0">
              <a:buNone/>
            </a:pPr>
            <a:r>
              <a:rPr lang="en-US" sz="1300" dirty="0">
                <a:solidFill>
                  <a:schemeClr val="tx1"/>
                </a:solidFill>
              </a:rPr>
              <a:t>Identical to the paper's Table 2, digit for digit, checked by an automated test.</a:t>
            </a:r>
            <a:endParaRPr lang="en-US" sz="1300" dirty="0"/>
          </a:p>
        </p:txBody>
      </p:sp>
      <p:sp>
        <p:nvSpPr>
          <p:cNvPr id="51" name="Shape 47"/>
          <p:cNvSpPr/>
          <p:nvPr/>
        </p:nvSpPr>
        <p:spPr>
          <a:xfrm>
            <a:off x="548640" y="5532120"/>
            <a:ext cx="11064240" cy="731520"/>
          </a:xfrm>
          <a:prstGeom prst="roundRect">
            <a:avLst>
              <a:gd name="adj" fmla="val 10000"/>
            </a:avLst>
          </a:prstGeom>
          <a:solidFill>
            <a:srgbClr val="E3F0F2"/>
          </a:solidFill>
          <a:ln w="9525">
            <a:solidFill>
              <a:srgbClr val="E3F0F2"/>
            </a:solidFill>
            <a:prstDash val="solid"/>
          </a:ln>
        </p:spPr>
      </p:sp>
      <p:sp>
        <p:nvSpPr>
          <p:cNvPr id="52" name="Shape 48"/>
          <p:cNvSpPr/>
          <p:nvPr/>
        </p:nvSpPr>
        <p:spPr>
          <a:xfrm>
            <a:off x="749808" y="5669280"/>
            <a:ext cx="457200" cy="457200"/>
          </a:xfrm>
          <a:prstGeom prst="ellipse">
            <a:avLst/>
          </a:prstGeom>
          <a:solidFill>
            <a:schemeClr val="accent1"/>
          </a:solidFill>
          <a:ln w="6350">
            <a:solidFill>
              <a:schemeClr val="accent1"/>
            </a:solidFill>
            <a:prstDash val="solid"/>
          </a:ln>
        </p:spPr>
      </p:sp>
      <p:pic>
        <p:nvPicPr>
          <p:cNvPr id="53" name="Image 1" descr="preencoded.png">    </p:cNvPr>
          <p:cNvPicPr>
            <a:picLocks noChangeAspect="1"/>
          </p:cNvPicPr>
          <p:nvPr/>
        </p:nvPicPr>
        <p:blipFill>
          <a:blip r:embed="rId2"/>
          <a:stretch>
            <a:fillRect/>
          </a:stretch>
        </p:blipFill>
        <p:spPr>
          <a:xfrm>
            <a:off x="845820" y="5765292"/>
            <a:ext cx="265176" cy="265176"/>
          </a:xfrm>
          <a:prstGeom prst="rect">
            <a:avLst/>
          </a:prstGeom>
        </p:spPr>
      </p:pic>
      <p:sp>
        <p:nvSpPr>
          <p:cNvPr id="54" name="Text 49"/>
          <p:cNvSpPr txBox="1"/>
          <p:nvPr/>
        </p:nvSpPr>
        <p:spPr>
          <a:xfrm>
            <a:off x="1389888" y="5605272"/>
            <a:ext cx="10012680" cy="585216"/>
          </a:xfrm>
          <a:prstGeom prst="rect">
            <a:avLst/>
          </a:prstGeom>
          <a:noFill/>
          <a:ln/>
        </p:spPr>
        <p:txBody>
          <a:bodyPr wrap="square" lIns="0" tIns="0" rIns="0" bIns="0" rtlCol="0" anchor="ctr"/>
          <a:lstStyle/>
          <a:p>
            <a:pPr indent="0" marL="0">
              <a:buNone/>
            </a:pPr>
            <a:r>
              <a:rPr lang="en-US" sz="1300" dirty="0">
                <a:solidFill>
                  <a:schemeClr val="tx1"/>
                </a:solidFill>
              </a:rPr>
              <a:t>Noisy-student weights: EfficientNet-B0 pre-trained on ImageNet plus self-training on unlabelled images (Xie et al., 2020). The paper loads them from the efficientnet package; so do we.</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BEFORE THE RESULTS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How to read the metrics</a:t>
            </a:r>
            <a:endParaRPr lang="en-US" sz="3200" dirty="0"/>
          </a:p>
        </p:txBody>
      </p:sp>
      <p:pic>
        <p:nvPicPr>
          <p:cNvPr id="4" name="Image 0" descr="/Users/madhav/malaria-detection/slides/figures/metrics_confusion.png">    </p:cNvPr>
          <p:cNvPicPr>
            <a:picLocks noChangeAspect="1"/>
          </p:cNvPicPr>
          <p:nvPr/>
        </p:nvPicPr>
        <p:blipFill>
          <a:blip r:embed="rId1"/>
          <a:stretch>
            <a:fillRect/>
          </a:stretch>
        </p:blipFill>
        <p:spPr>
          <a:xfrm>
            <a:off x="548640" y="1508760"/>
            <a:ext cx="5394960" cy="3383280"/>
          </a:xfrm>
          <a:prstGeom prst="rect">
            <a:avLst/>
          </a:prstGeom>
        </p:spPr>
      </p:pic>
      <p:pic>
        <p:nvPicPr>
          <p:cNvPr id="5" name="Image 1" descr="/Users/madhav/malaria-detection/slides/figures/metrics_threshold.png">    </p:cNvPr>
          <p:cNvPicPr>
            <a:picLocks noChangeAspect="1"/>
          </p:cNvPicPr>
          <p:nvPr/>
        </p:nvPicPr>
        <p:blipFill>
          <a:blip r:embed="rId2"/>
          <a:stretch>
            <a:fillRect/>
          </a:stretch>
        </p:blipFill>
        <p:spPr>
          <a:xfrm>
            <a:off x="5943600" y="1508760"/>
            <a:ext cx="5669280" cy="3383280"/>
          </a:xfrm>
          <a:prstGeom prst="rect">
            <a:avLst/>
          </a:prstGeom>
        </p:spPr>
      </p:pic>
      <p:sp>
        <p:nvSpPr>
          <p:cNvPr id="6" name="Text 2"/>
          <p:cNvSpPr txBox="1"/>
          <p:nvPr/>
        </p:nvSpPr>
        <p:spPr>
          <a:xfrm>
            <a:off x="548640" y="5029200"/>
            <a:ext cx="5486400" cy="123444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Recall (sensitivity)</a:t>
            </a:r>
            <a:pPr indent="0" marL="0">
              <a:spcAft>
                <a:spcPts val="400"/>
              </a:spcAft>
              <a:buNone/>
            </a:pPr>
            <a:r>
              <a:rPr lang="en-US" sz="1300" dirty="0">
                <a:solidFill>
                  <a:schemeClr val="tx1"/>
                </a:solidFill>
              </a:rPr>
              <a:t> = TP / (TP + FN): infected cells caught · 97.07 %</a:t>
            </a:r>
            <a:endParaRPr lang="en-US" sz="1300" dirty="0"/>
          </a:p>
          <a:p>
            <a:pPr indent="0" marL="0">
              <a:spcAft>
                <a:spcPts val="400"/>
              </a:spcAft>
              <a:buNone/>
            </a:pPr>
            <a:r>
              <a:rPr lang="en-US" sz="1300" b="1" dirty="0">
                <a:solidFill>
                  <a:schemeClr val="tx1"/>
                </a:solidFill>
              </a:rPr>
              <a:t>Precision</a:t>
            </a:r>
            <a:pPr indent="0" marL="0">
              <a:spcAft>
                <a:spcPts val="400"/>
              </a:spcAft>
              <a:buNone/>
            </a:pPr>
            <a:r>
              <a:rPr lang="en-US" sz="1300" dirty="0">
                <a:solidFill>
                  <a:schemeClr val="tx1"/>
                </a:solidFill>
              </a:rPr>
              <a:t> = TP / (TP + FP): 'parasitized' calls that are right · 98.11 %</a:t>
            </a:r>
            <a:endParaRPr lang="en-US" sz="1300" dirty="0"/>
          </a:p>
          <a:p>
            <a:pPr indent="0" marL="0">
              <a:spcAft>
                <a:spcPts val="400"/>
              </a:spcAft>
              <a:buNone/>
            </a:pPr>
            <a:r>
              <a:rPr lang="en-US" sz="1300" b="1" dirty="0">
                <a:solidFill>
                  <a:schemeClr val="tx1"/>
                </a:solidFill>
              </a:rPr>
              <a:t>F1</a:t>
            </a:r>
            <a:pPr indent="0" marL="0">
              <a:spcAft>
                <a:spcPts val="400"/>
              </a:spcAft>
              <a:buNone/>
            </a:pPr>
            <a:r>
              <a:rPr lang="en-US" sz="1300" dirty="0">
                <a:solidFill>
                  <a:schemeClr val="tx1"/>
                </a:solidFill>
              </a:rPr>
              <a:t> = harmonic mean of precision and recall · 97.59 %</a:t>
            </a:r>
            <a:endParaRPr lang="en-US" sz="1300" dirty="0"/>
          </a:p>
        </p:txBody>
      </p:sp>
      <p:sp>
        <p:nvSpPr>
          <p:cNvPr id="7" name="Text 3"/>
          <p:cNvSpPr txBox="1"/>
          <p:nvPr/>
        </p:nvSpPr>
        <p:spPr>
          <a:xfrm>
            <a:off x="6172200" y="5029200"/>
            <a:ext cx="5440680" cy="123444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ROC-AUC</a:t>
            </a:r>
            <a:pPr indent="0" marL="0">
              <a:spcAft>
                <a:spcPts val="400"/>
              </a:spcAft>
              <a:buNone/>
            </a:pPr>
            <a:r>
              <a:rPr lang="en-US" sz="1300" dirty="0">
                <a:solidFill>
                  <a:schemeClr val="tx1"/>
                </a:solidFill>
              </a:rPr>
              <a:t>: chance that an infected cell outscores a healthy one · 99.73 %</a:t>
            </a:r>
            <a:endParaRPr lang="en-US" sz="1300" dirty="0"/>
          </a:p>
          <a:p>
            <a:pPr indent="0" marL="0">
              <a:spcAft>
                <a:spcPts val="400"/>
              </a:spcAft>
              <a:buNone/>
            </a:pPr>
            <a:r>
              <a:rPr lang="en-US" sz="1300" b="1" dirty="0">
                <a:solidFill>
                  <a:schemeClr val="tx1"/>
                </a:solidFill>
              </a:rPr>
              <a:t>pp (percentage point)</a:t>
            </a:r>
            <a:pPr indent="0" marL="0">
              <a:spcAft>
                <a:spcPts val="400"/>
              </a:spcAft>
              <a:buNone/>
            </a:pPr>
            <a:r>
              <a:rPr lang="en-US" sz="1300" dirty="0">
                <a:solidFill>
                  <a:schemeClr val="tx1"/>
                </a:solidFill>
              </a:rPr>
              <a:t> = plain difference of two percentages: 97.62 − 98.29 = −0.67 pp</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RESULTS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Paper vs. ours on the 5,512-image hold-out set</a:t>
            </a:r>
            <a:endParaRPr lang="en-US" sz="3200" dirty="0"/>
          </a:p>
        </p:txBody>
      </p:sp>
      <p:pic>
        <p:nvPicPr>
          <p:cNvPr id="4" name="Image 0" descr="/Users/madhav/malaria-detection/slides/figures/paper_vs_ours.png">    </p:cNvPr>
          <p:cNvPicPr>
            <a:picLocks noChangeAspect="1"/>
          </p:cNvPicPr>
          <p:nvPr/>
        </p:nvPicPr>
        <p:blipFill>
          <a:blip r:embed="rId1"/>
          <a:stretch>
            <a:fillRect/>
          </a:stretch>
        </p:blipFill>
        <p:spPr>
          <a:xfrm>
            <a:off x="548640" y="1508760"/>
            <a:ext cx="11064240" cy="3611880"/>
          </a:xfrm>
          <a:prstGeom prst="rect">
            <a:avLst/>
          </a:prstGeom>
        </p:spPr>
      </p:pic>
      <p:sp>
        <p:nvSpPr>
          <p:cNvPr id="5" name="Shape 2"/>
          <p:cNvSpPr/>
          <p:nvPr/>
        </p:nvSpPr>
        <p:spPr>
          <a:xfrm>
            <a:off x="548640" y="5303520"/>
            <a:ext cx="11064240" cy="914400"/>
          </a:xfrm>
          <a:prstGeom prst="roundRect">
            <a:avLst>
              <a:gd name="adj" fmla="val 8000"/>
            </a:avLst>
          </a:prstGeom>
          <a:solidFill>
            <a:srgbClr val="E3F0F2"/>
          </a:solidFill>
          <a:ln w="9525">
            <a:solidFill>
              <a:srgbClr val="E3F0F2"/>
            </a:solidFill>
            <a:prstDash val="solid"/>
          </a:ln>
        </p:spPr>
      </p:sp>
      <p:sp>
        <p:nvSpPr>
          <p:cNvPr id="6" name="Shape 3"/>
          <p:cNvSpPr/>
          <p:nvPr/>
        </p:nvSpPr>
        <p:spPr>
          <a:xfrm>
            <a:off x="749808" y="5532120"/>
            <a:ext cx="457200" cy="457200"/>
          </a:xfrm>
          <a:prstGeom prst="ellipse">
            <a:avLst/>
          </a:prstGeom>
          <a:solidFill>
            <a:schemeClr val="accent5"/>
          </a:solidFill>
          <a:ln w="6350">
            <a:solidFill>
              <a:schemeClr val="accent5"/>
            </a:solidFill>
            <a:prstDash val="solid"/>
          </a:ln>
        </p:spPr>
      </p:sp>
      <p:pic>
        <p:nvPicPr>
          <p:cNvPr id="7" name="Image 1" descr="preencoded.png">    </p:cNvPr>
          <p:cNvPicPr>
            <a:picLocks noChangeAspect="1"/>
          </p:cNvPicPr>
          <p:nvPr/>
        </p:nvPicPr>
        <p:blipFill>
          <a:blip r:embed="rId2"/>
          <a:stretch>
            <a:fillRect/>
          </a:stretch>
        </p:blipFill>
        <p:spPr>
          <a:xfrm>
            <a:off x="845820" y="5628132"/>
            <a:ext cx="265176" cy="265176"/>
          </a:xfrm>
          <a:prstGeom prst="rect">
            <a:avLst/>
          </a:prstGeom>
        </p:spPr>
      </p:pic>
      <p:sp>
        <p:nvSpPr>
          <p:cNvPr id="8" name="Text 4"/>
          <p:cNvSpPr txBox="1"/>
          <p:nvPr/>
        </p:nvSpPr>
        <p:spPr>
          <a:xfrm>
            <a:off x="1389888" y="5376672"/>
            <a:ext cx="10012680" cy="768096"/>
          </a:xfrm>
          <a:prstGeom prst="rect">
            <a:avLst/>
          </a:prstGeom>
          <a:noFill/>
          <a:ln/>
        </p:spPr>
        <p:txBody>
          <a:bodyPr wrap="square" lIns="0" tIns="0" rIns="0" bIns="0" rtlCol="0" anchor="ctr"/>
          <a:lstStyle/>
          <a:p>
            <a:pPr indent="0" marL="0">
              <a:buNone/>
            </a:pPr>
            <a:r>
              <a:rPr lang="en-US" sz="1400" dirty="0">
                <a:solidFill>
                  <a:schemeClr val="tx1"/>
                </a:solidFill>
              </a:rPr>
              <a:t>All within our 1 pp success criterion; mean fold accuracy matches to 0.01 pp. On clean (un-augmented) images the ensemble scores 97.64 %, so the paper's augmented evaluation changes little.</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RESULTS · TEN FOLDS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Ten consistent folds, and where the ensemble errs</a:t>
            </a:r>
            <a:endParaRPr lang="en-US" sz="3200" dirty="0"/>
          </a:p>
        </p:txBody>
      </p:sp>
      <p:pic>
        <p:nvPicPr>
          <p:cNvPr id="4" name="Image 0" descr="/Users/madhav/malaria-detection/slides/figures/per_fold_accuracy_compact.png">    </p:cNvPr>
          <p:cNvPicPr>
            <a:picLocks noChangeAspect="1"/>
          </p:cNvPicPr>
          <p:nvPr/>
        </p:nvPicPr>
        <p:blipFill>
          <a:blip r:embed="rId1"/>
          <a:stretch>
            <a:fillRect/>
          </a:stretch>
        </p:blipFill>
        <p:spPr>
          <a:xfrm>
            <a:off x="548640" y="1600200"/>
            <a:ext cx="6675120" cy="4206240"/>
          </a:xfrm>
          <a:prstGeom prst="rect">
            <a:avLst/>
          </a:prstGeom>
        </p:spPr>
      </p:pic>
      <p:sp>
        <p:nvSpPr>
          <p:cNvPr id="5" name="Text 2"/>
          <p:cNvSpPr txBox="1"/>
          <p:nvPr/>
        </p:nvSpPr>
        <p:spPr>
          <a:xfrm>
            <a:off x="7543800" y="1828800"/>
            <a:ext cx="4069080" cy="320040"/>
          </a:xfrm>
          <a:prstGeom prst="rect">
            <a:avLst/>
          </a:prstGeom>
          <a:noFill/>
          <a:ln/>
        </p:spPr>
        <p:txBody>
          <a:bodyPr wrap="square" lIns="0" tIns="0" rIns="0" bIns="0" rtlCol="0" anchor="t"/>
          <a:lstStyle/>
          <a:p>
            <a:pPr indent="0" marL="0">
              <a:buNone/>
            </a:pPr>
            <a:r>
              <a:rPr lang="en-US" sz="1400" b="1" dirty="0">
                <a:solidFill>
                  <a:schemeClr val="tx1"/>
                </a:solidFill>
              </a:rPr>
              <a:t>Ensemble on 5,512 hold-out cells</a:t>
            </a:r>
            <a:endParaRPr lang="en-US" sz="1400" dirty="0"/>
          </a:p>
        </p:txBody>
      </p:sp>
      <p:sp>
        <p:nvSpPr>
          <p:cNvPr id="6" name="Text 3"/>
          <p:cNvSpPr txBox="1"/>
          <p:nvPr/>
        </p:nvSpPr>
        <p:spPr>
          <a:xfrm>
            <a:off x="8732520" y="2212848"/>
            <a:ext cx="1440180" cy="274320"/>
          </a:xfrm>
          <a:prstGeom prst="rect">
            <a:avLst/>
          </a:prstGeom>
          <a:noFill/>
          <a:ln/>
        </p:spPr>
        <p:txBody>
          <a:bodyPr wrap="square" lIns="0" tIns="0" rIns="0" bIns="0" rtlCol="0" anchor="t"/>
          <a:lstStyle/>
          <a:p>
            <a:pPr algn="ctr" indent="0" marL="0">
              <a:buNone/>
            </a:pPr>
            <a:r>
              <a:rPr lang="en-US" sz="1100" dirty="0">
                <a:solidFill>
                  <a:schemeClr val="accent6"/>
                </a:solidFill>
              </a:rPr>
              <a:t>Pred. parasitized</a:t>
            </a:r>
            <a:endParaRPr lang="en-US" sz="1100" dirty="0"/>
          </a:p>
        </p:txBody>
      </p:sp>
      <p:sp>
        <p:nvSpPr>
          <p:cNvPr id="7" name="Text 4"/>
          <p:cNvSpPr txBox="1"/>
          <p:nvPr/>
        </p:nvSpPr>
        <p:spPr>
          <a:xfrm>
            <a:off x="10172700" y="2212848"/>
            <a:ext cx="1440180" cy="274320"/>
          </a:xfrm>
          <a:prstGeom prst="rect">
            <a:avLst/>
          </a:prstGeom>
          <a:noFill/>
          <a:ln/>
        </p:spPr>
        <p:txBody>
          <a:bodyPr wrap="square" lIns="0" tIns="0" rIns="0" bIns="0" rtlCol="0" anchor="t"/>
          <a:lstStyle/>
          <a:p>
            <a:pPr algn="ctr" indent="0" marL="0">
              <a:buNone/>
            </a:pPr>
            <a:r>
              <a:rPr lang="en-US" sz="1100" dirty="0">
                <a:solidFill>
                  <a:schemeClr val="accent6"/>
                </a:solidFill>
              </a:rPr>
              <a:t>Pred. uninfected</a:t>
            </a:r>
            <a:endParaRPr lang="en-US" sz="1100" dirty="0"/>
          </a:p>
        </p:txBody>
      </p:sp>
      <p:sp>
        <p:nvSpPr>
          <p:cNvPr id="8" name="Text 5"/>
          <p:cNvSpPr txBox="1"/>
          <p:nvPr/>
        </p:nvSpPr>
        <p:spPr>
          <a:xfrm>
            <a:off x="7543800" y="2514600"/>
            <a:ext cx="1143000" cy="822960"/>
          </a:xfrm>
          <a:prstGeom prst="rect">
            <a:avLst/>
          </a:prstGeom>
          <a:noFill/>
          <a:ln/>
        </p:spPr>
        <p:txBody>
          <a:bodyPr wrap="square" lIns="0" tIns="0" rIns="0" bIns="0" rtlCol="0" anchor="ctr"/>
          <a:lstStyle/>
          <a:p>
            <a:pPr indent="0" marL="0">
              <a:buNone/>
            </a:pPr>
            <a:r>
              <a:rPr lang="en-US" sz="1200" b="1" dirty="0">
                <a:solidFill>
                  <a:schemeClr val="tx1"/>
                </a:solidFill>
              </a:rPr>
              <a:t>Parasitized</a:t>
            </a:r>
            <a:endParaRPr lang="en-US" sz="1200" dirty="0"/>
          </a:p>
        </p:txBody>
      </p:sp>
      <p:sp>
        <p:nvSpPr>
          <p:cNvPr id="9" name="Shape 6"/>
          <p:cNvSpPr/>
          <p:nvPr/>
        </p:nvSpPr>
        <p:spPr>
          <a:xfrm>
            <a:off x="8769096" y="2514600"/>
            <a:ext cx="1367028" cy="804672"/>
          </a:xfrm>
          <a:prstGeom prst="roundRect">
            <a:avLst>
              <a:gd name="adj" fmla="val 6818"/>
            </a:avLst>
          </a:prstGeom>
          <a:solidFill>
            <a:srgbClr val="137C8E"/>
          </a:solidFill>
          <a:ln w="9525">
            <a:solidFill>
              <a:srgbClr val="137C8E"/>
            </a:solidFill>
            <a:prstDash val="solid"/>
          </a:ln>
        </p:spPr>
      </p:sp>
      <p:sp>
        <p:nvSpPr>
          <p:cNvPr id="10" name="Text 7"/>
          <p:cNvSpPr txBox="1"/>
          <p:nvPr/>
        </p:nvSpPr>
        <p:spPr>
          <a:xfrm>
            <a:off x="8769096" y="2514600"/>
            <a:ext cx="1367028" cy="804672"/>
          </a:xfrm>
          <a:prstGeom prst="rect">
            <a:avLst/>
          </a:prstGeom>
          <a:noFill/>
          <a:ln/>
        </p:spPr>
        <p:txBody>
          <a:bodyPr wrap="square" lIns="0" tIns="0" rIns="0" bIns="0" rtlCol="0" anchor="ctr"/>
          <a:lstStyle/>
          <a:p>
            <a:pPr algn="ctr" indent="0" marL="0">
              <a:buNone/>
            </a:pPr>
            <a:r>
              <a:rPr lang="en-US" sz="2200" b="1" dirty="0">
                <a:solidFill>
                  <a:schemeClr val="bg1"/>
                </a:solidFill>
              </a:rPr>
              <a:t>2,650</a:t>
            </a:r>
            <a:endParaRPr lang="en-US" sz="2200" dirty="0"/>
          </a:p>
        </p:txBody>
      </p:sp>
      <p:sp>
        <p:nvSpPr>
          <p:cNvPr id="11" name="Shape 8"/>
          <p:cNvSpPr/>
          <p:nvPr/>
        </p:nvSpPr>
        <p:spPr>
          <a:xfrm>
            <a:off x="10209276" y="2514600"/>
            <a:ext cx="1367028" cy="804672"/>
          </a:xfrm>
          <a:prstGeom prst="roundRect">
            <a:avLst>
              <a:gd name="adj" fmla="val 6818"/>
            </a:avLst>
          </a:prstGeom>
          <a:solidFill>
            <a:srgbClr val="FBF1E4"/>
          </a:solidFill>
          <a:ln w="9525">
            <a:solidFill>
              <a:srgbClr val="F3D9B5"/>
            </a:solidFill>
            <a:prstDash val="solid"/>
          </a:ln>
        </p:spPr>
      </p:sp>
      <p:sp>
        <p:nvSpPr>
          <p:cNvPr id="12" name="Text 9"/>
          <p:cNvSpPr txBox="1"/>
          <p:nvPr/>
        </p:nvSpPr>
        <p:spPr>
          <a:xfrm>
            <a:off x="10209276" y="2514600"/>
            <a:ext cx="1367028" cy="804672"/>
          </a:xfrm>
          <a:prstGeom prst="rect">
            <a:avLst/>
          </a:prstGeom>
          <a:noFill/>
          <a:ln/>
        </p:spPr>
        <p:txBody>
          <a:bodyPr wrap="square" lIns="0" tIns="0" rIns="0" bIns="0" rtlCol="0" anchor="ctr"/>
          <a:lstStyle/>
          <a:p>
            <a:pPr algn="ctr" indent="0" marL="0">
              <a:buNone/>
            </a:pPr>
            <a:r>
              <a:rPr lang="en-US" sz="2200" b="1" dirty="0">
                <a:solidFill>
                  <a:schemeClr val="accent4"/>
                </a:solidFill>
              </a:rPr>
              <a:t>80</a:t>
            </a:r>
            <a:endParaRPr lang="en-US" sz="2200" dirty="0"/>
          </a:p>
        </p:txBody>
      </p:sp>
      <p:sp>
        <p:nvSpPr>
          <p:cNvPr id="13" name="Text 10"/>
          <p:cNvSpPr txBox="1"/>
          <p:nvPr/>
        </p:nvSpPr>
        <p:spPr>
          <a:xfrm>
            <a:off x="7543800" y="3383280"/>
            <a:ext cx="1143000" cy="822960"/>
          </a:xfrm>
          <a:prstGeom prst="rect">
            <a:avLst/>
          </a:prstGeom>
          <a:noFill/>
          <a:ln/>
        </p:spPr>
        <p:txBody>
          <a:bodyPr wrap="square" lIns="0" tIns="0" rIns="0" bIns="0" rtlCol="0" anchor="ctr"/>
          <a:lstStyle/>
          <a:p>
            <a:pPr indent="0" marL="0">
              <a:buNone/>
            </a:pPr>
            <a:r>
              <a:rPr lang="en-US" sz="1200" b="1" dirty="0">
                <a:solidFill>
                  <a:schemeClr val="tx1"/>
                </a:solidFill>
              </a:rPr>
              <a:t>Uninfected</a:t>
            </a:r>
            <a:endParaRPr lang="en-US" sz="1200" dirty="0"/>
          </a:p>
        </p:txBody>
      </p:sp>
      <p:sp>
        <p:nvSpPr>
          <p:cNvPr id="14" name="Shape 11"/>
          <p:cNvSpPr/>
          <p:nvPr/>
        </p:nvSpPr>
        <p:spPr>
          <a:xfrm>
            <a:off x="8769096" y="3383280"/>
            <a:ext cx="1367028" cy="804672"/>
          </a:xfrm>
          <a:prstGeom prst="roundRect">
            <a:avLst>
              <a:gd name="adj" fmla="val 6818"/>
            </a:avLst>
          </a:prstGeom>
          <a:solidFill>
            <a:srgbClr val="FBF1E4"/>
          </a:solidFill>
          <a:ln w="9525">
            <a:solidFill>
              <a:srgbClr val="F3D9B5"/>
            </a:solidFill>
            <a:prstDash val="solid"/>
          </a:ln>
        </p:spPr>
      </p:sp>
      <p:sp>
        <p:nvSpPr>
          <p:cNvPr id="15" name="Text 12"/>
          <p:cNvSpPr txBox="1"/>
          <p:nvPr/>
        </p:nvSpPr>
        <p:spPr>
          <a:xfrm>
            <a:off x="8769096" y="3383280"/>
            <a:ext cx="1367028" cy="804672"/>
          </a:xfrm>
          <a:prstGeom prst="rect">
            <a:avLst/>
          </a:prstGeom>
          <a:noFill/>
          <a:ln/>
        </p:spPr>
        <p:txBody>
          <a:bodyPr wrap="square" lIns="0" tIns="0" rIns="0" bIns="0" rtlCol="0" anchor="ctr"/>
          <a:lstStyle/>
          <a:p>
            <a:pPr algn="ctr" indent="0" marL="0">
              <a:buNone/>
            </a:pPr>
            <a:r>
              <a:rPr lang="en-US" sz="2200" b="1" dirty="0">
                <a:solidFill>
                  <a:schemeClr val="accent4"/>
                </a:solidFill>
              </a:rPr>
              <a:t>51</a:t>
            </a:r>
            <a:endParaRPr lang="en-US" sz="2200" dirty="0"/>
          </a:p>
        </p:txBody>
      </p:sp>
      <p:sp>
        <p:nvSpPr>
          <p:cNvPr id="16" name="Shape 13"/>
          <p:cNvSpPr/>
          <p:nvPr/>
        </p:nvSpPr>
        <p:spPr>
          <a:xfrm>
            <a:off x="10209276" y="3383280"/>
            <a:ext cx="1367028" cy="804672"/>
          </a:xfrm>
          <a:prstGeom prst="roundRect">
            <a:avLst>
              <a:gd name="adj" fmla="val 6818"/>
            </a:avLst>
          </a:prstGeom>
          <a:solidFill>
            <a:srgbClr val="137C8E"/>
          </a:solidFill>
          <a:ln w="9525">
            <a:solidFill>
              <a:srgbClr val="137C8E"/>
            </a:solidFill>
            <a:prstDash val="solid"/>
          </a:ln>
        </p:spPr>
      </p:sp>
      <p:sp>
        <p:nvSpPr>
          <p:cNvPr id="17" name="Text 14"/>
          <p:cNvSpPr txBox="1"/>
          <p:nvPr/>
        </p:nvSpPr>
        <p:spPr>
          <a:xfrm>
            <a:off x="10209276" y="3383280"/>
            <a:ext cx="1367028" cy="804672"/>
          </a:xfrm>
          <a:prstGeom prst="rect">
            <a:avLst/>
          </a:prstGeom>
          <a:noFill/>
          <a:ln/>
        </p:spPr>
        <p:txBody>
          <a:bodyPr wrap="square" lIns="0" tIns="0" rIns="0" bIns="0" rtlCol="0" anchor="ctr"/>
          <a:lstStyle/>
          <a:p>
            <a:pPr algn="ctr" indent="0" marL="0">
              <a:buNone/>
            </a:pPr>
            <a:r>
              <a:rPr lang="en-US" sz="2200" b="1" dirty="0">
                <a:solidFill>
                  <a:schemeClr val="bg1"/>
                </a:solidFill>
              </a:rPr>
              <a:t>2,731</a:t>
            </a:r>
            <a:endParaRPr lang="en-US" sz="2200" dirty="0"/>
          </a:p>
        </p:txBody>
      </p:sp>
      <p:sp>
        <p:nvSpPr>
          <p:cNvPr id="18" name="Text 15"/>
          <p:cNvSpPr txBox="1"/>
          <p:nvPr/>
        </p:nvSpPr>
        <p:spPr>
          <a:xfrm>
            <a:off x="7543800" y="4754880"/>
            <a:ext cx="4069080" cy="731520"/>
          </a:xfrm>
          <a:prstGeom prst="rect">
            <a:avLst/>
          </a:prstGeom>
          <a:noFill/>
          <a:ln/>
        </p:spPr>
        <p:txBody>
          <a:bodyPr wrap="square" lIns="0" tIns="0" rIns="0" bIns="0" rtlCol="0" anchor="t"/>
          <a:lstStyle/>
          <a:p>
            <a:pPr indent="0" marL="0">
              <a:buNone/>
            </a:pPr>
            <a:r>
              <a:rPr lang="en-US" sz="1300" dirty="0">
                <a:solidFill>
                  <a:schemeClr val="accent6"/>
                </a:solidFill>
              </a:rPr>
              <a:t>Paper: 62 missed, 32 flagged. Recall (catching infected cells) is our priority metric.</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RESULTS · TRAINING AND ROC</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Stable training, near-perfect ranking</a:t>
            </a:r>
            <a:endParaRPr lang="en-US" sz="3200" dirty="0"/>
          </a:p>
        </p:txBody>
      </p:sp>
      <p:pic>
        <p:nvPicPr>
          <p:cNvPr id="4" name="Image 0" descr="/Users/madhav/malaria-detection/slides/figures/training_and_roc.png">    </p:cNvPr>
          <p:cNvPicPr>
            <a:picLocks noChangeAspect="1"/>
          </p:cNvPicPr>
          <p:nvPr/>
        </p:nvPicPr>
        <p:blipFill>
          <a:blip r:embed="rId1"/>
          <a:stretch>
            <a:fillRect/>
          </a:stretch>
        </p:blipFill>
        <p:spPr>
          <a:xfrm>
            <a:off x="548640" y="1508760"/>
            <a:ext cx="11064240" cy="3429000"/>
          </a:xfrm>
          <a:prstGeom prst="rect">
            <a:avLst/>
          </a:prstGeom>
        </p:spPr>
      </p:pic>
      <p:sp>
        <p:nvSpPr>
          <p:cNvPr id="5" name="Shape 2"/>
          <p:cNvSpPr/>
          <p:nvPr/>
        </p:nvSpPr>
        <p:spPr>
          <a:xfrm>
            <a:off x="548640" y="5166360"/>
            <a:ext cx="11064240" cy="914400"/>
          </a:xfrm>
          <a:prstGeom prst="roundRect">
            <a:avLst>
              <a:gd name="adj" fmla="val 8000"/>
            </a:avLst>
          </a:prstGeom>
          <a:solidFill>
            <a:srgbClr val="E3F0F2"/>
          </a:solidFill>
          <a:ln w="9525">
            <a:solidFill>
              <a:srgbClr val="E3F0F2"/>
            </a:solidFill>
            <a:prstDash val="solid"/>
          </a:ln>
        </p:spPr>
      </p:sp>
      <p:sp>
        <p:nvSpPr>
          <p:cNvPr id="6" name="Shape 3"/>
          <p:cNvSpPr/>
          <p:nvPr/>
        </p:nvSpPr>
        <p:spPr>
          <a:xfrm>
            <a:off x="749808" y="5394960"/>
            <a:ext cx="457200" cy="457200"/>
          </a:xfrm>
          <a:prstGeom prst="ellipse">
            <a:avLst/>
          </a:prstGeom>
          <a:solidFill>
            <a:schemeClr val="accent1"/>
          </a:solidFill>
          <a:ln w="6350">
            <a:solidFill>
              <a:schemeClr val="accent1"/>
            </a:solidFill>
            <a:prstDash val="solid"/>
          </a:ln>
        </p:spPr>
      </p:sp>
      <p:pic>
        <p:nvPicPr>
          <p:cNvPr id="7" name="Image 1" descr="preencoded.png">    </p:cNvPr>
          <p:cNvPicPr>
            <a:picLocks noChangeAspect="1"/>
          </p:cNvPicPr>
          <p:nvPr/>
        </p:nvPicPr>
        <p:blipFill>
          <a:blip r:embed="rId2"/>
          <a:stretch>
            <a:fillRect/>
          </a:stretch>
        </p:blipFill>
        <p:spPr>
          <a:xfrm>
            <a:off x="845820" y="5490972"/>
            <a:ext cx="265176" cy="265176"/>
          </a:xfrm>
          <a:prstGeom prst="rect">
            <a:avLst/>
          </a:prstGeom>
        </p:spPr>
      </p:pic>
      <p:sp>
        <p:nvSpPr>
          <p:cNvPr id="8" name="Text 4"/>
          <p:cNvSpPr txBox="1"/>
          <p:nvPr/>
        </p:nvSpPr>
        <p:spPr>
          <a:xfrm>
            <a:off x="1389888" y="5239512"/>
            <a:ext cx="10012680" cy="768096"/>
          </a:xfrm>
          <a:prstGeom prst="rect">
            <a:avLst/>
          </a:prstGeom>
          <a:noFill/>
          <a:ln/>
        </p:spPr>
        <p:txBody>
          <a:bodyPr wrap="square" lIns="0" tIns="0" rIns="0" bIns="0" rtlCol="0" anchor="ctr"/>
          <a:lstStyle/>
          <a:p>
            <a:pPr indent="0" marL="0">
              <a:buNone/>
            </a:pPr>
            <a:r>
              <a:rPr lang="en-US" sz="1400" dirty="0">
                <a:solidFill>
                  <a:schemeClr val="tx1"/>
                </a:solidFill>
              </a:rPr>
              <a:t>Validation accuracy settles near 97.5 % after about 10 epochs; the learning rate halves on plateaus and the lowest-val_loss weights are kept. The ensemble's ROC hugs the top-left corner: AUC 99.73 % (paper 99.76 %).</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ENGINEERING</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Ten GPUs in parallel: about 11 minutes per fold</a:t>
            </a:r>
            <a:endParaRPr lang="en-US" sz="3200" dirty="0"/>
          </a:p>
        </p:txBody>
      </p:sp>
      <p:pic>
        <p:nvPicPr>
          <p:cNvPr id="4" name="Image 0" descr="/Users/madhav/malaria-detection/slides/figures/fold_times.png">    </p:cNvPr>
          <p:cNvPicPr>
            <a:picLocks noChangeAspect="1"/>
          </p:cNvPicPr>
          <p:nvPr/>
        </p:nvPicPr>
        <p:blipFill>
          <a:blip r:embed="rId1"/>
          <a:stretch>
            <a:fillRect/>
          </a:stretch>
        </p:blipFill>
        <p:spPr>
          <a:xfrm>
            <a:off x="548640" y="1600200"/>
            <a:ext cx="6126480" cy="2514600"/>
          </a:xfrm>
          <a:prstGeom prst="rect">
            <a:avLst/>
          </a:prstGeom>
        </p:spPr>
      </p:pic>
      <p:pic>
        <p:nvPicPr>
          <p:cNvPr id="5" name="Image 1" descr="/Users/madhav/malaria-detection/slides/figures/time_compare.png">    </p:cNvPr>
          <p:cNvPicPr>
            <a:picLocks noChangeAspect="1"/>
          </p:cNvPicPr>
          <p:nvPr/>
        </p:nvPicPr>
        <p:blipFill>
          <a:blip r:embed="rId2"/>
          <a:stretch>
            <a:fillRect/>
          </a:stretch>
        </p:blipFill>
        <p:spPr>
          <a:xfrm>
            <a:off x="6949440" y="1600200"/>
            <a:ext cx="4663440" cy="2651760"/>
          </a:xfrm>
          <a:prstGeom prst="rect">
            <a:avLst/>
          </a:prstGeom>
        </p:spPr>
      </p:pic>
      <p:sp>
        <p:nvSpPr>
          <p:cNvPr id="6" name="Text 2"/>
          <p:cNvSpPr txBox="1"/>
          <p:nvPr/>
        </p:nvSpPr>
        <p:spPr>
          <a:xfrm>
            <a:off x="7086600" y="4343400"/>
            <a:ext cx="1508760" cy="868680"/>
          </a:xfrm>
          <a:prstGeom prst="rect">
            <a:avLst/>
          </a:prstGeom>
          <a:noFill/>
          <a:ln/>
        </p:spPr>
        <p:txBody>
          <a:bodyPr wrap="square" lIns="0" tIns="0" rIns="0" bIns="0" rtlCol="0" anchor="t"/>
          <a:lstStyle/>
          <a:p>
            <a:pPr indent="0" marL="0">
              <a:buNone/>
            </a:pPr>
            <a:r>
              <a:rPr lang="en-US" sz="2400" b="1" dirty="0">
                <a:solidFill>
                  <a:schemeClr val="accent1"/>
                </a:solidFill>
              </a:rPr>
              <a:t>≈ 25×</a:t>
            </a:r>
            <a:endParaRPr lang="en-US" sz="1400" dirty="0"/>
          </a:p>
          <a:p>
            <a:pPr indent="0" marL="0">
              <a:buNone/>
            </a:pPr>
            <a:r>
              <a:rPr lang="en-US" sz="1200" dirty="0">
                <a:solidFill>
                  <a:schemeClr val="accent6"/>
                </a:solidFill>
              </a:rPr>
              <a:t>faster per fold</a:t>
            </a:r>
            <a:endParaRPr lang="en-US" sz="1400" dirty="0"/>
          </a:p>
        </p:txBody>
      </p:sp>
      <p:sp>
        <p:nvSpPr>
          <p:cNvPr id="7" name="Text 3"/>
          <p:cNvSpPr txBox="1"/>
          <p:nvPr/>
        </p:nvSpPr>
        <p:spPr>
          <a:xfrm>
            <a:off x="8641080" y="4343400"/>
            <a:ext cx="1508760" cy="868680"/>
          </a:xfrm>
          <a:prstGeom prst="rect">
            <a:avLst/>
          </a:prstGeom>
          <a:noFill/>
          <a:ln/>
        </p:spPr>
        <p:txBody>
          <a:bodyPr wrap="square" lIns="0" tIns="0" rIns="0" bIns="0" rtlCol="0" anchor="t"/>
          <a:lstStyle/>
          <a:p>
            <a:pPr indent="0" marL="0">
              <a:buNone/>
            </a:pPr>
            <a:r>
              <a:rPr lang="en-US" sz="2400" b="1" dirty="0">
                <a:solidFill>
                  <a:schemeClr val="accent1"/>
                </a:solidFill>
              </a:rPr>
              <a:t>≈ $4.8</a:t>
            </a:r>
            <a:endParaRPr lang="en-US" sz="1400" dirty="0"/>
          </a:p>
          <a:p>
            <a:pPr indent="0" marL="0">
              <a:buNone/>
            </a:pPr>
            <a:r>
              <a:rPr lang="en-US" sz="1200" dirty="0">
                <a:solidFill>
                  <a:schemeClr val="accent6"/>
                </a:solidFill>
              </a:rPr>
              <a:t>total cloud cost</a:t>
            </a:r>
            <a:endParaRPr lang="en-US" sz="1400" dirty="0"/>
          </a:p>
        </p:txBody>
      </p:sp>
      <p:sp>
        <p:nvSpPr>
          <p:cNvPr id="8" name="Text 4"/>
          <p:cNvSpPr txBox="1"/>
          <p:nvPr/>
        </p:nvSpPr>
        <p:spPr>
          <a:xfrm>
            <a:off x="10195560" y="4343400"/>
            <a:ext cx="1508760" cy="868680"/>
          </a:xfrm>
          <a:prstGeom prst="rect">
            <a:avLst/>
          </a:prstGeom>
          <a:noFill/>
          <a:ln/>
        </p:spPr>
        <p:txBody>
          <a:bodyPr wrap="square" lIns="0" tIns="0" rIns="0" bIns="0" rtlCol="0" anchor="t"/>
          <a:lstStyle/>
          <a:p>
            <a:pPr indent="0" marL="0">
              <a:buNone/>
            </a:pPr>
            <a:r>
              <a:rPr lang="en-US" sz="2400" b="1" dirty="0">
                <a:solidFill>
                  <a:schemeClr val="accent1"/>
                </a:solidFill>
              </a:rPr>
              <a:t>1 d 23 h</a:t>
            </a:r>
            <a:endParaRPr lang="en-US" sz="1400" dirty="0"/>
          </a:p>
          <a:p>
            <a:pPr indent="0" marL="0">
              <a:buNone/>
            </a:pPr>
            <a:r>
              <a:rPr lang="en-US" sz="1200" dirty="0">
                <a:solidFill>
                  <a:schemeClr val="accent6"/>
                </a:solidFill>
              </a:rPr>
              <a:t>the paper's full run</a:t>
            </a:r>
            <a:endParaRPr lang="en-US" sz="1400" dirty="0"/>
          </a:p>
        </p:txBody>
      </p:sp>
      <p:sp>
        <p:nvSpPr>
          <p:cNvPr id="9" name="Text 5"/>
          <p:cNvSpPr txBox="1"/>
          <p:nvPr/>
        </p:nvSpPr>
        <p:spPr>
          <a:xfrm>
            <a:off x="548640" y="4251960"/>
            <a:ext cx="6126480" cy="822960"/>
          </a:xfrm>
          <a:prstGeom prst="rect">
            <a:avLst/>
          </a:prstGeom>
          <a:noFill/>
          <a:ln/>
        </p:spPr>
        <p:txBody>
          <a:bodyPr wrap="square" lIns="0" tIns="0" rIns="0" bIns="0" rtlCol="0" anchor="t"/>
          <a:lstStyle/>
          <a:p>
            <a:pPr indent="0" marL="0">
              <a:buNone/>
            </a:pPr>
            <a:r>
              <a:rPr lang="en-US" sz="1300" dirty="0">
                <a:solidFill>
                  <a:schemeClr val="accent6"/>
                </a:solidFill>
              </a:rPr>
              <a:t>10 RunPod pods (Secure Cloud, RTX 4090, 16 vCPU each), one fold per pod, all training at the same time. Fold 3 landed on a slower host (16.6 min).</a:t>
            </a:r>
            <a:endParaRPr lang="en-US" sz="1300" dirty="0"/>
          </a:p>
        </p:txBody>
      </p:sp>
      <p:sp>
        <p:nvSpPr>
          <p:cNvPr id="10" name="Shape 6"/>
          <p:cNvSpPr/>
          <p:nvPr/>
        </p:nvSpPr>
        <p:spPr>
          <a:xfrm>
            <a:off x="548640" y="5257800"/>
            <a:ext cx="11064240" cy="731520"/>
          </a:xfrm>
          <a:prstGeom prst="roundRect">
            <a:avLst>
              <a:gd name="adj" fmla="val 10000"/>
            </a:avLst>
          </a:prstGeom>
          <a:solidFill>
            <a:srgbClr val="E3F0F2"/>
          </a:solidFill>
          <a:ln w="9525">
            <a:solidFill>
              <a:srgbClr val="E3F0F2"/>
            </a:solidFill>
            <a:prstDash val="solid"/>
          </a:ln>
        </p:spPr>
      </p:sp>
      <p:sp>
        <p:nvSpPr>
          <p:cNvPr id="11" name="Shape 7"/>
          <p:cNvSpPr/>
          <p:nvPr/>
        </p:nvSpPr>
        <p:spPr>
          <a:xfrm>
            <a:off x="749808" y="5394960"/>
            <a:ext cx="457200" cy="457200"/>
          </a:xfrm>
          <a:prstGeom prst="ellipse">
            <a:avLst/>
          </a:prstGeom>
          <a:solidFill>
            <a:schemeClr val="accent1"/>
          </a:solidFill>
          <a:ln w="635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845820" y="5490972"/>
            <a:ext cx="265176" cy="265176"/>
          </a:xfrm>
          <a:prstGeom prst="rect">
            <a:avLst/>
          </a:prstGeom>
        </p:spPr>
      </p:pic>
      <p:sp>
        <p:nvSpPr>
          <p:cNvPr id="13" name="Text 8"/>
          <p:cNvSpPr txBox="1"/>
          <p:nvPr/>
        </p:nvSpPr>
        <p:spPr>
          <a:xfrm>
            <a:off x="1389888" y="5330952"/>
            <a:ext cx="10012680" cy="585216"/>
          </a:xfrm>
          <a:prstGeom prst="rect">
            <a:avLst/>
          </a:prstGeom>
          <a:noFill/>
          <a:ln/>
        </p:spPr>
        <p:txBody>
          <a:bodyPr wrap="square" lIns="0" tIns="0" rIns="0" bIns="0" rtlCol="0" anchor="ctr"/>
          <a:lstStyle/>
          <a:p>
            <a:pPr indent="0" marL="0">
              <a:buNone/>
            </a:pPr>
            <a:r>
              <a:rPr lang="en-US" sz="1400" dirty="0">
                <a:solidFill>
                  <a:schemeClr val="tx1"/>
                </a:solidFill>
              </a:rPr>
              <a:t>The 10 trained models are published as a GitHub release, so nobody has to retrain to use or evaluate them.</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 OUR HYPOTHESIS</a:t>
            </a:r>
            <a:endParaRPr lang="en-US" sz="1200" dirty="0"/>
          </a:p>
        </p:txBody>
      </p:sp>
      <p:sp>
        <p:nvSpPr>
          <p:cNvPr id="3" name="Text 0"/>
          <p:cNvSpPr/>
          <p:nvPr>
            <p:ph idx="101" type="title" hasCustomPrompt="1"/>
          </p:nvPr>
        </p:nvSpPr>
        <p:spPr>
          <a:xfrm>
            <a:off x="548640" y="640080"/>
            <a:ext cx="11064240" cy="713232"/>
          </a:xfrm>
          <a:prstGeom prst="rect">
            <a:avLst/>
          </a:prstGeom>
          <a:noFill/>
          <a:ln/>
        </p:spPr>
        <p:txBody>
          <a:bodyPr wrap="square" lIns="0" tIns="0" rIns="0" bIns="0" rtlCol="0" anchor="t"/>
          <a:lstStyle/>
          <a:p>
            <a:pPr algn="l" indent="0" marL="0">
              <a:buNone/>
            </a:pPr>
            <a:r>
              <a:rPr lang="en-US" sz="3200" b="1" dirty="0">
                <a:solidFill>
                  <a:schemeClr val="tx1"/>
                </a:solidFill>
              </a:rPr>
              <a:t>Two proposed changes, one variable at a time</a:t>
            </a:r>
            <a:endParaRPr lang="en-US" sz="3200" dirty="0"/>
          </a:p>
        </p:txBody>
      </p:sp>
      <p:sp>
        <p:nvSpPr>
          <p:cNvPr id="4" name="Shape 2"/>
          <p:cNvSpPr/>
          <p:nvPr/>
        </p:nvSpPr>
        <p:spPr>
          <a:xfrm>
            <a:off x="548640" y="1645920"/>
            <a:ext cx="5440680" cy="2697480"/>
          </a:xfrm>
          <a:prstGeom prst="roundRect">
            <a:avLst>
              <a:gd name="adj" fmla="val 2712"/>
            </a:avLst>
          </a:prstGeom>
          <a:solidFill>
            <a:schemeClr val="bg2"/>
          </a:solidFill>
          <a:ln w="9525">
            <a:solidFill>
              <a:schemeClr val="bg2"/>
            </a:solidFill>
            <a:prstDash val="solid"/>
          </a:ln>
        </p:spPr>
      </p:sp>
      <p:sp>
        <p:nvSpPr>
          <p:cNvPr id="5" name="Shape 3"/>
          <p:cNvSpPr/>
          <p:nvPr/>
        </p:nvSpPr>
        <p:spPr>
          <a:xfrm>
            <a:off x="777240" y="1828800"/>
            <a:ext cx="594360" cy="594360"/>
          </a:xfrm>
          <a:prstGeom prst="ellipse">
            <a:avLst/>
          </a:prstGeom>
          <a:solidFill>
            <a:schemeClr val="accent1"/>
          </a:solidFill>
          <a:ln w="63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02056" y="1953616"/>
            <a:ext cx="344729" cy="344729"/>
          </a:xfrm>
          <a:prstGeom prst="rect">
            <a:avLst/>
          </a:prstGeom>
        </p:spPr>
      </p:pic>
      <p:sp>
        <p:nvSpPr>
          <p:cNvPr id="7" name="Text 4"/>
          <p:cNvSpPr txBox="1"/>
          <p:nvPr/>
        </p:nvSpPr>
        <p:spPr>
          <a:xfrm>
            <a:off x="1554480" y="1783080"/>
            <a:ext cx="4297680" cy="731520"/>
          </a:xfrm>
          <a:prstGeom prst="rect">
            <a:avLst/>
          </a:prstGeom>
          <a:noFill/>
          <a:ln/>
        </p:spPr>
        <p:txBody>
          <a:bodyPr wrap="square" lIns="0" tIns="0" rIns="0" bIns="0" rtlCol="0" anchor="ctr"/>
          <a:lstStyle/>
          <a:p>
            <a:pPr indent="0" marL="0">
              <a:buNone/>
            </a:pPr>
            <a:r>
              <a:rPr lang="en-US" sz="1200" b="1" spc="100" kern="0" dirty="0">
                <a:solidFill>
                  <a:schemeClr val="accent1"/>
                </a:solidFill>
              </a:rPr>
              <a:t>H1 · VALIDATION</a:t>
            </a:r>
            <a:endParaRPr lang="en-US" sz="1400" dirty="0"/>
          </a:p>
          <a:p>
            <a:pPr indent="0" marL="0">
              <a:buNone/>
            </a:pPr>
            <a:r>
              <a:rPr lang="en-US" sz="1800" b="1" dirty="0">
                <a:solidFill>
                  <a:schemeClr val="tx1"/>
                </a:solidFill>
              </a:rPr>
              <a:t>Leakage-free, slide-grouped split</a:t>
            </a:r>
            <a:endParaRPr lang="en-US" sz="1400" dirty="0"/>
          </a:p>
        </p:txBody>
      </p:sp>
      <p:sp>
        <p:nvSpPr>
          <p:cNvPr id="8" name="Text 5"/>
          <p:cNvSpPr txBox="1"/>
          <p:nvPr/>
        </p:nvSpPr>
        <p:spPr>
          <a:xfrm>
            <a:off x="822960" y="2651760"/>
            <a:ext cx="4937760" cy="1600200"/>
          </a:xfrm>
          <a:prstGeom prst="rect">
            <a:avLst/>
          </a:prstGeom>
          <a:noFill/>
          <a:ln/>
        </p:spPr>
        <p:txBody>
          <a:bodyPr wrap="square" lIns="0" tIns="0" rIns="0" bIns="0" rtlCol="0" anchor="t"/>
          <a:lstStyle/>
          <a:p>
            <a:pPr indent="0" marL="0">
              <a:spcAft>
                <a:spcPts val="400"/>
              </a:spcAft>
              <a:buNone/>
            </a:pPr>
            <a:r>
              <a:rPr lang="en-US" sz="1100" b="1" spc="100" kern="0" dirty="0">
                <a:solidFill>
                  <a:schemeClr val="accent6"/>
                </a:solidFill>
              </a:rPr>
              <a:t>CHANGE</a:t>
            </a:r>
            <a:endParaRPr lang="en-US" sz="1400" dirty="0"/>
          </a:p>
          <a:p>
            <a:pPr indent="0" marL="0">
              <a:spcAft>
                <a:spcPts val="400"/>
              </a:spcAft>
              <a:buNone/>
            </a:pPr>
            <a:r>
              <a:rPr lang="en-US" sz="1400" dirty="0">
                <a:solidFill>
                  <a:schemeClr val="tx1"/>
                </a:solidFill>
              </a:rPr>
              <a:t>Split by slide/patient (StratifiedGroupKFold) instead of random images. Model unchanged.</a:t>
            </a:r>
            <a:endParaRPr lang="en-US" sz="1400" dirty="0"/>
          </a:p>
          <a:p>
            <a:pPr indent="0" marL="0">
              <a:spcAft>
                <a:spcPts val="400"/>
              </a:spcAft>
              <a:buNone/>
            </a:pPr>
            <a:r>
              <a:rPr lang="en-US" sz="1100" b="1" spc="100" kern="0" dirty="0">
                <a:solidFill>
                  <a:schemeClr val="accent6"/>
                </a:solidFill>
              </a:rPr>
              <a:t>WE EXPECT</a:t>
            </a:r>
            <a:endParaRPr lang="en-US" sz="1400" dirty="0"/>
          </a:p>
          <a:p>
            <a:pPr indent="0" marL="0">
              <a:spcAft>
                <a:spcPts val="400"/>
              </a:spcAft>
              <a:buNone/>
            </a:pPr>
            <a:r>
              <a:rPr lang="en-US" sz="1400" dirty="0">
                <a:solidFill>
                  <a:schemeClr val="tx1"/>
                </a:solidFill>
              </a:rPr>
              <a:t>Accuracy and MCC fall below the image-split baseline, and fold-to-fold spread widens.</a:t>
            </a:r>
            <a:endParaRPr lang="en-US" sz="1400" dirty="0"/>
          </a:p>
        </p:txBody>
      </p:sp>
      <p:sp>
        <p:nvSpPr>
          <p:cNvPr id="9" name="Shape 6"/>
          <p:cNvSpPr/>
          <p:nvPr/>
        </p:nvSpPr>
        <p:spPr>
          <a:xfrm>
            <a:off x="6172200" y="1645920"/>
            <a:ext cx="5440680" cy="2697480"/>
          </a:xfrm>
          <a:prstGeom prst="roundRect">
            <a:avLst>
              <a:gd name="adj" fmla="val 2712"/>
            </a:avLst>
          </a:prstGeom>
          <a:solidFill>
            <a:schemeClr val="bg2"/>
          </a:solidFill>
          <a:ln w="9525">
            <a:solidFill>
              <a:schemeClr val="bg2"/>
            </a:solidFill>
            <a:prstDash val="solid"/>
          </a:ln>
        </p:spPr>
      </p:sp>
      <p:sp>
        <p:nvSpPr>
          <p:cNvPr id="10" name="Shape 7"/>
          <p:cNvSpPr/>
          <p:nvPr/>
        </p:nvSpPr>
        <p:spPr>
          <a:xfrm>
            <a:off x="6400800" y="1828800"/>
            <a:ext cx="594360" cy="594360"/>
          </a:xfrm>
          <a:prstGeom prst="ellipse">
            <a:avLst/>
          </a:prstGeom>
          <a:solidFill>
            <a:schemeClr val="accent1"/>
          </a:solidFill>
          <a:ln w="635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525616" y="1953616"/>
            <a:ext cx="344729" cy="344729"/>
          </a:xfrm>
          <a:prstGeom prst="rect">
            <a:avLst/>
          </a:prstGeom>
        </p:spPr>
      </p:pic>
      <p:sp>
        <p:nvSpPr>
          <p:cNvPr id="12" name="Text 8"/>
          <p:cNvSpPr txBox="1"/>
          <p:nvPr/>
        </p:nvSpPr>
        <p:spPr>
          <a:xfrm>
            <a:off x="7178040" y="1783080"/>
            <a:ext cx="4297680" cy="731520"/>
          </a:xfrm>
          <a:prstGeom prst="rect">
            <a:avLst/>
          </a:prstGeom>
          <a:noFill/>
          <a:ln/>
        </p:spPr>
        <p:txBody>
          <a:bodyPr wrap="square" lIns="0" tIns="0" rIns="0" bIns="0" rtlCol="0" anchor="ctr"/>
          <a:lstStyle/>
          <a:p>
            <a:pPr indent="0" marL="0">
              <a:buNone/>
            </a:pPr>
            <a:r>
              <a:rPr lang="en-US" sz="1200" b="1" spc="100" kern="0" dirty="0">
                <a:solidFill>
                  <a:schemeClr val="accent1"/>
                </a:solidFill>
              </a:rPr>
              <a:t>H2 · PREPROCESSING</a:t>
            </a:r>
            <a:endParaRPr lang="en-US" sz="1400" dirty="0"/>
          </a:p>
          <a:p>
            <a:pPr indent="0" marL="0">
              <a:buNone/>
            </a:pPr>
            <a:r>
              <a:rPr lang="en-US" sz="1800" b="1" dirty="0">
                <a:solidFill>
                  <a:schemeClr val="tx1"/>
                </a:solidFill>
              </a:rPr>
              <a:t>YUV stain normalisation (Umer [4])</a:t>
            </a:r>
            <a:endParaRPr lang="en-US" sz="1400" dirty="0"/>
          </a:p>
        </p:txBody>
      </p:sp>
      <p:sp>
        <p:nvSpPr>
          <p:cNvPr id="13" name="Text 9"/>
          <p:cNvSpPr txBox="1"/>
          <p:nvPr/>
        </p:nvSpPr>
        <p:spPr>
          <a:xfrm>
            <a:off x="6446520" y="2651760"/>
            <a:ext cx="4937760" cy="1600200"/>
          </a:xfrm>
          <a:prstGeom prst="rect">
            <a:avLst/>
          </a:prstGeom>
          <a:noFill/>
          <a:ln/>
        </p:spPr>
        <p:txBody>
          <a:bodyPr wrap="square" lIns="0" tIns="0" rIns="0" bIns="0" rtlCol="0" anchor="t"/>
          <a:lstStyle/>
          <a:p>
            <a:pPr indent="0" marL="0">
              <a:spcAft>
                <a:spcPts val="400"/>
              </a:spcAft>
              <a:buNone/>
            </a:pPr>
            <a:r>
              <a:rPr lang="en-US" sz="1100" b="1" spc="100" kern="0" dirty="0">
                <a:solidFill>
                  <a:schemeClr val="accent6"/>
                </a:solidFill>
              </a:rPr>
              <a:t>CHANGE</a:t>
            </a:r>
            <a:endParaRPr lang="en-US" sz="1400" dirty="0"/>
          </a:p>
          <a:p>
            <a:pPr indent="0" marL="0">
              <a:spcAft>
                <a:spcPts val="400"/>
              </a:spcAft>
              <a:buNone/>
            </a:pPr>
            <a:r>
              <a:rPr lang="en-US" sz="1400" dirty="0">
                <a:solidFill>
                  <a:schemeClr val="tx1"/>
                </a:solidFill>
              </a:rPr>
              <a:t>RGB → YUV → histogram-equalise Y → RGB before EfficientNet-B0. Grouped split kept fixed.</a:t>
            </a:r>
            <a:endParaRPr lang="en-US" sz="1400" dirty="0"/>
          </a:p>
          <a:p>
            <a:pPr indent="0" marL="0">
              <a:spcAft>
                <a:spcPts val="400"/>
              </a:spcAft>
              <a:buNone/>
            </a:pPr>
            <a:r>
              <a:rPr lang="en-US" sz="1100" b="1" spc="100" kern="0" dirty="0">
                <a:solidFill>
                  <a:schemeClr val="accent6"/>
                </a:solidFill>
              </a:rPr>
              <a:t>WE EXPECT</a:t>
            </a:r>
            <a:endParaRPr lang="en-US" sz="1400" dirty="0"/>
          </a:p>
          <a:p>
            <a:pPr indent="0" marL="0">
              <a:spcAft>
                <a:spcPts val="400"/>
              </a:spcAft>
              <a:buNone/>
            </a:pPr>
            <a:r>
              <a:rPr lang="en-US" sz="1400" dirty="0">
                <a:solidFill>
                  <a:schemeClr val="tx1"/>
                </a:solidFill>
              </a:rPr>
              <a:t>Higher recall and MCC than the H1 model on unseen slides; little change on the random split.</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480560"/>
          <a:ext cx="11064240" cy="914400"/>
        </p:xfrm>
        <a:graphic>
          <a:graphicData uri="http://schemas.openxmlformats.org/drawingml/2006/table">
            <a:tbl>
              <a:tblPr/>
              <a:tblGrid>
                <a:gridCol w="640080"/>
                <a:gridCol w="1828800"/>
                <a:gridCol w="1828800"/>
                <a:gridCol w="4754880"/>
                <a:gridCol w="201168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Split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Preprocessing</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Answers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137C8E"/>
                    </a:solidFill>
                  </a:tcPr>
                </a:tc>
              </a:tr>
              <a:tr h="32918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A0</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image (paper)</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baseline: does it match the paper?</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b="1" dirty="0">
                          <a:solidFill>
                            <a:srgbClr val="2E8B6E"/>
                          </a:solidFill>
                          <a:latin typeface="Calibri" pitchFamily="34" charset="0"/>
                          <a:ea typeface="Calibri" pitchFamily="34" charset="-122"/>
                          <a:cs typeface="Calibri" pitchFamily="34" charset="-120"/>
                        </a:rPr>
                        <a:t>done ✓ (10 folds)</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2918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A1</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slide-grouped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H1: leakage gap (A0 − A1)</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next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A2</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slide-grouped</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YUV + hist-eq</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H2: gain on unseen slides (A2 − A1)</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next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EEF4F5"/>
                    </a:solidFill>
                  </a:tcPr>
                </a:tc>
              </a:tr>
              <a:tr h="32918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A3</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image (paper)</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YUV + hist-eq</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control: is the gain slide-specific?</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next</a:t>
                      </a:r>
                      <a:endParaRPr lang="en-US" sz="1300" dirty="0">
                        <a:latin typeface="Calibri" charset="0"/>
                        <a:ea typeface="Calibri" charset="0"/>
                        <a:cs typeface="Calibri" charset="0"/>
                      </a:endParaRPr>
                    </a:p>
                  </a:txBody>
                  <a:tcPr marL="73152" marR="73152" marT="27432" marB="27432" anchor="ctr">
                    <a:lnL w="9525" cap="flat" cmpd="sng" algn="ctr">
                      <a:solidFill>
                        <a:srgbClr val="D7E3E6"/>
                      </a:solidFill>
                      <a:prstDash val="solid"/>
                      <a:round/>
                      <a:headEnd type="none" w="med" len="med"/>
                      <a:tailEnd type="none" w="med" len="med"/>
                    </a:lnL>
                    <a:lnR w="9525" cap="flat" cmpd="sng" algn="ctr">
                      <a:solidFill>
                        <a:srgbClr val="D7E3E6"/>
                      </a:solidFill>
                      <a:prstDash val="solid"/>
                      <a:round/>
                      <a:headEnd type="none" w="med" len="med"/>
                      <a:tailEnd type="none" w="med" len="med"/>
                    </a:lnR>
                    <a:lnT w="9525" cap="flat" cmpd="sng" algn="ctr">
                      <a:solidFill>
                        <a:srgbClr val="D7E3E6"/>
                      </a:solidFill>
                      <a:prstDash val="solid"/>
                      <a:round/>
                      <a:headEnd type="none" w="med" len="med"/>
                      <a:tailEnd type="none" w="med" len="med"/>
                    </a:lnT>
                    <a:lnB w="9525" cap="flat" cmpd="sng" algn="ctr">
                      <a:solidFill>
                        <a:srgbClr val="D7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22960" y="685800"/>
            <a:ext cx="10515600" cy="365760"/>
          </a:xfrm>
          <a:prstGeom prst="rect">
            <a:avLst/>
          </a:prstGeom>
          <a:noFill/>
          <a:ln/>
        </p:spPr>
        <p:txBody>
          <a:bodyPr wrap="square" lIns="0" tIns="0" rIns="0" bIns="0" rtlCol="0" anchor="t"/>
          <a:lstStyle/>
          <a:p>
            <a:pPr indent="0" marL="0">
              <a:buNone/>
            </a:pPr>
            <a:r>
              <a:rPr lang="en-US" sz="1500" b="1" spc="200" kern="0" dirty="0">
                <a:solidFill>
                  <a:schemeClr val="accent2"/>
                </a:solidFill>
              </a:rPr>
              <a:t>CONCLUSION</a:t>
            </a:r>
            <a:endParaRPr lang="en-US" sz="1500" dirty="0"/>
          </a:p>
        </p:txBody>
      </p:sp>
      <p:sp>
        <p:nvSpPr>
          <p:cNvPr id="3" name="Text 1"/>
          <p:cNvSpPr txBox="1"/>
          <p:nvPr/>
        </p:nvSpPr>
        <p:spPr>
          <a:xfrm>
            <a:off x="822960" y="1051560"/>
            <a:ext cx="10515600" cy="822960"/>
          </a:xfrm>
          <a:prstGeom prst="rect">
            <a:avLst/>
          </a:prstGeom>
          <a:noFill/>
          <a:ln/>
        </p:spPr>
        <p:txBody>
          <a:bodyPr wrap="square" lIns="0" tIns="0" rIns="0" bIns="0" rtlCol="0" anchor="t"/>
          <a:lstStyle/>
          <a:p>
            <a:pPr indent="0" marL="0">
              <a:buNone/>
            </a:pPr>
            <a:r>
              <a:rPr lang="en-US" sz="4000" b="1" dirty="0">
                <a:solidFill>
                  <a:schemeClr val="bg1"/>
                </a:solidFill>
              </a:rPr>
              <a:t>Where we stand</a:t>
            </a:r>
            <a:endParaRPr lang="en-US" sz="4000" dirty="0"/>
          </a:p>
        </p:txBody>
      </p:sp>
      <p:sp>
        <p:nvSpPr>
          <p:cNvPr id="4" name="Shape 2"/>
          <p:cNvSpPr/>
          <p:nvPr/>
        </p:nvSpPr>
        <p:spPr>
          <a:xfrm>
            <a:off x="822960" y="2148840"/>
            <a:ext cx="566928" cy="566928"/>
          </a:xfrm>
          <a:prstGeom prst="ellipse">
            <a:avLst/>
          </a:prstGeom>
          <a:solidFill>
            <a:schemeClr val="accent1"/>
          </a:solidFill>
          <a:ln w="635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41832" y="2267712"/>
            <a:ext cx="329184" cy="329184"/>
          </a:xfrm>
          <a:prstGeom prst="rect">
            <a:avLst/>
          </a:prstGeom>
        </p:spPr>
      </p:pic>
      <p:sp>
        <p:nvSpPr>
          <p:cNvPr id="6" name="Text 3"/>
          <p:cNvSpPr txBox="1"/>
          <p:nvPr/>
        </p:nvSpPr>
        <p:spPr>
          <a:xfrm>
            <a:off x="1600200" y="2103120"/>
            <a:ext cx="4480560" cy="1371600"/>
          </a:xfrm>
          <a:prstGeom prst="rect">
            <a:avLst/>
          </a:prstGeom>
          <a:noFill/>
          <a:ln/>
        </p:spPr>
        <p:txBody>
          <a:bodyPr wrap="square" lIns="0" tIns="0" rIns="0" bIns="0" rtlCol="0" anchor="t"/>
          <a:lstStyle/>
          <a:p>
            <a:pPr indent="0" marL="0">
              <a:buNone/>
            </a:pPr>
            <a:r>
              <a:rPr lang="en-US" sz="1800" b="1" dirty="0">
                <a:solidFill>
                  <a:schemeClr val="bg1"/>
                </a:solidFill>
              </a:rPr>
              <a:t>Reproduced</a:t>
            </a:r>
            <a:endParaRPr lang="en-US" sz="1400" dirty="0"/>
          </a:p>
          <a:p>
            <a:pPr indent="0" marL="0">
              <a:buNone/>
            </a:pPr>
            <a:r>
              <a:rPr lang="en-US" sz="1400" dirty="0">
                <a:solidFill>
                  <a:schemeClr val="accent2"/>
                </a:solidFill>
              </a:rPr>
              <a:t>The paper's recipe, rebuilt from its own code, lands within 1 pp on every metric (mean fold 97.55 vs 97.56 %).</a:t>
            </a:r>
            <a:endParaRPr lang="en-US" sz="1400" dirty="0"/>
          </a:p>
        </p:txBody>
      </p:sp>
      <p:sp>
        <p:nvSpPr>
          <p:cNvPr id="7" name="Shape 4"/>
          <p:cNvSpPr/>
          <p:nvPr/>
        </p:nvSpPr>
        <p:spPr>
          <a:xfrm>
            <a:off x="6309360" y="2148840"/>
            <a:ext cx="566928" cy="566928"/>
          </a:xfrm>
          <a:prstGeom prst="ellipse">
            <a:avLst/>
          </a:prstGeom>
          <a:solidFill>
            <a:schemeClr val="accent1"/>
          </a:solidFill>
          <a:ln w="635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6428232" y="2267712"/>
            <a:ext cx="329184" cy="329184"/>
          </a:xfrm>
          <a:prstGeom prst="rect">
            <a:avLst/>
          </a:prstGeom>
        </p:spPr>
      </p:pic>
      <p:sp>
        <p:nvSpPr>
          <p:cNvPr id="9" name="Text 5"/>
          <p:cNvSpPr txBox="1"/>
          <p:nvPr/>
        </p:nvSpPr>
        <p:spPr>
          <a:xfrm>
            <a:off x="7086600" y="2103120"/>
            <a:ext cx="4480560" cy="1371600"/>
          </a:xfrm>
          <a:prstGeom prst="rect">
            <a:avLst/>
          </a:prstGeom>
          <a:noFill/>
          <a:ln/>
        </p:spPr>
        <p:txBody>
          <a:bodyPr wrap="square" lIns="0" tIns="0" rIns="0" bIns="0" rtlCol="0" anchor="t"/>
          <a:lstStyle/>
          <a:p>
            <a:pPr indent="0" marL="0">
              <a:buNone/>
            </a:pPr>
            <a:r>
              <a:rPr lang="en-US" sz="1800" b="1" dirty="0">
                <a:solidFill>
                  <a:schemeClr val="bg1"/>
                </a:solidFill>
              </a:rPr>
              <a:t>Corrected</a:t>
            </a:r>
            <a:endParaRPr lang="en-US" sz="1400" dirty="0"/>
          </a:p>
          <a:p>
            <a:pPr indent="0" marL="0">
              <a:buNone/>
            </a:pPr>
            <a:r>
              <a:rPr lang="en-US" sz="1400" dirty="0">
                <a:solidFill>
                  <a:schemeClr val="accent2"/>
                </a:solidFill>
              </a:rPr>
              <a:t>The paper evaluates on augmented images and swaps precision and recall in its text; we report both views.</a:t>
            </a:r>
            <a:endParaRPr lang="en-US" sz="1400" dirty="0"/>
          </a:p>
        </p:txBody>
      </p:sp>
      <p:sp>
        <p:nvSpPr>
          <p:cNvPr id="10" name="Shape 6"/>
          <p:cNvSpPr/>
          <p:nvPr/>
        </p:nvSpPr>
        <p:spPr>
          <a:xfrm>
            <a:off x="822960" y="3749040"/>
            <a:ext cx="566928" cy="566928"/>
          </a:xfrm>
          <a:prstGeom prst="ellipse">
            <a:avLst/>
          </a:prstGeom>
          <a:solidFill>
            <a:schemeClr val="accent1"/>
          </a:solidFill>
          <a:ln w="6350">
            <a:solidFill>
              <a:schemeClr val="accent1"/>
            </a:solidFill>
            <a:prstDash val="solid"/>
          </a:ln>
        </p:spPr>
      </p:sp>
      <p:pic>
        <p:nvPicPr>
          <p:cNvPr id="11" name="Image 2" descr="preencoded.png">    </p:cNvPr>
          <p:cNvPicPr>
            <a:picLocks noChangeAspect="1"/>
          </p:cNvPicPr>
          <p:nvPr/>
        </p:nvPicPr>
        <p:blipFill>
          <a:blip r:embed="rId3"/>
          <a:stretch>
            <a:fillRect/>
          </a:stretch>
        </p:blipFill>
        <p:spPr>
          <a:xfrm>
            <a:off x="941832" y="3867912"/>
            <a:ext cx="329184" cy="329184"/>
          </a:xfrm>
          <a:prstGeom prst="rect">
            <a:avLst/>
          </a:prstGeom>
        </p:spPr>
      </p:pic>
      <p:sp>
        <p:nvSpPr>
          <p:cNvPr id="12" name="Text 7"/>
          <p:cNvSpPr txBox="1"/>
          <p:nvPr/>
        </p:nvSpPr>
        <p:spPr>
          <a:xfrm>
            <a:off x="1600200" y="3703320"/>
            <a:ext cx="4480560" cy="1371600"/>
          </a:xfrm>
          <a:prstGeom prst="rect">
            <a:avLst/>
          </a:prstGeom>
          <a:noFill/>
          <a:ln/>
        </p:spPr>
        <p:txBody>
          <a:bodyPr wrap="square" lIns="0" tIns="0" rIns="0" bIns="0" rtlCol="0" anchor="t"/>
          <a:lstStyle/>
          <a:p>
            <a:pPr indent="0" marL="0">
              <a:buNone/>
            </a:pPr>
            <a:r>
              <a:rPr lang="en-US" sz="1800" b="1" dirty="0">
                <a:solidFill>
                  <a:schemeClr val="bg1"/>
                </a:solidFill>
              </a:rPr>
              <a:t>Fast and shareable</a:t>
            </a:r>
            <a:endParaRPr lang="en-US" sz="1400" dirty="0"/>
          </a:p>
          <a:p>
            <a:pPr indent="0" marL="0">
              <a:buNone/>
            </a:pPr>
            <a:r>
              <a:rPr lang="en-US" sz="1400" dirty="0">
                <a:solidFill>
                  <a:schemeClr val="accent2"/>
                </a:solidFill>
              </a:rPr>
              <a:t>10 folds in parallel, ≈ 11 min each instead of ≈ 4 h 46 min; the trained models are published.</a:t>
            </a:r>
            <a:endParaRPr lang="en-US" sz="1400" dirty="0"/>
          </a:p>
        </p:txBody>
      </p:sp>
      <p:sp>
        <p:nvSpPr>
          <p:cNvPr id="13" name="Shape 8"/>
          <p:cNvSpPr/>
          <p:nvPr/>
        </p:nvSpPr>
        <p:spPr>
          <a:xfrm>
            <a:off x="6309360" y="3749040"/>
            <a:ext cx="566928" cy="566928"/>
          </a:xfrm>
          <a:prstGeom prst="ellipse">
            <a:avLst/>
          </a:prstGeom>
          <a:solidFill>
            <a:schemeClr val="accent1"/>
          </a:solidFill>
          <a:ln w="6350">
            <a:solidFill>
              <a:schemeClr val="accent1"/>
            </a:solidFill>
            <a:prstDash val="solid"/>
          </a:ln>
        </p:spPr>
      </p:sp>
      <p:pic>
        <p:nvPicPr>
          <p:cNvPr id="14" name="Image 3" descr="preencoded.png">    </p:cNvPr>
          <p:cNvPicPr>
            <a:picLocks noChangeAspect="1"/>
          </p:cNvPicPr>
          <p:nvPr/>
        </p:nvPicPr>
        <p:blipFill>
          <a:blip r:embed="rId4"/>
          <a:stretch>
            <a:fillRect/>
          </a:stretch>
        </p:blipFill>
        <p:spPr>
          <a:xfrm>
            <a:off x="6428232" y="3867912"/>
            <a:ext cx="329184" cy="329184"/>
          </a:xfrm>
          <a:prstGeom prst="rect">
            <a:avLst/>
          </a:prstGeom>
        </p:spPr>
      </p:pic>
      <p:sp>
        <p:nvSpPr>
          <p:cNvPr id="15" name="Text 9"/>
          <p:cNvSpPr txBox="1"/>
          <p:nvPr/>
        </p:nvSpPr>
        <p:spPr>
          <a:xfrm>
            <a:off x="7086600" y="3703320"/>
            <a:ext cx="4480560" cy="1371600"/>
          </a:xfrm>
          <a:prstGeom prst="rect">
            <a:avLst/>
          </a:prstGeom>
          <a:noFill/>
          <a:ln/>
        </p:spPr>
        <p:txBody>
          <a:bodyPr wrap="square" lIns="0" tIns="0" rIns="0" bIns="0" rtlCol="0" anchor="t"/>
          <a:lstStyle/>
          <a:p>
            <a:pPr indent="0" marL="0">
              <a:buNone/>
            </a:pPr>
            <a:r>
              <a:rPr lang="en-US" sz="1800" b="1" dirty="0">
                <a:solidFill>
                  <a:schemeClr val="bg1"/>
                </a:solidFill>
              </a:rPr>
              <a:t>Next</a:t>
            </a:r>
            <a:endParaRPr lang="en-US" sz="1400" dirty="0"/>
          </a:p>
          <a:p>
            <a:pPr indent="0" marL="0">
              <a:buNone/>
            </a:pPr>
            <a:r>
              <a:rPr lang="en-US" sz="1400" dirty="0">
                <a:solidFill>
                  <a:schemeClr val="accent2"/>
                </a:solidFill>
              </a:rPr>
              <a:t>A1–A3 test whether 97–98 % holds on unseen slides (H1) and whether stain normalisation helps (H2).</a:t>
            </a:r>
            <a:endParaRPr lang="en-US" sz="1400" dirty="0"/>
          </a:p>
        </p:txBody>
      </p:sp>
      <p:sp>
        <p:nvSpPr>
          <p:cNvPr id="16" name="Text 10"/>
          <p:cNvSpPr txBox="1"/>
          <p:nvPr/>
        </p:nvSpPr>
        <p:spPr>
          <a:xfrm>
            <a:off x="822960" y="5532120"/>
            <a:ext cx="6400800" cy="457200"/>
          </a:xfrm>
          <a:prstGeom prst="rect">
            <a:avLst/>
          </a:prstGeom>
          <a:noFill/>
          <a:ln/>
        </p:spPr>
        <p:txBody>
          <a:bodyPr wrap="square" lIns="0" tIns="0" rIns="0" bIns="0" rtlCol="0" anchor="t"/>
          <a:lstStyle/>
          <a:p>
            <a:pPr indent="0" marL="0">
              <a:buNone/>
            </a:pPr>
            <a:r>
              <a:rPr lang="en-US" sz="2000" b="1" dirty="0">
                <a:solidFill>
                  <a:schemeClr val="bg1"/>
                </a:solidFill>
              </a:rPr>
              <a:t>Thank you · questions welcome</a:t>
            </a:r>
            <a:endParaRPr lang="en-US" sz="2000" dirty="0"/>
          </a:p>
        </p:txBody>
      </p:sp>
      <p:sp>
        <p:nvSpPr>
          <p:cNvPr id="17" name="Text 11"/>
          <p:cNvSpPr txBox="1"/>
          <p:nvPr/>
        </p:nvSpPr>
        <p:spPr>
          <a:xfrm>
            <a:off x="7223760" y="5577840"/>
            <a:ext cx="4206240" cy="411480"/>
          </a:xfrm>
          <a:prstGeom prst="rect">
            <a:avLst/>
          </a:prstGeom>
          <a:noFill/>
          <a:ln/>
        </p:spPr>
        <p:txBody>
          <a:bodyPr wrap="square" lIns="0" tIns="0" rIns="0" bIns="0" rtlCol="0" anchor="t"/>
          <a:lstStyle/>
          <a:p>
            <a:pPr algn="r" indent="0" marL="0">
              <a:buNone/>
            </a:pPr>
            <a:r>
              <a:rPr lang="en-US" sz="1400" dirty="0">
                <a:solidFill>
                  <a:schemeClr val="accent2"/>
                </a:solidFill>
              </a:rPr>
              <a:t>github.com/amathziah/malaria-detection</a:t>
            </a:r>
            <a:endParaRPr lang="en-US" sz="1400" dirty="0"/>
          </a:p>
        </p:txBody>
      </p:sp>
    </p:spTree>
  </p:cSld>
  <p:clrMapOvr>
    <a:masterClrMapping/>
  </p:clrMapOvr>
</p:sld>
</file>

<file path=ppt/theme/theme1.xml><?xml version="1.0" encoding="utf-8"?>
<a:theme xmlns:a="http://schemas.openxmlformats.org/drawingml/2006/main" name="Malaria Phase 2">
  <a:themeElements>
    <a:clrScheme name="Malaria Phase 2">
      <a:dk1>
        <a:srgbClr val="1E293B"/>
      </a:dk1>
      <a:lt1>
        <a:srgbClr val="FFFFFF"/>
      </a:lt1>
      <a:dk2>
        <a:srgbClr val="0E3B43"/>
      </a:dk2>
      <a:lt2>
        <a:srgbClr val="EEF4F5"/>
      </a:lt2>
      <a:accent1>
        <a:srgbClr val="137C8E"/>
      </a:accent1>
      <a:accent2>
        <a:srgbClr val="9FC0C9"/>
      </a:accent2>
      <a:accent3>
        <a:srgbClr val="7B4B94"/>
      </a:accent3>
      <a:accent4>
        <a:srgbClr val="C9771A"/>
      </a:accent4>
      <a:accent5>
        <a:srgbClr val="2E8B6E"/>
      </a:accent5>
      <a:accent6>
        <a:srgbClr val="64748B"/>
      </a:accent6>
      <a:hlink>
        <a:srgbClr val="137C8E"/>
      </a:hlink>
      <a:folHlink>
        <a:srgbClr val="7B4B94"/>
      </a:folHlink>
    </a:clrScheme>
    <a:fontScheme name="Malaria Phase 2">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Rishihood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Malaria Cell Detection - Phase 2</dc:title>
  <dc:subject>PptxGenJS Presentation</dc:subject>
  <dc:creator>J Amathziah, C Murali Madhav, Ravi Yadav, Pugazhendhi J</dc:creator>
  <cp:lastModifiedBy>J Amathziah, C Murali Madhav, Ravi Yadav, Pugazhendhi J</cp:lastModifiedBy>
  <cp:revision>1</cp:revision>
  <dcterms:created xsi:type="dcterms:W3CDTF">2026-10-06T04:44:56Z</dcterms:created>
  <dcterms:modified xsi:type="dcterms:W3CDTF">2026-10-06T04:44:56Z</dcterms:modified>
</cp:coreProperties>
</file>