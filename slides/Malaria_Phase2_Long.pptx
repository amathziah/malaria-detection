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d0b12f1-88a3-6cde-bcf5-ad400ca036f2}">
          <p14:sldIdLst>
            <p14:sldId id="256"/>
            <p14:sldId id="257"/>
          </p14:sldIdLst>
        </p14:section>
        <p14:section name="Phase 1 · Literature review" id="{48a896fd-a443-efe5-1634-9c4f32285662}">
          <p14:sldIdLst>
            <p14:sldId id="258"/>
            <p14:sldId id="259"/>
            <p14:sldId id="260"/>
            <p14:sldId id="261"/>
            <p14:sldId id="262"/>
            <p14:sldId id="263"/>
            <p14:sldId id="264"/>
            <p14:sldId id="265"/>
            <p14:sldId id="266"/>
          </p14:sldIdLst>
        </p14:section>
        <p14:section name="Phase 2 · Reproduction" id="{eb0fb4ab-b7d7-def0-912d-f2995081f89a}">
          <p14:sldIdLst>
            <p14:sldId id="267"/>
            <p14:sldId id="268"/>
            <p14:sldId id="269"/>
            <p14:sldId id="270"/>
            <p14:sldId id="271"/>
            <p14:sldId id="272"/>
            <p14:sldId id="273"/>
            <p14:sldId id="274"/>
          </p14:sldIdLst>
        </p14:section>
        <p14:section name="Phase 2 · Results" id="{171a104d-0c66-f80a-b04d-0708836f278a}">
          <p14:sldIdLst>
            <p14:sldId id="275"/>
            <p14:sldId id="276"/>
            <p14:sldId id="277"/>
            <p14:sldId id="278"/>
            <p14:sldId id="279"/>
          </p14:sldIdLst>
        </p14:section>
        <p14:section name="Phase 2 · Engineering" id="{29f124de-a18a-364c-94d6-46b8db107f74}">
          <p14:sldIdLst>
            <p14:sldId id="280"/>
            <p14:sldId id="281"/>
          </p14:sldIdLst>
        </p14:section>
        <p14:section name="Next steps" id="{369dc16f-6125-24ea-eaad-1656ad5e8759}">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Reported accuracy (%) · axis starts at 94 %</a:t>
            </a:r>
          </a:p>
        </c:rich>
      </c:tx>
      <c:layout/>
      <c:overlay val="0"/>
    </c:title>
    <c:autoTitleDeleted val="0"/>
    <c:plotArea>
      <c:layout/>
      <c:barChart>
        <c:barDir val="bar"/>
        <c:grouping val="stacked"/>
        <c:varyColors val="0"/>
        <c:ser>
          <c:idx val="0"/>
          <c:order val="0"/>
          <c:tx>
            <c:strRef>
              <c:f>Sheet1!$B$1</c:f>
              <c:strCache>
                <c:ptCount val="1"/>
                <c:pt idx="0">
                  <c:v>Other studies</c:v>
                </c:pt>
              </c:strCache>
            </c:strRef>
          </c:tx>
          <c:spPr>
            <a:solidFill>
              <a:srgbClr val="9FC0C9"/>
            </a:solidFill>
            <a:effectLst/>
          </c:spPr>
          <c:invertIfNegative val="0"/>
          <c:dLbls>
            <c:numFmt formatCode="0.00;;;" sourceLinked="0"/>
            <c:txPr>
              <a:bodyPr/>
              <a:lstStyle/>
              <a:p>
                <a:pPr>
                  <a:defRPr b="0" i="0" strike="noStrike" sz="1200" u="none">
                    <a:solidFill>
                      <a:srgbClr val="1E293B"/>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Zhao [6]</c:v>
                  </c:pt>
                  <c:pt idx="1">
                    <c:v>Hemachandran [10]</c:v>
                  </c:pt>
                  <c:pt idx="2">
                    <c:v>Masud [7]</c:v>
                  </c:pt>
                  <c:pt idx="3">
                    <c:v>Liang [1]</c:v>
                  </c:pt>
                  <c:pt idx="4">
                    <c:v>Mujahid [11]</c:v>
                  </c:pt>
                  <c:pt idx="5">
                    <c:v>Marques [8]</c:v>
                  </c:pt>
                  <c:pt idx="6">
                    <c:v>Fuhad [5]</c:v>
                  </c:pt>
                  <c:pt idx="7">
                    <c:v>Madhu [9]</c:v>
                  </c:pt>
                  <c:pt idx="8">
                    <c:v>Umer [4]</c:v>
                  </c:pt>
                </c:lvl>
              </c:multiLvlStrCache>
            </c:multiLvlStrRef>
          </c:cat>
          <c:val>
            <c:numRef>
              <c:f>Sheet1!$B$2:$B$10</c:f>
              <c:numCache>
                <c:formatCode>General</c:formatCode>
                <c:ptCount val="9"/>
                <c:pt idx="0">
                  <c:v>96.5</c:v>
                </c:pt>
                <c:pt idx="1">
                  <c:v>97.06</c:v>
                </c:pt>
                <c:pt idx="2">
                  <c:v>97.3</c:v>
                </c:pt>
                <c:pt idx="3">
                  <c:v>97.37</c:v>
                </c:pt>
                <c:pt idx="4">
                  <c:v>97.57</c:v>
                </c:pt>
                <c:pt idx="5">
                  <c:v>0</c:v>
                </c:pt>
                <c:pt idx="6">
                  <c:v>99.23</c:v>
                </c:pt>
                <c:pt idx="7">
                  <c:v>99.35</c:v>
                </c:pt>
                <c:pt idx="8">
                  <c:v>99.96</c:v>
                </c:pt>
              </c:numCache>
            </c:numRef>
          </c:val>
        </c:ser>
        <c:ser>
          <c:idx val="1"/>
          <c:order val="1"/>
          <c:tx>
            <c:strRef>
              <c:f>Sheet1!$C$1</c:f>
              <c:strCache>
                <c:ptCount val="1"/>
                <c:pt idx="0">
                  <c:v>Base paper</c:v>
                </c:pt>
              </c:strCache>
            </c:strRef>
          </c:tx>
          <c:spPr>
            <a:solidFill>
              <a:srgbClr val="137C8E"/>
            </a:solidFill>
            <a:effectLst/>
          </c:spPr>
          <c:invertIfNegative val="0"/>
          <c:dLbls>
            <c:numFmt formatCode="0.00;;;" sourceLinked="0"/>
            <c:txPr>
              <a:bodyPr/>
              <a:lstStyle/>
              <a:p>
                <a:pPr>
                  <a:defRPr b="0" i="0" strike="noStrike" sz="1200" u="none">
                    <a:solidFill>
                      <a:srgbClr val="1E293B"/>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Zhao [6]</c:v>
                  </c:pt>
                  <c:pt idx="1">
                    <c:v>Hemachandran [10]</c:v>
                  </c:pt>
                  <c:pt idx="2">
                    <c:v>Masud [7]</c:v>
                  </c:pt>
                  <c:pt idx="3">
                    <c:v>Liang [1]</c:v>
                  </c:pt>
                  <c:pt idx="4">
                    <c:v>Mujahid [11]</c:v>
                  </c:pt>
                  <c:pt idx="5">
                    <c:v>Marques [8]</c:v>
                  </c:pt>
                  <c:pt idx="6">
                    <c:v>Fuhad [5]</c:v>
                  </c:pt>
                  <c:pt idx="7">
                    <c:v>Madhu [9]</c:v>
                  </c:pt>
                  <c:pt idx="8">
                    <c:v>Umer [4]</c:v>
                  </c:pt>
                </c:lvl>
              </c:multiLvlStrCache>
            </c:multiLvlStrRef>
          </c:cat>
          <c:val>
            <c:numRef>
              <c:f>Sheet1!$C$2:$C$10</c:f>
              <c:numCache>
                <c:formatCode>General</c:formatCode>
                <c:ptCount val="9"/>
                <c:pt idx="0">
                  <c:v>0</c:v>
                </c:pt>
                <c:pt idx="1">
                  <c:v>0</c:v>
                </c:pt>
                <c:pt idx="2">
                  <c:v>0</c:v>
                </c:pt>
                <c:pt idx="3">
                  <c:v>0</c:v>
                </c:pt>
                <c:pt idx="4">
                  <c:v>0</c:v>
                </c:pt>
                <c:pt idx="5">
                  <c:v>98.29</c:v>
                </c:pt>
                <c:pt idx="6">
                  <c:v>0</c:v>
                </c:pt>
                <c:pt idx="7">
                  <c:v>0</c:v>
                </c:pt>
                <c:pt idx="8">
                  <c:v>0</c:v>
                </c:pt>
              </c:numCache>
            </c:numRef>
          </c:val>
        </c:ser>
        <c:dLbls>
          <c:numFmt formatCode="0.00;;;" sourceLinked="0"/>
          <c:txPr>
            <a:bodyPr/>
            <a:lstStyle/>
            <a:p>
              <a:pPr>
                <a:defRPr b="0" i="0" strike="noStrike" sz="1200" u="none">
                  <a:solidFill>
                    <a:srgbClr val="1E293B"/>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100"/>
          <c:min val="94"/>
        </c:scaling>
        <c:delete val="0"/>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Accuracy on each fold's CV test part (%)</a:t>
            </a:r>
          </a:p>
        </c:rich>
      </c:tx>
      <c:layout/>
      <c:overlay val="0"/>
    </c:title>
    <c:autoTitleDeleted val="0"/>
    <c:plotArea>
      <c:layout/>
      <c:barChart>
        <c:barDir val="col"/>
        <c:grouping val="clustered"/>
        <c:varyColors val="0"/>
        <c:ser>
          <c:idx val="0"/>
          <c:order val="0"/>
          <c:tx>
            <c:strRef>
              <c:f>Sheet1!$B$1</c:f>
              <c:strCache>
                <c:ptCount val="1"/>
                <c:pt idx="0">
                  <c:v>Paper (Table 5)</c:v>
                </c:pt>
              </c:strCache>
            </c:strRef>
          </c:tx>
          <c:spPr>
            <a:solidFill>
              <a:srgbClr val="9FC0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Fold 0</c:v>
                  </c:pt>
                  <c:pt idx="1">
                    <c:v>Fold 1</c:v>
                  </c:pt>
                  <c:pt idx="2">
                    <c:v>Fold 2</c:v>
                  </c:pt>
                  <c:pt idx="3">
                    <c:v>Fold 3</c:v>
                  </c:pt>
                  <c:pt idx="4">
                    <c:v>Fold 4</c:v>
                  </c:pt>
                  <c:pt idx="5">
                    <c:v>Fold 5</c:v>
                  </c:pt>
                  <c:pt idx="6">
                    <c:v>Fold 6</c:v>
                  </c:pt>
                  <c:pt idx="7">
                    <c:v>Fold 7</c:v>
                  </c:pt>
                  <c:pt idx="8">
                    <c:v>Fold 8</c:v>
                  </c:pt>
                  <c:pt idx="9">
                    <c:v>Fold 9</c:v>
                  </c:pt>
                </c:lvl>
              </c:multiLvlStrCache>
            </c:multiLvlStrRef>
          </c:cat>
          <c:val>
            <c:numRef>
              <c:f>Sheet1!$B$2:$B$11</c:f>
              <c:numCache>
                <c:formatCode>General</c:formatCode>
                <c:ptCount val="10"/>
                <c:pt idx="0">
                  <c:v>97.4603</c:v>
                </c:pt>
                <c:pt idx="1">
                  <c:v>97.7324</c:v>
                </c:pt>
                <c:pt idx="2">
                  <c:v>97.6871</c:v>
                </c:pt>
                <c:pt idx="3">
                  <c:v>97.4603</c:v>
                </c:pt>
                <c:pt idx="4">
                  <c:v>97.3243</c:v>
                </c:pt>
                <c:pt idx="5">
                  <c:v>97.415</c:v>
                </c:pt>
                <c:pt idx="6">
                  <c:v>97.6407</c:v>
                </c:pt>
                <c:pt idx="7">
                  <c:v>98.3666</c:v>
                </c:pt>
                <c:pt idx="8">
                  <c:v>97.0508</c:v>
                </c:pt>
                <c:pt idx="9">
                  <c:v>97.5045</c:v>
                </c:pt>
              </c:numCache>
            </c:numRef>
          </c:val>
        </c:ser>
        <c:ser>
          <c:idx val="1"/>
          <c:order val="1"/>
          <c:tx>
            <c:strRef>
              <c:f>Sheet1!$C$1</c:f>
              <c:strCache>
                <c:ptCount val="1"/>
                <c:pt idx="0">
                  <c:v>Ours (paper protocol)</c:v>
                </c:pt>
              </c:strCache>
            </c:strRef>
          </c:tx>
          <c:spPr>
            <a:solidFill>
              <a:srgbClr val="137C8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Fold 0</c:v>
                  </c:pt>
                  <c:pt idx="1">
                    <c:v>Fold 1</c:v>
                  </c:pt>
                  <c:pt idx="2">
                    <c:v>Fold 2</c:v>
                  </c:pt>
                  <c:pt idx="3">
                    <c:v>Fold 3</c:v>
                  </c:pt>
                  <c:pt idx="4">
                    <c:v>Fold 4</c:v>
                  </c:pt>
                  <c:pt idx="5">
                    <c:v>Fold 5</c:v>
                  </c:pt>
                  <c:pt idx="6">
                    <c:v>Fold 6</c:v>
                  </c:pt>
                  <c:pt idx="7">
                    <c:v>Fold 7</c:v>
                  </c:pt>
                  <c:pt idx="8">
                    <c:v>Fold 8</c:v>
                  </c:pt>
                  <c:pt idx="9">
                    <c:v>Fold 9</c:v>
                  </c:pt>
                </c:lvl>
              </c:multiLvlStrCache>
            </c:multiLvlStrRef>
          </c:cat>
          <c:val>
            <c:numRef>
              <c:f>Sheet1!$C$2:$C$11</c:f>
              <c:numCache>
                <c:formatCode>General</c:formatCode>
                <c:ptCount val="10"/>
                <c:pt idx="0">
                  <c:v>96.96</c:v>
                </c:pt>
                <c:pt idx="1">
                  <c:v>97.91</c:v>
                </c:pt>
                <c:pt idx="2">
                  <c:v>97.41</c:v>
                </c:pt>
                <c:pt idx="3">
                  <c:v>97.6</c:v>
                </c:pt>
                <c:pt idx="4">
                  <c:v>97.46</c:v>
                </c:pt>
                <c:pt idx="5">
                  <c:v>97.6</c:v>
                </c:pt>
                <c:pt idx="6">
                  <c:v>97.73</c:v>
                </c:pt>
                <c:pt idx="7">
                  <c:v>97.23</c:v>
                </c:pt>
                <c:pt idx="8">
                  <c:v>97.96</c:v>
                </c:pt>
                <c:pt idx="9">
                  <c:v>97.64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98.6"/>
          <c:min val="96"/>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Training time per fold</a:t>
            </a:r>
          </a:p>
        </c:rich>
      </c:tx>
      <c:layout/>
      <c:overlay val="0"/>
    </c:title>
    <c:autoTitleDeleted val="0"/>
    <c:plotArea>
      <c:layout/>
      <c:barChart>
        <c:barDir val="bar"/>
        <c:grouping val="clustered"/>
        <c:varyColors val="0"/>
        <c:ser>
          <c:idx val="0"/>
          <c:order val="0"/>
          <c:tx>
            <c:strRef>
              <c:f>Sheet1!$B$1</c:f>
              <c:strCache>
                <c:ptCount val="1"/>
                <c:pt idx="0">
                  <c:v>Minutes per fold</c:v>
                </c:pt>
              </c:strCache>
            </c:strRef>
          </c:tx>
          <c:spPr>
            <a:solidFill>
              <a:srgbClr val="9FC0C9"/>
            </a:solidFill>
            <a:effectLst/>
          </c:spPr>
          <c:invertIfNegative val="0"/>
          <c:dLbls>
            <c:numFmt formatCode="0&quot; min&quot;" sourceLinked="0"/>
            <c:txPr>
              <a:bodyPr/>
              <a:lstStyle/>
              <a:p>
                <a:pPr>
                  <a:defRPr b="0" i="0" strike="noStrike" sz="13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9FC0C9"/>
              </a:solidFill>
              <a:effectLst/>
            </c:spPr>
          </c:dPt>
          <c:dPt>
            <c:idx val="1"/>
            <c:invertIfNegative val="0"/>
            <c:bubble3D val="0"/>
            <c:spPr>
              <a:solidFill>
                <a:srgbClr val="137C8E"/>
              </a:solidFill>
              <a:effectLst/>
            </c:spPr>
          </c:dPt>
          <c:cat>
            <c:multiLvlStrRef>
              <c:f>Sheet1!$A$2:$A$3</c:f>
              <c:multiLvlStrCache>
                <c:ptCount val="2"/>
                <c:lvl>
                  <c:pt idx="0">
                    <c:v>Paper · GTX 1050</c:v>
                  </c:pt>
                  <c:pt idx="1">
                    <c:v>Ours · RTX 4090</c:v>
                  </c:pt>
                </c:lvl>
              </c:multiLvlStrCache>
            </c:multiLvlStrRef>
          </c:cat>
          <c:val>
            <c:numRef>
              <c:f>Sheet1!$B$2:$B$3</c:f>
              <c:numCache>
                <c:formatCode>General</c:formatCode>
                <c:ptCount val="2"/>
                <c:pt idx="0">
                  <c:v>285.9</c:v>
                </c:pt>
                <c:pt idx="1">
                  <c:v>11.3</c:v>
                </c:pt>
              </c:numCache>
            </c:numRef>
          </c:val>
        </c:ser>
        <c:dLbls>
          <c:numFmt formatCode="0&quot; min&quot;" sourceLinked="0"/>
          <c:txPr>
            <a:bodyPr/>
            <a:lstStyle/>
            <a:p>
              <a:pPr>
                <a:defRPr b="0" i="0" strike="noStrike" sz="13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3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building a system that looks at a single red blood cell and decides whether it is infected with malaria. In Phase 1 we reviewed eleven studies. In Phase 2 we took the strongest documented one, reproduced it exactly as its authors' code ran, across all ten folds, and planned how to test it more fairly. These are the four of us and our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talk in one slide. Phase 1: eleven studies report 96 to 99.9 percent accuracy, but most split images at random, so the same patient's cells can be in training and testing. Phase 2: we rebuilt the base paper from its own code and trained all ten folds. Our mean fold accuracy is 97.55 percent against the paper's 97.56, the ensemble is 97.62 against 98.29, and each fold took about eleven minutes instead of almost five hours. Next we test whether those numbers survive a fair, slide-level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short recap of Phase 1, our literature review, because it explains every choice we made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automate? Today malaria is confirmed by a technician looking at stained blood under a microscope. That is slow, it needs an expert who is often not available where malaria is common, and two people can read the same slide differently. Our goal is a deep-learning system that classifies single cells as parasitized or uninfected, accurately and consistently, and light enough to run at the point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everyone uses: the NIH malaria cell images. 27,558 single-cell crops, exactly half infected, from 200 patients in Bangladesh. You can see the difference in the samples: infected cells carry dark violet specks from the Giemsa stain. One caveat from the literature: some labels are noisy, and Fuhad et al. cleaned the set to 26,161 images. We keep the standard version so we can compare with our base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in one line. 2016: a custom CNN beat generic AlexNet features. 2018: researchers mapped which pre-trained layers transfer best. 2019 to 2022: ensembles, including our base paper at 98.29 percent. 2020: lightweight models that run on a phone. 2020 to 2024: better inputs like stain normalisation, capsule networks, and fairer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ideas from the eleven papers. Purpose-built features beat generic ones. Ensembles reduce variance. Models got small enough for a phone. Better inputs like stain normalisation, and capsule networks, pushed accuracy up. And recent work benchmarks fairly and finds light models match heavy ones. The takeaway: on clean, randomly split data the problem looks solved; the real questions are trust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eleven studies on one page. No need to read every row: the methods vary a lot, and reported accuracies cluster between 96 and almost 100 percent. Row 8, highlighted, is Marques et al., our base paper. The caveat at the bottom leads to the next slide: these numbers are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accuracy across the studies, with the axis starting at 94 percent so the differences are visible. Everyone lands between 96.5 and almost 100 percent. But read it with care: the papers use different splits, different versions of the labels, and many split images at random, which can leak one patient's cells into both training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that none of the eleven papers fully solves. One: patient-level leakage, which is the gap our hypothesis targets. Two: almost everything is trained on a single malaria species. Three: noisy labels. Four: real labs work with raw smears, not clean single-cell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gap turns into a design decision. Stain normalisation from Umer becomes our hypothesis H2. Patient-level validation from Rajaraman becomes H1. Verified labels and a lightweight model stay on the roadmap. But before changing anything, we need a baseline we trust, and that is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We reproduce the base paper, first from its text, then exactly from its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Marques et al. as our base paper. Four reasons: the authors published their executed code, they use the strictest validation in our review, the backbone is light, and 98.29 percent leaves room to measure whether a change helps. The bottom row shows the numbers we have to match, taken from the paper's own printed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reproduction, called A0, followed the paper's text. We trained three of the ten folds on Kaggle's free GPUs and got 97.38 percent mean fold accuracy and 97.57 percent for the small ensemble, within one point of the paper. But the text leaves out the augmentation, the epochs and the batch size, so we had guessed. That made us look for the authors' actual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published their executed notebook as a supplementary file, and it differs from what the text suggests in eight places. Different pretrained weights, a three-layer dense head with a two-unit softmax, label smoothing, batch size 16 for 33 epochs, a 20 percent hold-out set, and a much heavier augmentation pipeline. Our new notebook follows this code line by line, and 32 automated tests check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code also revealed two quirks. First, the same augmenting data generator fed training, test and validation, so every reported prediction was made on a randomly distorted image. We keep that for the headline numbers and also report clean-image results. Second, the text swaps precision and recall. From the paper's own printout, recall is 97.74 and precision 98.82. So when our first run said 'recall is 2 points lower', it was comparing against the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protocol exactly as the paper's code runs it. 27,558 images are split 80 to 20. The 22,046 learning images go through stratified ten-fold cross-validation, giving ten models. The 5,512 hold-out images are never used for training: each of the ten models predicts them, and the ensemble averages the ten softmax outputs. We seeded the split so all ten GPUs used exactly the same one, and each fold saved a fingerprint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An EfficientNet-B0 backbone with noisy-student pretrained weights: a stem convolution, sixteen MBConv blocks in seven stages, and a one-by-one convolution to 1,280 features. On top, the paper's head: global average pooling, then dense layers of 128, 64 and 32 units with dropout, and a two-unit softmax. 4,223,934 parameters in total, which matches the paper's Table 2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exactly as the authors did: Adam at 1e-4, the learning rate halves after six epochs without improvement, 33 epochs of 1,240 steps with batches of 16, and we keep the weights with the lowest validation loss. Augmentation creates a new random version of every image every epoch; the strip at the bottom shows one infected cell and five augmented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Mean fold accuracy 97.55 against the paper's 97.56. Single models on the hold-out set 97.37 against 97.69. The ten-model ensemble 97.62 against 98.29, and ROC-AUC 99.73 against 99.76. Every metric is within our one-point success criterion. Scoring the same models on clean images changes almost nothing, so the paper's augmented evaluation is not what drives its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by metric. Green differences are inside our one-point criterion, which is all nine. The largest gap is the ensemble at minus 0.67 points. On a test set of 5,512 images that is about three standard errors, so it is not all noise: the paper's split was not seeded and cannot be recreated, and it used an older TensorFlow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 by fold: light bars are the paper's Table 5, dark bars are ours. Every fold lands between 96.96 and 97.96 percent. The spread across folds is 0.30 points, much tighter than our first three-fold run. The best epoch varies from 16 to 33, which is why keeping the lowest-validation-loss checkpoint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curves for all ten folds, thin lines, and their mean, thick line. Validation accuracy climbs fast in the first ten epochs and then settles around 97.5 percent. Validation loss keeps drifting down while the learning rate halves, and we keep the epoch with the lowest validation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ensemble still makes mistakes. On 5,512 hold-out cells we miss 80 infected cells and wrongly flag 51 healthy ones; the paper reports 62 and 32. The ROC curve hugs the top-left corner with an AUC of 99.73 percent, so the model ranks cells almost perfectly. For diagnosis, a missed infection is the worse mistake, so recall is the metric we watch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trained so fast. Ten cloud GPUs, RTX 4090s on RunPod, one fold each, all at the same time. A fold took about eleven minutes; the paper needed almost five hours per fold and close to two days in total. The whole run cost about 4.8 dollars, and the ten trained models are published so nobody has to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engineering changes made this fast without changing the maths. We decode each image once into a shared cache. Augmentation runs in eleven parallel worker processes with fixed seeds, and limiting each worker to one math thread tripled throughput. Images travel to the GPU as bytes. The training step is compiled with XLA, 1.7 times faster. And we kept float32 like the paper, with 32 tests guarding the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hypothesis for the next milestone, one change at a time. H1: split by slide or patient instead of random images. We expect accuracy to drop, because the model can no longer recognise a slide it saw in training. H2: keep that honest split and add YUV histogram equalisation from Umer et al. We expect recall and MCC to recover, because stain colour stops being a shortcut. We also state in advance what result would prove us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plan. A0 is done, now the paper-exact ten-fold version. A1 removes leakage to test H1. A2 adds stain normalisation on top to test H2. A3 is a control on the random split. We report accuracy, recall, MCC and ROC-AUC as mean and standard deviation over the ten folds, with recall first. Both switches already exist in our code, and one ten-fold run takes about eleven minutes per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reproduced the paper from its own code within one point on every metric. We found and documented two quirks in the paper. We made training about 25 times faster per fold and published the models. Next, A1 to A3 test whether 97 to 98 percent holds on unseen slides.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eleven studies we reviewed. Reference 8 is our base paper by Marques et al.; its code is the Springer supplementary file MOESM1.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rtlCol="0"/>
          <a:lstStyle>
            <a:lvl1pPr algn="l" indent="0" marL="0">
              <a:buNone/>
              <a:defRPr lang="en-US" sz="1200" b="1" spc="15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Automated Malaria Cell Detection · Phase 2</a:t>
            </a:r>
            <a:endParaRPr lang="en-US" sz="10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3B43"/>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E3B4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10515600" cy="365760"/>
          </a:xfrm>
          <a:prstGeom prst="rect">
            <a:avLst/>
          </a:prstGeom>
          <a:noFill/>
          <a:ln/>
        </p:spPr>
        <p:txBody>
          <a:bodyPr wrap="square" rtlCol="0"/>
          <a:lstStyle>
            <a:lvl1pPr algn="l" indent="0" marL="0">
              <a:buNone/>
              <a:defRPr lang="en-US" sz="1600" b="1" spc="200" kern="0" dirty="0">
                <a:solidFill>
                  <a:schemeClr val="accent2"/>
                </a:solidFill>
              </a:defRPr>
            </a:lvl1pPr>
          </a:lstStyle>
          <a:p>
            <a:pPr algn="l" indent="0" marL="0">
              <a:buNone/>
            </a:pPr>
            <a:endParaRPr lang="en-US" sz="1600" dirty="0"/>
          </a:p>
        </p:txBody>
      </p:sp>
      <p:sp>
        <p:nvSpPr>
          <p:cNvPr id="3" name="Text 0"/>
          <p:cNvSpPr/>
          <p:nvPr>
            <p:ph idx="101" type="title" hasCustomPrompt="1"/>
          </p:nvPr>
        </p:nvSpPr>
        <p:spPr>
          <a:xfrm>
            <a:off x="822960" y="2743200"/>
            <a:ext cx="1051560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794760"/>
            <a:ext cx="10058400" cy="82296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5-1.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960120"/>
            <a:ext cx="10515600" cy="365760"/>
          </a:xfrm>
          <a:prstGeom prst="rect">
            <a:avLst/>
          </a:prstGeom>
          <a:noFill/>
          <a:ln/>
        </p:spPr>
        <p:txBody>
          <a:bodyPr wrap="square" lIns="0" tIns="0" rIns="0" bIns="0" rtlCol="0" anchor="t"/>
          <a:lstStyle/>
          <a:p>
            <a:pPr indent="0" marL="0">
              <a:buNone/>
            </a:pPr>
            <a:r>
              <a:rPr lang="en-US" sz="1500" b="1" spc="200" kern="0" dirty="0">
                <a:solidFill>
                  <a:schemeClr val="accent2"/>
                </a:solidFill>
              </a:rPr>
              <a:t>PHASE 2 · DEEP LEARNING FOR COMPUTER-AIDED DIAGNOSIS</a:t>
            </a:r>
            <a:endParaRPr lang="en-US" sz="1500" dirty="0"/>
          </a:p>
        </p:txBody>
      </p:sp>
      <p:sp>
        <p:nvSpPr>
          <p:cNvPr id="3" name="Text 1"/>
          <p:cNvSpPr txBox="1"/>
          <p:nvPr/>
        </p:nvSpPr>
        <p:spPr>
          <a:xfrm>
            <a:off x="822960" y="1371600"/>
            <a:ext cx="10607040" cy="1005840"/>
          </a:xfrm>
          <a:prstGeom prst="rect">
            <a:avLst/>
          </a:prstGeom>
          <a:noFill/>
          <a:ln/>
        </p:spPr>
        <p:txBody>
          <a:bodyPr wrap="square" lIns="0" tIns="0" rIns="0" bIns="0" rtlCol="0" anchor="t"/>
          <a:lstStyle/>
          <a:p>
            <a:pPr indent="0" marL="0">
              <a:buNone/>
            </a:pPr>
            <a:r>
              <a:rPr lang="en-US" sz="4800" b="1" dirty="0">
                <a:solidFill>
                  <a:schemeClr val="bg1"/>
                </a:solidFill>
                <a:latin typeface="Calibri" pitchFamily="34" charset="0"/>
                <a:ea typeface="Calibri" pitchFamily="34" charset="-122"/>
                <a:cs typeface="Calibri" pitchFamily="34" charset="-120"/>
              </a:rPr>
              <a:t>Automated Malaria Cell Detection</a:t>
            </a:r>
            <a:endParaRPr lang="en-US" sz="4800" dirty="0"/>
          </a:p>
        </p:txBody>
      </p:sp>
      <p:sp>
        <p:nvSpPr>
          <p:cNvPr id="4" name="Text 2"/>
          <p:cNvSpPr txBox="1"/>
          <p:nvPr/>
        </p:nvSpPr>
        <p:spPr>
          <a:xfrm>
            <a:off x="822960" y="2423160"/>
            <a:ext cx="9875520" cy="914400"/>
          </a:xfrm>
          <a:prstGeom prst="rect">
            <a:avLst/>
          </a:prstGeom>
          <a:noFill/>
          <a:ln/>
        </p:spPr>
        <p:txBody>
          <a:bodyPr wrap="square" lIns="0" tIns="0" rIns="0" bIns="0" rtlCol="0" anchor="t"/>
          <a:lstStyle/>
          <a:p>
            <a:pPr indent="0" marL="0">
              <a:buNone/>
            </a:pPr>
            <a:r>
              <a:rPr lang="en-US" sz="2000" dirty="0">
                <a:solidFill>
                  <a:schemeClr val="accent2"/>
                </a:solidFill>
              </a:rPr>
              <a:t>Reproducing an EfficientNet-B0 ensemble on the NIH cell images exactly as the paper's code ran it, across all 10 folds, and planning a fairer test</a:t>
            </a:r>
            <a:endParaRPr lang="en-US" sz="2000" dirty="0"/>
          </a:p>
        </p:txBody>
      </p:sp>
      <p:sp>
        <p:nvSpPr>
          <p:cNvPr id="5" name="Shape 3"/>
          <p:cNvSpPr/>
          <p:nvPr/>
        </p:nvSpPr>
        <p:spPr>
          <a:xfrm>
            <a:off x="822960" y="4206240"/>
            <a:ext cx="566928" cy="566928"/>
          </a:xfrm>
          <a:prstGeom prst="ellipse">
            <a:avLst/>
          </a:prstGeom>
          <a:solidFill>
            <a:schemeClr val="accent1"/>
          </a:solidFill>
          <a:ln w="6350">
            <a:solidFill>
              <a:schemeClr val="accent1"/>
            </a:solidFill>
            <a:prstDash val="solid"/>
          </a:ln>
        </p:spPr>
      </p:sp>
      <p:sp>
        <p:nvSpPr>
          <p:cNvPr id="6" name="Text 4"/>
          <p:cNvSpPr txBox="1"/>
          <p:nvPr/>
        </p:nvSpPr>
        <p:spPr>
          <a:xfrm>
            <a:off x="82296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AJ</a:t>
            </a:r>
            <a:endParaRPr lang="en-US" sz="1600" dirty="0"/>
          </a:p>
        </p:txBody>
      </p:sp>
      <p:sp>
        <p:nvSpPr>
          <p:cNvPr id="7" name="Text 5"/>
          <p:cNvSpPr txBox="1"/>
          <p:nvPr/>
        </p:nvSpPr>
        <p:spPr>
          <a:xfrm>
            <a:off x="153619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J Amathziah</a:t>
            </a:r>
            <a:endParaRPr lang="en-US" sz="1500" dirty="0"/>
          </a:p>
          <a:p>
            <a:pPr indent="0" marL="0">
              <a:buNone/>
            </a:pPr>
            <a:r>
              <a:rPr lang="en-US" sz="1200" dirty="0">
                <a:solidFill>
                  <a:schemeClr val="accent2"/>
                </a:solidFill>
              </a:rPr>
              <a:t>230139 · Kaggle runs, repository</a:t>
            </a:r>
            <a:endParaRPr lang="en-US" sz="1500" dirty="0"/>
          </a:p>
        </p:txBody>
      </p:sp>
      <p:sp>
        <p:nvSpPr>
          <p:cNvPr id="8" name="Shape 6"/>
          <p:cNvSpPr/>
          <p:nvPr/>
        </p:nvSpPr>
        <p:spPr>
          <a:xfrm>
            <a:off x="3520440" y="4206240"/>
            <a:ext cx="566928" cy="566928"/>
          </a:xfrm>
          <a:prstGeom prst="ellipse">
            <a:avLst/>
          </a:prstGeom>
          <a:solidFill>
            <a:schemeClr val="accent1"/>
          </a:solidFill>
          <a:ln w="6350">
            <a:solidFill>
              <a:schemeClr val="accent1"/>
            </a:solidFill>
            <a:prstDash val="solid"/>
          </a:ln>
        </p:spPr>
      </p:sp>
      <p:sp>
        <p:nvSpPr>
          <p:cNvPr id="9" name="Text 7"/>
          <p:cNvSpPr txBox="1"/>
          <p:nvPr/>
        </p:nvSpPr>
        <p:spPr>
          <a:xfrm>
            <a:off x="352044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MM</a:t>
            </a:r>
            <a:endParaRPr lang="en-US" sz="1600" dirty="0"/>
          </a:p>
        </p:txBody>
      </p:sp>
      <p:sp>
        <p:nvSpPr>
          <p:cNvPr id="10" name="Text 8"/>
          <p:cNvSpPr txBox="1"/>
          <p:nvPr/>
        </p:nvSpPr>
        <p:spPr>
          <a:xfrm>
            <a:off x="423367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C Murali Madhav</a:t>
            </a:r>
            <a:endParaRPr lang="en-US" sz="1500" dirty="0"/>
          </a:p>
          <a:p>
            <a:pPr indent="0" marL="0">
              <a:buNone/>
            </a:pPr>
            <a:r>
              <a:rPr lang="en-US" sz="1200" dirty="0">
                <a:solidFill>
                  <a:schemeClr val="accent2"/>
                </a:solidFill>
              </a:rPr>
              <a:t>230115 · Code: notebook, scripts</a:t>
            </a:r>
            <a:endParaRPr lang="en-US" sz="1500" dirty="0"/>
          </a:p>
        </p:txBody>
      </p:sp>
      <p:sp>
        <p:nvSpPr>
          <p:cNvPr id="11" name="Shape 9"/>
          <p:cNvSpPr/>
          <p:nvPr/>
        </p:nvSpPr>
        <p:spPr>
          <a:xfrm>
            <a:off x="6217920" y="4206240"/>
            <a:ext cx="566928" cy="566928"/>
          </a:xfrm>
          <a:prstGeom prst="ellipse">
            <a:avLst/>
          </a:prstGeom>
          <a:solidFill>
            <a:schemeClr val="accent1"/>
          </a:solidFill>
          <a:ln w="6350">
            <a:solidFill>
              <a:schemeClr val="accent1"/>
            </a:solidFill>
            <a:prstDash val="solid"/>
          </a:ln>
        </p:spPr>
      </p:sp>
      <p:sp>
        <p:nvSpPr>
          <p:cNvPr id="12" name="Text 10"/>
          <p:cNvSpPr txBox="1"/>
          <p:nvPr/>
        </p:nvSpPr>
        <p:spPr>
          <a:xfrm>
            <a:off x="621792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RY</a:t>
            </a:r>
            <a:endParaRPr lang="en-US" sz="1600" dirty="0"/>
          </a:p>
        </p:txBody>
      </p:sp>
      <p:sp>
        <p:nvSpPr>
          <p:cNvPr id="13" name="Text 11"/>
          <p:cNvSpPr txBox="1"/>
          <p:nvPr/>
        </p:nvSpPr>
        <p:spPr>
          <a:xfrm>
            <a:off x="693115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Ravi Yadav</a:t>
            </a:r>
            <a:endParaRPr lang="en-US" sz="1500" dirty="0"/>
          </a:p>
          <a:p>
            <a:pPr indent="0" marL="0">
              <a:buNone/>
            </a:pPr>
            <a:r>
              <a:rPr lang="en-US" sz="1200" dirty="0">
                <a:solidFill>
                  <a:schemeClr val="accent2"/>
                </a:solidFill>
              </a:rPr>
              <a:t>230131 · Slides</a:t>
            </a:r>
            <a:endParaRPr lang="en-US" sz="1500" dirty="0"/>
          </a:p>
        </p:txBody>
      </p:sp>
      <p:sp>
        <p:nvSpPr>
          <p:cNvPr id="14" name="Shape 12"/>
          <p:cNvSpPr/>
          <p:nvPr/>
        </p:nvSpPr>
        <p:spPr>
          <a:xfrm>
            <a:off x="8915400" y="4206240"/>
            <a:ext cx="566928" cy="566928"/>
          </a:xfrm>
          <a:prstGeom prst="ellipse">
            <a:avLst/>
          </a:prstGeom>
          <a:solidFill>
            <a:schemeClr val="accent1"/>
          </a:solidFill>
          <a:ln w="6350">
            <a:solidFill>
              <a:schemeClr val="accent1"/>
            </a:solidFill>
            <a:prstDash val="solid"/>
          </a:ln>
        </p:spPr>
      </p:sp>
      <p:sp>
        <p:nvSpPr>
          <p:cNvPr id="15" name="Text 13"/>
          <p:cNvSpPr txBox="1"/>
          <p:nvPr/>
        </p:nvSpPr>
        <p:spPr>
          <a:xfrm>
            <a:off x="891540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PJ</a:t>
            </a:r>
            <a:endParaRPr lang="en-US" sz="1600" dirty="0"/>
          </a:p>
        </p:txBody>
      </p:sp>
      <p:sp>
        <p:nvSpPr>
          <p:cNvPr id="16" name="Text 14"/>
          <p:cNvSpPr txBox="1"/>
          <p:nvPr/>
        </p:nvSpPr>
        <p:spPr>
          <a:xfrm>
            <a:off x="962863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Pugazhendhi J</a:t>
            </a:r>
            <a:endParaRPr lang="en-US" sz="1500" dirty="0"/>
          </a:p>
          <a:p>
            <a:pPr indent="0" marL="0">
              <a:buNone/>
            </a:pPr>
            <a:r>
              <a:rPr lang="en-US" sz="1200" dirty="0">
                <a:solidFill>
                  <a:schemeClr val="accent2"/>
                </a:solidFill>
              </a:rPr>
              <a:t>230066 · Report</a:t>
            </a:r>
            <a:endParaRPr lang="en-US" sz="1500" dirty="0"/>
          </a:p>
        </p:txBody>
      </p:sp>
      <p:sp>
        <p:nvSpPr>
          <p:cNvPr id="17" name="Text 15"/>
          <p:cNvSpPr txBox="1"/>
          <p:nvPr/>
        </p:nvSpPr>
        <p:spPr>
          <a:xfrm>
            <a:off x="822960" y="5989320"/>
            <a:ext cx="10515600" cy="320040"/>
          </a:xfrm>
          <a:prstGeom prst="rect">
            <a:avLst/>
          </a:prstGeom>
          <a:noFill/>
          <a:ln/>
        </p:spPr>
        <p:txBody>
          <a:bodyPr wrap="square" lIns="0" tIns="0" rIns="0" bIns="0" rtlCol="0" anchor="t"/>
          <a:lstStyle/>
          <a:p>
            <a:pPr indent="0" marL="0">
              <a:buNone/>
            </a:pPr>
            <a:r>
              <a:rPr lang="en-US" sz="1200" dirty="0">
                <a:solidFill>
                  <a:schemeClr val="accent2"/>
                </a:solidFill>
              </a:rPr>
              <a:t>Department of Computer Science · Rishihood University, Sonipat, India  ·  github.com/amathziah/malaria-detection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 ONE SLIDE</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What we did after Phase 1, and what we found</a:t>
            </a:r>
            <a:endParaRPr lang="en-US" sz="3200" dirty="0"/>
          </a:p>
        </p:txBody>
      </p:sp>
      <p:sp>
        <p:nvSpPr>
          <p:cNvPr id="4" name="Shape 2"/>
          <p:cNvSpPr/>
          <p:nvPr/>
        </p:nvSpPr>
        <p:spPr>
          <a:xfrm>
            <a:off x="548640" y="169164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67695" y="1810695"/>
            <a:ext cx="328818" cy="328818"/>
          </a:xfrm>
          <a:prstGeom prst="rect">
            <a:avLst/>
          </a:prstGeom>
        </p:spPr>
      </p:pic>
      <p:sp>
        <p:nvSpPr>
          <p:cNvPr id="6" name="Text 3"/>
          <p:cNvSpPr txBox="1"/>
          <p:nvPr/>
        </p:nvSpPr>
        <p:spPr>
          <a:xfrm>
            <a:off x="134416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Phase 1 · reviewed 11 studies</a:t>
            </a:r>
            <a:endParaRPr lang="en-US" sz="1400" dirty="0"/>
          </a:p>
          <a:p>
            <a:pPr indent="0" marL="0">
              <a:spcAft>
                <a:spcPts val="300"/>
              </a:spcAft>
              <a:buNone/>
            </a:pPr>
            <a:r>
              <a:rPr lang="en-US" sz="1400" dirty="0">
                <a:solidFill>
                  <a:schemeClr val="tx1"/>
                </a:solidFill>
              </a:rPr>
              <a:t>Accuracy on the NIH cells is reported at 96–99.9 %, but most studies split images at random, so one patient's cells sit in both training and testing.</a:t>
            </a:r>
            <a:endParaRPr lang="en-US" sz="1400" dirty="0"/>
          </a:p>
        </p:txBody>
      </p:sp>
      <p:sp>
        <p:nvSpPr>
          <p:cNvPr id="7" name="Shape 4"/>
          <p:cNvSpPr/>
          <p:nvPr/>
        </p:nvSpPr>
        <p:spPr>
          <a:xfrm>
            <a:off x="4297680" y="169164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4416735" y="1810695"/>
            <a:ext cx="328818" cy="328818"/>
          </a:xfrm>
          <a:prstGeom prst="rect">
            <a:avLst/>
          </a:prstGeom>
        </p:spPr>
      </p:pic>
      <p:sp>
        <p:nvSpPr>
          <p:cNvPr id="9" name="Text 5"/>
          <p:cNvSpPr txBox="1"/>
          <p:nvPr/>
        </p:nvSpPr>
        <p:spPr>
          <a:xfrm>
            <a:off x="509320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Phase 2 · reproduced the base paper</a:t>
            </a:r>
            <a:endParaRPr lang="en-US" sz="1400" dirty="0"/>
          </a:p>
          <a:p>
            <a:pPr indent="0" marL="0">
              <a:spcAft>
                <a:spcPts val="300"/>
              </a:spcAft>
              <a:buNone/>
            </a:pPr>
            <a:r>
              <a:rPr lang="en-US" sz="1400" dirty="0">
                <a:solidFill>
                  <a:schemeClr val="tx1"/>
                </a:solidFill>
              </a:rPr>
              <a:t>Marques et al. (2022): EfficientNet-B0 + a 10-fold ensemble. We rebuilt it from the authors' own code and trained all 10 folds.</a:t>
            </a:r>
            <a:endParaRPr lang="en-US" sz="1400" dirty="0"/>
          </a:p>
        </p:txBody>
      </p:sp>
      <p:sp>
        <p:nvSpPr>
          <p:cNvPr id="10" name="Shape 6"/>
          <p:cNvSpPr/>
          <p:nvPr/>
        </p:nvSpPr>
        <p:spPr>
          <a:xfrm>
            <a:off x="8046720" y="16916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8165775" y="1810695"/>
            <a:ext cx="328818" cy="328818"/>
          </a:xfrm>
          <a:prstGeom prst="rect">
            <a:avLst/>
          </a:prstGeom>
        </p:spPr>
      </p:pic>
      <p:sp>
        <p:nvSpPr>
          <p:cNvPr id="12" name="Text 7"/>
          <p:cNvSpPr txBox="1"/>
          <p:nvPr/>
        </p:nvSpPr>
        <p:spPr>
          <a:xfrm>
            <a:off x="884224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Next · test it fairly</a:t>
            </a:r>
            <a:endParaRPr lang="en-US" sz="1400" dirty="0"/>
          </a:p>
          <a:p>
            <a:pPr indent="0" marL="0">
              <a:spcAft>
                <a:spcPts val="300"/>
              </a:spcAft>
              <a:buNone/>
            </a:pPr>
            <a:r>
              <a:rPr lang="en-US" sz="1400" dirty="0">
                <a:solidFill>
                  <a:schemeClr val="tx1"/>
                </a:solidFill>
              </a:rPr>
              <a:t>H1: does accuracy drop once slide-level leakage is removed? H2: does YUV stain normalisation win it back?</a:t>
            </a:r>
            <a:endParaRPr lang="en-US" sz="1400" dirty="0"/>
          </a:p>
        </p:txBody>
      </p:sp>
      <p:sp>
        <p:nvSpPr>
          <p:cNvPr id="13" name="Shape 8"/>
          <p:cNvSpPr/>
          <p:nvPr/>
        </p:nvSpPr>
        <p:spPr>
          <a:xfrm>
            <a:off x="548640" y="3794760"/>
            <a:ext cx="2615184" cy="1600200"/>
          </a:xfrm>
          <a:prstGeom prst="roundRect">
            <a:avLst>
              <a:gd name="adj" fmla="val 4571"/>
            </a:avLst>
          </a:prstGeom>
          <a:solidFill>
            <a:schemeClr val="bg2"/>
          </a:solidFill>
          <a:ln w="9525">
            <a:solidFill>
              <a:schemeClr val="bg2"/>
            </a:solidFill>
            <a:prstDash val="solid"/>
          </a:ln>
        </p:spPr>
      </p:sp>
      <p:sp>
        <p:nvSpPr>
          <p:cNvPr id="14" name="Text 9"/>
          <p:cNvSpPr txBox="1"/>
          <p:nvPr/>
        </p:nvSpPr>
        <p:spPr>
          <a:xfrm>
            <a:off x="777240"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97.55 %</a:t>
            </a:r>
            <a:endParaRPr lang="en-US" sz="3600" dirty="0"/>
          </a:p>
        </p:txBody>
      </p:sp>
      <p:sp>
        <p:nvSpPr>
          <p:cNvPr id="15" name="Text 10"/>
          <p:cNvSpPr txBox="1"/>
          <p:nvPr/>
        </p:nvSpPr>
        <p:spPr>
          <a:xfrm>
            <a:off x="777240"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mean fold accuracy</a:t>
            </a:r>
            <a:endParaRPr lang="en-US" sz="1400" dirty="0"/>
          </a:p>
        </p:txBody>
      </p:sp>
      <p:sp>
        <p:nvSpPr>
          <p:cNvPr id="16" name="Text 11"/>
          <p:cNvSpPr txBox="1"/>
          <p:nvPr/>
        </p:nvSpPr>
        <p:spPr>
          <a:xfrm>
            <a:off x="777240"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97.56 % · Δ −0.01 pp</a:t>
            </a:r>
            <a:endParaRPr lang="en-US" sz="1200" dirty="0"/>
          </a:p>
        </p:txBody>
      </p:sp>
      <p:sp>
        <p:nvSpPr>
          <p:cNvPr id="17" name="Shape 12"/>
          <p:cNvSpPr/>
          <p:nvPr/>
        </p:nvSpPr>
        <p:spPr>
          <a:xfrm>
            <a:off x="3346704" y="3794760"/>
            <a:ext cx="2615184" cy="1600200"/>
          </a:xfrm>
          <a:prstGeom prst="roundRect">
            <a:avLst>
              <a:gd name="adj" fmla="val 4571"/>
            </a:avLst>
          </a:prstGeom>
          <a:solidFill>
            <a:schemeClr val="bg2"/>
          </a:solidFill>
          <a:ln w="9525">
            <a:solidFill>
              <a:schemeClr val="bg2"/>
            </a:solidFill>
            <a:prstDash val="solid"/>
          </a:ln>
        </p:spPr>
      </p:sp>
      <p:sp>
        <p:nvSpPr>
          <p:cNvPr id="18" name="Text 13"/>
          <p:cNvSpPr txBox="1"/>
          <p:nvPr/>
        </p:nvSpPr>
        <p:spPr>
          <a:xfrm>
            <a:off x="3575304"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97.62 %</a:t>
            </a:r>
            <a:endParaRPr lang="en-US" sz="3600" dirty="0"/>
          </a:p>
        </p:txBody>
      </p:sp>
      <p:sp>
        <p:nvSpPr>
          <p:cNvPr id="19" name="Text 14"/>
          <p:cNvSpPr txBox="1"/>
          <p:nvPr/>
        </p:nvSpPr>
        <p:spPr>
          <a:xfrm>
            <a:off x="3575304"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10-model ensemble</a:t>
            </a:r>
            <a:endParaRPr lang="en-US" sz="1400" dirty="0"/>
          </a:p>
        </p:txBody>
      </p:sp>
      <p:sp>
        <p:nvSpPr>
          <p:cNvPr id="20" name="Text 15"/>
          <p:cNvSpPr txBox="1"/>
          <p:nvPr/>
        </p:nvSpPr>
        <p:spPr>
          <a:xfrm>
            <a:off x="3575304"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98.29 % · Δ −0.67 pp</a:t>
            </a:r>
            <a:endParaRPr lang="en-US" sz="1200" dirty="0"/>
          </a:p>
        </p:txBody>
      </p:sp>
      <p:sp>
        <p:nvSpPr>
          <p:cNvPr id="21" name="Shape 16"/>
          <p:cNvSpPr/>
          <p:nvPr/>
        </p:nvSpPr>
        <p:spPr>
          <a:xfrm>
            <a:off x="6144768" y="3794760"/>
            <a:ext cx="2615184" cy="1600200"/>
          </a:xfrm>
          <a:prstGeom prst="roundRect">
            <a:avLst>
              <a:gd name="adj" fmla="val 4571"/>
            </a:avLst>
          </a:prstGeom>
          <a:solidFill>
            <a:schemeClr val="bg2"/>
          </a:solidFill>
          <a:ln w="9525">
            <a:solidFill>
              <a:schemeClr val="bg2"/>
            </a:solidFill>
            <a:prstDash val="solid"/>
          </a:ln>
        </p:spPr>
      </p:sp>
      <p:sp>
        <p:nvSpPr>
          <p:cNvPr id="22" name="Text 17"/>
          <p:cNvSpPr txBox="1"/>
          <p:nvPr/>
        </p:nvSpPr>
        <p:spPr>
          <a:xfrm>
            <a:off x="6373368"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99.73 %</a:t>
            </a:r>
            <a:endParaRPr lang="en-US" sz="3600" dirty="0"/>
          </a:p>
        </p:txBody>
      </p:sp>
      <p:sp>
        <p:nvSpPr>
          <p:cNvPr id="23" name="Text 18"/>
          <p:cNvSpPr txBox="1"/>
          <p:nvPr/>
        </p:nvSpPr>
        <p:spPr>
          <a:xfrm>
            <a:off x="6373368"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ensemble ROC-AUC</a:t>
            </a:r>
            <a:endParaRPr lang="en-US" sz="1400" dirty="0"/>
          </a:p>
        </p:txBody>
      </p:sp>
      <p:sp>
        <p:nvSpPr>
          <p:cNvPr id="24" name="Text 19"/>
          <p:cNvSpPr txBox="1"/>
          <p:nvPr/>
        </p:nvSpPr>
        <p:spPr>
          <a:xfrm>
            <a:off x="6373368"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99.76 % · Δ −0.03 pp</a:t>
            </a:r>
            <a:endParaRPr lang="en-US" sz="1200" dirty="0"/>
          </a:p>
        </p:txBody>
      </p:sp>
      <p:sp>
        <p:nvSpPr>
          <p:cNvPr id="25" name="Shape 20"/>
          <p:cNvSpPr/>
          <p:nvPr/>
        </p:nvSpPr>
        <p:spPr>
          <a:xfrm>
            <a:off x="8942832" y="3794760"/>
            <a:ext cx="2615184" cy="1600200"/>
          </a:xfrm>
          <a:prstGeom prst="roundRect">
            <a:avLst>
              <a:gd name="adj" fmla="val 4571"/>
            </a:avLst>
          </a:prstGeom>
          <a:solidFill>
            <a:schemeClr val="bg2"/>
          </a:solidFill>
          <a:ln w="9525">
            <a:solidFill>
              <a:schemeClr val="bg2"/>
            </a:solidFill>
            <a:prstDash val="solid"/>
          </a:ln>
        </p:spPr>
      </p:sp>
      <p:sp>
        <p:nvSpPr>
          <p:cNvPr id="26" name="Text 21"/>
          <p:cNvSpPr txBox="1"/>
          <p:nvPr/>
        </p:nvSpPr>
        <p:spPr>
          <a:xfrm>
            <a:off x="9171432"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 11 min</a:t>
            </a:r>
            <a:endParaRPr lang="en-US" sz="3600" dirty="0"/>
          </a:p>
        </p:txBody>
      </p:sp>
      <p:sp>
        <p:nvSpPr>
          <p:cNvPr id="27" name="Text 22"/>
          <p:cNvSpPr txBox="1"/>
          <p:nvPr/>
        </p:nvSpPr>
        <p:spPr>
          <a:xfrm>
            <a:off x="9171432"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per fold on an RTX 4090</a:t>
            </a:r>
            <a:endParaRPr lang="en-US" sz="1400" dirty="0"/>
          </a:p>
        </p:txBody>
      </p:sp>
      <p:sp>
        <p:nvSpPr>
          <p:cNvPr id="28" name="Text 23"/>
          <p:cNvSpPr txBox="1"/>
          <p:nvPr/>
        </p:nvSpPr>
        <p:spPr>
          <a:xfrm>
            <a:off x="9171432"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 4 h 46 min per fold</a:t>
            </a:r>
            <a:endParaRPr lang="en-US" sz="1200" dirty="0"/>
          </a:p>
        </p:txBody>
      </p:sp>
      <p:sp>
        <p:nvSpPr>
          <p:cNvPr id="29" name="Text 24"/>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300" dirty="0">
                <a:solidFill>
                  <a:schemeClr val="accent6"/>
                </a:solidFill>
              </a:rPr>
              <a:t>All 10 folds within 1 percentage point of the paper. Every metric is computed from the saved predictions in results/A0_10fold_paper/.</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10515600" cy="365760"/>
          </a:xfrm>
          <a:prstGeom prst="rect">
            <a:avLst/>
          </a:prstGeom>
          <a:noFill/>
          <a:ln/>
        </p:spPr>
        <p:txBody>
          <a:bodyPr wrap="square" lIns="0" tIns="0" rIns="0" bIns="0" rtlCol="0"/>
          <a:lstStyle/>
          <a:p>
            <a:pPr algn="l" indent="0" marL="0">
              <a:buNone/>
            </a:pPr>
            <a:r>
              <a:rPr lang="en-US" sz="1600" b="1" spc="200" kern="0" dirty="0">
                <a:solidFill>
                  <a:schemeClr val="accent2"/>
                </a:solidFill>
              </a:rPr>
              <a:t>PHASE 1</a:t>
            </a:r>
            <a:endParaRPr lang="en-US" sz="1600" dirty="0"/>
          </a:p>
        </p:txBody>
      </p:sp>
      <p:sp>
        <p:nvSpPr>
          <p:cNvPr id="3" name="Text 0"/>
          <p:cNvSpPr/>
          <p:nvPr>
            <p:ph idx="101" type="title" hasCustomPrompt="1"/>
          </p:nvPr>
        </p:nvSpPr>
        <p:spPr>
          <a:xfrm>
            <a:off x="822960" y="274320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What the literature says</a:t>
            </a:r>
            <a:endParaRPr lang="en-US" sz="4400" dirty="0"/>
          </a:p>
        </p:txBody>
      </p:sp>
      <p:sp>
        <p:nvSpPr>
          <p:cNvPr id="4" name="Text 0"/>
          <p:cNvSpPr/>
          <p:nvPr>
            <p:ph idx="102" type="body" hasCustomPrompt="1"/>
          </p:nvPr>
        </p:nvSpPr>
        <p:spPr>
          <a:xfrm>
            <a:off x="822960" y="3794760"/>
            <a:ext cx="10058400" cy="822960"/>
          </a:xfrm>
          <a:prstGeom prst="rect">
            <a:avLst/>
          </a:prstGeom>
          <a:noFill/>
          <a:ln/>
        </p:spPr>
        <p:txBody>
          <a:bodyPr wrap="square" lIns="0" tIns="0" rIns="0" bIns="0" rtlCol="0" anchor="t"/>
          <a:lstStyle/>
          <a:p>
            <a:pPr algn="l" indent="0" marL="0">
              <a:buNone/>
            </a:pPr>
            <a:r>
              <a:rPr lang="en-US" sz="1800" dirty="0">
                <a:solidFill>
                  <a:schemeClr val="accent2"/>
                </a:solidFill>
              </a:rPr>
              <a:t>Eleven studies on automated malaria detection with the NIH cell images, 2016–2024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MOTIVATION</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Why malaria diagnosis needs automation</a:t>
            </a:r>
            <a:endParaRPr lang="en-US" sz="3200" dirty="0"/>
          </a:p>
        </p:txBody>
      </p:sp>
      <p:sp>
        <p:nvSpPr>
          <p:cNvPr id="4" name="Text 2"/>
          <p:cNvSpPr txBox="1"/>
          <p:nvPr/>
        </p:nvSpPr>
        <p:spPr>
          <a:xfrm>
            <a:off x="548640" y="1508760"/>
            <a:ext cx="5669280" cy="777240"/>
          </a:xfrm>
          <a:prstGeom prst="rect">
            <a:avLst/>
          </a:prstGeom>
          <a:noFill/>
          <a:ln/>
        </p:spPr>
        <p:txBody>
          <a:bodyPr wrap="square" lIns="0" tIns="0" rIns="0" bIns="0" rtlCol="0" anchor="t"/>
          <a:lstStyle/>
          <a:p>
            <a:pPr indent="0" marL="0">
              <a:buNone/>
            </a:pPr>
            <a:r>
              <a:rPr lang="en-US" sz="1500" dirty="0">
                <a:solidFill>
                  <a:schemeClr val="tx1"/>
                </a:solidFill>
              </a:rPr>
              <a:t>The gold standard is manual microscopy of Giemsa-stained blood smears: a technician checks every cell for parasites. It works, but it doesn't scale.</a:t>
            </a:r>
            <a:endParaRPr lang="en-US" sz="1500" dirty="0"/>
          </a:p>
        </p:txBody>
      </p:sp>
      <p:sp>
        <p:nvSpPr>
          <p:cNvPr id="5" name="Shape 3"/>
          <p:cNvSpPr/>
          <p:nvPr/>
        </p:nvSpPr>
        <p:spPr>
          <a:xfrm>
            <a:off x="548640" y="2468880"/>
            <a:ext cx="566928" cy="566928"/>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67695" y="2587935"/>
            <a:ext cx="328818" cy="328818"/>
          </a:xfrm>
          <a:prstGeom prst="rect">
            <a:avLst/>
          </a:prstGeom>
        </p:spPr>
      </p:pic>
      <p:sp>
        <p:nvSpPr>
          <p:cNvPr id="7" name="Text 4"/>
          <p:cNvSpPr txBox="1"/>
          <p:nvPr/>
        </p:nvSpPr>
        <p:spPr>
          <a:xfrm>
            <a:off x="1344168" y="2432304"/>
            <a:ext cx="4873752"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Slow and laborious</a:t>
            </a:r>
            <a:endParaRPr lang="en-US" sz="1400" dirty="0"/>
          </a:p>
          <a:p>
            <a:pPr indent="0" marL="0">
              <a:spcAft>
                <a:spcPts val="300"/>
              </a:spcAft>
              <a:buNone/>
            </a:pPr>
            <a:r>
              <a:rPr lang="en-US" sz="1400" dirty="0">
                <a:solidFill>
                  <a:schemeClr val="tx1"/>
                </a:solidFill>
              </a:rPr>
              <a:t>Each slide holds hundreds of cells, counted one by one.</a:t>
            </a:r>
            <a:endParaRPr lang="en-US" sz="1400" dirty="0"/>
          </a:p>
        </p:txBody>
      </p:sp>
      <p:sp>
        <p:nvSpPr>
          <p:cNvPr id="8" name="Shape 5"/>
          <p:cNvSpPr/>
          <p:nvPr/>
        </p:nvSpPr>
        <p:spPr>
          <a:xfrm>
            <a:off x="548640" y="3520440"/>
            <a:ext cx="566928" cy="566928"/>
          </a:xfrm>
          <a:prstGeom prst="ellipse">
            <a:avLst/>
          </a:prstGeom>
          <a:solidFill>
            <a:schemeClr val="accent1"/>
          </a:solidFill>
          <a:ln w="635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667695" y="3639495"/>
            <a:ext cx="328818" cy="328818"/>
          </a:xfrm>
          <a:prstGeom prst="rect">
            <a:avLst/>
          </a:prstGeom>
        </p:spPr>
      </p:pic>
      <p:sp>
        <p:nvSpPr>
          <p:cNvPr id="10" name="Text 6"/>
          <p:cNvSpPr txBox="1"/>
          <p:nvPr/>
        </p:nvSpPr>
        <p:spPr>
          <a:xfrm>
            <a:off x="1344168" y="3483864"/>
            <a:ext cx="4873752"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Expert-dependent</a:t>
            </a:r>
            <a:endParaRPr lang="en-US" sz="1400" dirty="0"/>
          </a:p>
          <a:p>
            <a:pPr indent="0" marL="0">
              <a:spcAft>
                <a:spcPts val="300"/>
              </a:spcAft>
              <a:buNone/>
            </a:pPr>
            <a:r>
              <a:rPr lang="en-US" sz="1400" dirty="0">
                <a:solidFill>
                  <a:schemeClr val="tx1"/>
                </a:solidFill>
              </a:rPr>
              <a:t>Needs a trained microscopist: scarce where malaria is common.</a:t>
            </a:r>
            <a:endParaRPr lang="en-US" sz="1400" dirty="0"/>
          </a:p>
        </p:txBody>
      </p:sp>
      <p:sp>
        <p:nvSpPr>
          <p:cNvPr id="11" name="Shape 7"/>
          <p:cNvSpPr/>
          <p:nvPr/>
        </p:nvSpPr>
        <p:spPr>
          <a:xfrm>
            <a:off x="548640" y="4572000"/>
            <a:ext cx="566928" cy="566928"/>
          </a:xfrm>
          <a:prstGeom prst="ellipse">
            <a:avLst/>
          </a:prstGeom>
          <a:solidFill>
            <a:schemeClr val="accent1"/>
          </a:solidFill>
          <a:ln w="635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67695" y="4691055"/>
            <a:ext cx="328818" cy="328818"/>
          </a:xfrm>
          <a:prstGeom prst="rect">
            <a:avLst/>
          </a:prstGeom>
        </p:spPr>
      </p:pic>
      <p:sp>
        <p:nvSpPr>
          <p:cNvPr id="13" name="Text 8"/>
          <p:cNvSpPr txBox="1"/>
          <p:nvPr/>
        </p:nvSpPr>
        <p:spPr>
          <a:xfrm>
            <a:off x="1344168" y="4535424"/>
            <a:ext cx="4873752"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Subjective</a:t>
            </a:r>
            <a:endParaRPr lang="en-US" sz="1400" dirty="0"/>
          </a:p>
          <a:p>
            <a:pPr indent="0" marL="0">
              <a:spcAft>
                <a:spcPts val="300"/>
              </a:spcAft>
              <a:buNone/>
            </a:pPr>
            <a:r>
              <a:rPr lang="en-US" sz="1400" dirty="0">
                <a:solidFill>
                  <a:schemeClr val="tx1"/>
                </a:solidFill>
              </a:rPr>
              <a:t>Results vary between observers and labs for the same smear.</a:t>
            </a:r>
            <a:endParaRPr lang="en-US" sz="1400" dirty="0"/>
          </a:p>
        </p:txBody>
      </p:sp>
      <p:sp>
        <p:nvSpPr>
          <p:cNvPr id="14" name="Shape 9"/>
          <p:cNvSpPr/>
          <p:nvPr/>
        </p:nvSpPr>
        <p:spPr>
          <a:xfrm>
            <a:off x="6583680" y="1508760"/>
            <a:ext cx="5029200" cy="4526280"/>
          </a:xfrm>
          <a:prstGeom prst="roundRect">
            <a:avLst>
              <a:gd name="adj" fmla="val 1616"/>
            </a:avLst>
          </a:prstGeom>
          <a:solidFill>
            <a:srgbClr val="0E3B43"/>
          </a:solidFill>
          <a:ln w="9525">
            <a:solidFill>
              <a:srgbClr val="0E3B43"/>
            </a:solidFill>
            <a:prstDash val="solid"/>
          </a:ln>
        </p:spPr>
      </p:sp>
      <p:sp>
        <p:nvSpPr>
          <p:cNvPr id="15" name="Text 10"/>
          <p:cNvSpPr txBox="1"/>
          <p:nvPr/>
        </p:nvSpPr>
        <p:spPr>
          <a:xfrm>
            <a:off x="6903720" y="1737360"/>
            <a:ext cx="4480560" cy="320040"/>
          </a:xfrm>
          <a:prstGeom prst="rect">
            <a:avLst/>
          </a:prstGeom>
          <a:noFill/>
          <a:ln/>
        </p:spPr>
        <p:txBody>
          <a:bodyPr wrap="square" lIns="0" tIns="0" rIns="0" bIns="0" rtlCol="0" anchor="t"/>
          <a:lstStyle/>
          <a:p>
            <a:pPr indent="0" marL="0">
              <a:buNone/>
            </a:pPr>
            <a:r>
              <a:rPr lang="en-US" sz="1200" b="1" spc="100" kern="0" dirty="0">
                <a:solidFill>
                  <a:schemeClr val="accent2"/>
                </a:solidFill>
              </a:rPr>
              <a:t>WHAT WE SET OUT TO BUILD</a:t>
            </a:r>
            <a:endParaRPr lang="en-US" sz="1200" dirty="0"/>
          </a:p>
        </p:txBody>
      </p:sp>
      <p:sp>
        <p:nvSpPr>
          <p:cNvPr id="16" name="Text 11"/>
          <p:cNvSpPr txBox="1"/>
          <p:nvPr/>
        </p:nvSpPr>
        <p:spPr>
          <a:xfrm>
            <a:off x="6903720" y="2103120"/>
            <a:ext cx="4434840" cy="1645920"/>
          </a:xfrm>
          <a:prstGeom prst="rect">
            <a:avLst/>
          </a:prstGeom>
          <a:noFill/>
          <a:ln/>
        </p:spPr>
        <p:txBody>
          <a:bodyPr wrap="square" lIns="0" tIns="0" rIns="0" bIns="0" rtlCol="0" anchor="t"/>
          <a:lstStyle/>
          <a:p>
            <a:pPr indent="0" marL="0">
              <a:buNone/>
            </a:pPr>
            <a:r>
              <a:rPr lang="en-US" sz="1700" dirty="0">
                <a:solidFill>
                  <a:schemeClr val="bg1"/>
                </a:solidFill>
              </a:rPr>
              <a:t>An automated deep-learning system that classifies single red-blood-cell images as parasitized or uninfected: accurate, consistent, fast, and light enough for point-of-care use.</a:t>
            </a:r>
            <a:endParaRPr lang="en-US" sz="1700" dirty="0"/>
          </a:p>
        </p:txBody>
      </p:sp>
      <p:sp>
        <p:nvSpPr>
          <p:cNvPr id="17" name="Text 12"/>
          <p:cNvSpPr txBox="1"/>
          <p:nvPr/>
        </p:nvSpPr>
        <p:spPr>
          <a:xfrm>
            <a:off x="6903720" y="3931920"/>
            <a:ext cx="4480560" cy="457200"/>
          </a:xfrm>
          <a:prstGeom prst="rect">
            <a:avLst/>
          </a:prstGeom>
          <a:noFill/>
          <a:ln/>
        </p:spPr>
        <p:txBody>
          <a:bodyPr wrap="square" lIns="0" tIns="0" rIns="0" bIns="0" rtlCol="0" anchor="t"/>
          <a:lstStyle/>
          <a:p>
            <a:pPr indent="0" marL="0">
              <a:buNone/>
            </a:pPr>
            <a:r>
              <a:rPr lang="en-US" sz="1400" b="1" dirty="0">
                <a:solidFill>
                  <a:schemeClr val="accent2"/>
                </a:solidFill>
              </a:rPr>
              <a:t>Task  </a:t>
            </a:r>
            <a:pPr indent="0" marL="0">
              <a:buNone/>
            </a:pPr>
            <a:r>
              <a:rPr lang="en-US" sz="1400" dirty="0">
                <a:solidFill>
                  <a:schemeClr val="bg1"/>
                </a:solidFill>
              </a:rPr>
              <a:t>binary classification of single-cell crops</a:t>
            </a:r>
            <a:endParaRPr lang="en-US" sz="1400" dirty="0"/>
          </a:p>
        </p:txBody>
      </p:sp>
      <p:sp>
        <p:nvSpPr>
          <p:cNvPr id="18" name="Text 13"/>
          <p:cNvSpPr txBox="1"/>
          <p:nvPr/>
        </p:nvSpPr>
        <p:spPr>
          <a:xfrm>
            <a:off x="6903720" y="4480560"/>
            <a:ext cx="4480560" cy="457200"/>
          </a:xfrm>
          <a:prstGeom prst="rect">
            <a:avLst/>
          </a:prstGeom>
          <a:noFill/>
          <a:ln/>
        </p:spPr>
        <p:txBody>
          <a:bodyPr wrap="square" lIns="0" tIns="0" rIns="0" bIns="0" rtlCol="0" anchor="t"/>
          <a:lstStyle/>
          <a:p>
            <a:pPr indent="0" marL="0">
              <a:buNone/>
            </a:pPr>
            <a:r>
              <a:rPr lang="en-US" sz="1400" b="1" dirty="0">
                <a:solidFill>
                  <a:schemeClr val="accent2"/>
                </a:solidFill>
              </a:rPr>
              <a:t>Method  </a:t>
            </a:r>
            <a:pPr indent="0" marL="0">
              <a:buNone/>
            </a:pPr>
            <a:r>
              <a:rPr lang="en-US" sz="1400" dirty="0">
                <a:solidFill>
                  <a:schemeClr val="bg1"/>
                </a:solidFill>
              </a:rPr>
              <a:t>deep CNNs, no hand-crafted features</a:t>
            </a:r>
            <a:endParaRPr lang="en-US" sz="1400" dirty="0"/>
          </a:p>
        </p:txBody>
      </p:sp>
      <p:sp>
        <p:nvSpPr>
          <p:cNvPr id="19" name="Text 14"/>
          <p:cNvSpPr txBox="1"/>
          <p:nvPr/>
        </p:nvSpPr>
        <p:spPr>
          <a:xfrm>
            <a:off x="6903720" y="5029200"/>
            <a:ext cx="4480560" cy="457200"/>
          </a:xfrm>
          <a:prstGeom prst="rect">
            <a:avLst/>
          </a:prstGeom>
          <a:noFill/>
          <a:ln/>
        </p:spPr>
        <p:txBody>
          <a:bodyPr wrap="square" lIns="0" tIns="0" rIns="0" bIns="0" rtlCol="0" anchor="t"/>
          <a:lstStyle/>
          <a:p>
            <a:pPr indent="0" marL="0">
              <a:buNone/>
            </a:pPr>
            <a:r>
              <a:rPr lang="en-US" sz="1400" b="1" dirty="0">
                <a:solidFill>
                  <a:schemeClr val="accent2"/>
                </a:solidFill>
              </a:rPr>
              <a:t>Goal  </a:t>
            </a:r>
            <a:pPr indent="0" marL="0">
              <a:buNone/>
            </a:pPr>
            <a:r>
              <a:rPr lang="en-US" sz="1400" dirty="0">
                <a:solidFill>
                  <a:schemeClr val="bg1"/>
                </a:solidFill>
              </a:rPr>
              <a:t>clinically reliable, deployable</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DATASET</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NIH Malaria Cell Images: the field's common benchmark</a:t>
            </a:r>
            <a:endParaRPr lang="en-US" sz="3200" dirty="0"/>
          </a:p>
        </p:txBody>
      </p:sp>
      <p:sp>
        <p:nvSpPr>
          <p:cNvPr id="4" name="Shape 2"/>
          <p:cNvSpPr/>
          <p:nvPr/>
        </p:nvSpPr>
        <p:spPr>
          <a:xfrm>
            <a:off x="548640" y="1600200"/>
            <a:ext cx="3931920" cy="960120"/>
          </a:xfrm>
          <a:prstGeom prst="roundRect">
            <a:avLst>
              <a:gd name="adj" fmla="val 7619"/>
            </a:avLst>
          </a:prstGeom>
          <a:solidFill>
            <a:schemeClr val="bg2"/>
          </a:solidFill>
          <a:ln w="9525">
            <a:solidFill>
              <a:schemeClr val="bg2"/>
            </a:solidFill>
            <a:prstDash val="solid"/>
          </a:ln>
        </p:spPr>
      </p:sp>
      <p:sp>
        <p:nvSpPr>
          <p:cNvPr id="5" name="Text 3"/>
          <p:cNvSpPr txBox="1"/>
          <p:nvPr/>
        </p:nvSpPr>
        <p:spPr>
          <a:xfrm>
            <a:off x="777240" y="1645920"/>
            <a:ext cx="3566160" cy="868680"/>
          </a:xfrm>
          <a:prstGeom prst="rect">
            <a:avLst/>
          </a:prstGeom>
          <a:noFill/>
          <a:ln/>
        </p:spPr>
        <p:txBody>
          <a:bodyPr wrap="square" lIns="0" tIns="0" rIns="0" bIns="0" rtlCol="0" anchor="ctr"/>
          <a:lstStyle/>
          <a:p>
            <a:pPr indent="0" marL="0">
              <a:buNone/>
            </a:pPr>
            <a:r>
              <a:rPr lang="en-US" sz="2800" b="1" dirty="0">
                <a:solidFill>
                  <a:schemeClr val="accent1"/>
                </a:solidFill>
              </a:rPr>
              <a:t>27,558</a:t>
            </a:r>
            <a:endParaRPr lang="en-US" sz="1400" dirty="0"/>
          </a:p>
          <a:p>
            <a:pPr indent="0" marL="0">
              <a:buNone/>
            </a:pPr>
            <a:r>
              <a:rPr lang="en-US" sz="1300" dirty="0">
                <a:solidFill>
                  <a:schemeClr val="tx1"/>
                </a:solidFill>
              </a:rPr>
              <a:t>single-cell images</a:t>
            </a:r>
            <a:endParaRPr lang="en-US" sz="1400" dirty="0"/>
          </a:p>
        </p:txBody>
      </p:sp>
      <p:sp>
        <p:nvSpPr>
          <p:cNvPr id="6" name="Shape 4"/>
          <p:cNvSpPr/>
          <p:nvPr/>
        </p:nvSpPr>
        <p:spPr>
          <a:xfrm>
            <a:off x="548640" y="2697480"/>
            <a:ext cx="3931920" cy="960120"/>
          </a:xfrm>
          <a:prstGeom prst="roundRect">
            <a:avLst>
              <a:gd name="adj" fmla="val 7619"/>
            </a:avLst>
          </a:prstGeom>
          <a:solidFill>
            <a:schemeClr val="bg2"/>
          </a:solidFill>
          <a:ln w="9525">
            <a:solidFill>
              <a:schemeClr val="bg2"/>
            </a:solidFill>
            <a:prstDash val="solid"/>
          </a:ln>
        </p:spPr>
      </p:sp>
      <p:sp>
        <p:nvSpPr>
          <p:cNvPr id="7" name="Text 5"/>
          <p:cNvSpPr txBox="1"/>
          <p:nvPr/>
        </p:nvSpPr>
        <p:spPr>
          <a:xfrm>
            <a:off x="777240" y="2743200"/>
            <a:ext cx="3566160" cy="868680"/>
          </a:xfrm>
          <a:prstGeom prst="rect">
            <a:avLst/>
          </a:prstGeom>
          <a:noFill/>
          <a:ln/>
        </p:spPr>
        <p:txBody>
          <a:bodyPr wrap="square" lIns="0" tIns="0" rIns="0" bIns="0" rtlCol="0" anchor="ctr"/>
          <a:lstStyle/>
          <a:p>
            <a:pPr indent="0" marL="0">
              <a:buNone/>
            </a:pPr>
            <a:r>
              <a:rPr lang="en-US" sz="2800" b="1" dirty="0">
                <a:solidFill>
                  <a:schemeClr val="accent1"/>
                </a:solidFill>
              </a:rPr>
              <a:t>50 / 50</a:t>
            </a:r>
            <a:endParaRPr lang="en-US" sz="1400" dirty="0"/>
          </a:p>
          <a:p>
            <a:pPr indent="0" marL="0">
              <a:buNone/>
            </a:pPr>
            <a:r>
              <a:rPr lang="en-US" sz="1300" dirty="0">
                <a:solidFill>
                  <a:schemeClr val="tx1"/>
                </a:solidFill>
              </a:rPr>
              <a:t>13,779 parasitized · 13,779 uninfected</a:t>
            </a:r>
            <a:endParaRPr lang="en-US" sz="1400" dirty="0"/>
          </a:p>
        </p:txBody>
      </p:sp>
      <p:sp>
        <p:nvSpPr>
          <p:cNvPr id="8" name="Shape 6"/>
          <p:cNvSpPr/>
          <p:nvPr/>
        </p:nvSpPr>
        <p:spPr>
          <a:xfrm>
            <a:off x="548640" y="3794760"/>
            <a:ext cx="3931920" cy="960120"/>
          </a:xfrm>
          <a:prstGeom prst="roundRect">
            <a:avLst>
              <a:gd name="adj" fmla="val 7619"/>
            </a:avLst>
          </a:prstGeom>
          <a:solidFill>
            <a:schemeClr val="bg2"/>
          </a:solidFill>
          <a:ln w="9525">
            <a:solidFill>
              <a:schemeClr val="bg2"/>
            </a:solidFill>
            <a:prstDash val="solid"/>
          </a:ln>
        </p:spPr>
      </p:sp>
      <p:sp>
        <p:nvSpPr>
          <p:cNvPr id="9" name="Text 7"/>
          <p:cNvSpPr txBox="1"/>
          <p:nvPr/>
        </p:nvSpPr>
        <p:spPr>
          <a:xfrm>
            <a:off x="777240" y="3840480"/>
            <a:ext cx="3566160" cy="868680"/>
          </a:xfrm>
          <a:prstGeom prst="rect">
            <a:avLst/>
          </a:prstGeom>
          <a:noFill/>
          <a:ln/>
        </p:spPr>
        <p:txBody>
          <a:bodyPr wrap="square" lIns="0" tIns="0" rIns="0" bIns="0" rtlCol="0" anchor="ctr"/>
          <a:lstStyle/>
          <a:p>
            <a:pPr indent="0" marL="0">
              <a:buNone/>
            </a:pPr>
            <a:r>
              <a:rPr lang="en-US" sz="2800" b="1" dirty="0">
                <a:solidFill>
                  <a:schemeClr val="accent1"/>
                </a:solidFill>
              </a:rPr>
              <a:t>200</a:t>
            </a:r>
            <a:endParaRPr lang="en-US" sz="1400" dirty="0"/>
          </a:p>
          <a:p>
            <a:pPr indent="0" marL="0">
              <a:buNone/>
            </a:pPr>
            <a:r>
              <a:rPr lang="en-US" sz="1300" dirty="0">
                <a:solidFill>
                  <a:schemeClr val="tx1"/>
                </a:solidFill>
              </a:rPr>
              <a:t>patients · 150 infected, 50 healthy</a:t>
            </a:r>
            <a:endParaRPr lang="en-US" sz="1400" dirty="0"/>
          </a:p>
        </p:txBody>
      </p:sp>
      <p:sp>
        <p:nvSpPr>
          <p:cNvPr id="10" name="Text 8"/>
          <p:cNvSpPr txBox="1"/>
          <p:nvPr/>
        </p:nvSpPr>
        <p:spPr>
          <a:xfrm>
            <a:off x="548640" y="4937760"/>
            <a:ext cx="3931920" cy="822960"/>
          </a:xfrm>
          <a:prstGeom prst="rect">
            <a:avLst/>
          </a:prstGeom>
          <a:noFill/>
          <a:ln/>
        </p:spPr>
        <p:txBody>
          <a:bodyPr wrap="square" lIns="0" tIns="0" rIns="0" bIns="0" rtlCol="0" anchor="t"/>
          <a:lstStyle/>
          <a:p>
            <a:pPr indent="0" marL="0">
              <a:buNone/>
            </a:pPr>
            <a:r>
              <a:rPr lang="en-US" sz="1300" dirty="0">
                <a:solidFill>
                  <a:schemeClr val="accent6"/>
                </a:solidFill>
              </a:rPr>
              <a:t>Giemsa-stained thin blood smears from Chittagong Medical College Hospital, Bangladesh, segmented into single cells by the NIH.</a:t>
            </a:r>
            <a:endParaRPr lang="en-US" sz="1300" dirty="0"/>
          </a:p>
        </p:txBody>
      </p:sp>
      <p:pic>
        <p:nvPicPr>
          <p:cNvPr id="11" name="Image 0" descr="/Users/madhav/malaria-detection/slides/figures/cells_grid.png">    </p:cNvPr>
          <p:cNvPicPr>
            <a:picLocks noChangeAspect="1"/>
          </p:cNvPicPr>
          <p:nvPr/>
        </p:nvPicPr>
        <p:blipFill>
          <a:blip r:embed="rId1"/>
          <a:stretch>
            <a:fillRect/>
          </a:stretch>
        </p:blipFill>
        <p:spPr>
          <a:xfrm>
            <a:off x="4846320" y="1600200"/>
            <a:ext cx="6766560" cy="2405888"/>
          </a:xfrm>
          <a:prstGeom prst="rect">
            <a:avLst/>
          </a:prstGeom>
        </p:spPr>
      </p:pic>
      <p:sp>
        <p:nvSpPr>
          <p:cNvPr id="12" name="Text 9"/>
          <p:cNvSpPr txBox="1"/>
          <p:nvPr/>
        </p:nvSpPr>
        <p:spPr>
          <a:xfrm>
            <a:off x="4846320" y="4114800"/>
            <a:ext cx="6766560" cy="548640"/>
          </a:xfrm>
          <a:prstGeom prst="rect">
            <a:avLst/>
          </a:prstGeom>
          <a:noFill/>
          <a:ln/>
        </p:spPr>
        <p:txBody>
          <a:bodyPr wrap="square" lIns="0" tIns="0" rIns="0" bIns="0" rtlCol="0" anchor="t"/>
          <a:lstStyle/>
          <a:p>
            <a:pPr indent="0" marL="0">
              <a:buNone/>
            </a:pPr>
            <a:r>
              <a:rPr lang="en-US" sz="1300" dirty="0">
                <a:solidFill>
                  <a:schemeClr val="accent6"/>
                </a:solidFill>
              </a:rPr>
              <a:t>Infected cells show dark violet specks (the Giemsa stain). Crops of 70–230 px are resized to 224 × 224.</a:t>
            </a:r>
            <a:endParaRPr lang="en-US" sz="1300" dirty="0"/>
          </a:p>
        </p:txBody>
      </p:sp>
      <p:sp>
        <p:nvSpPr>
          <p:cNvPr id="13" name="Shape 10"/>
          <p:cNvSpPr/>
          <p:nvPr/>
        </p:nvSpPr>
        <p:spPr>
          <a:xfrm>
            <a:off x="4846320" y="4800600"/>
            <a:ext cx="6766560" cy="1234440"/>
          </a:xfrm>
          <a:prstGeom prst="roundRect">
            <a:avLst>
              <a:gd name="adj" fmla="val 5926"/>
            </a:avLst>
          </a:prstGeom>
          <a:solidFill>
            <a:srgbClr val="E3F0F2"/>
          </a:solidFill>
          <a:ln w="9525">
            <a:solidFill>
              <a:srgbClr val="E3F0F2"/>
            </a:solidFill>
            <a:prstDash val="solid"/>
          </a:ln>
        </p:spPr>
      </p:sp>
      <p:sp>
        <p:nvSpPr>
          <p:cNvPr id="14" name="Shape 11"/>
          <p:cNvSpPr/>
          <p:nvPr/>
        </p:nvSpPr>
        <p:spPr>
          <a:xfrm>
            <a:off x="5047488" y="5189220"/>
            <a:ext cx="457200" cy="457200"/>
          </a:xfrm>
          <a:prstGeom prst="ellipse">
            <a:avLst/>
          </a:prstGeom>
          <a:solidFill>
            <a:schemeClr val="accent4"/>
          </a:solidFill>
          <a:ln w="6350">
            <a:solidFill>
              <a:schemeClr val="accent4"/>
            </a:solidFill>
            <a:prstDash val="solid"/>
          </a:ln>
        </p:spPr>
      </p:sp>
      <p:pic>
        <p:nvPicPr>
          <p:cNvPr id="15" name="Image 1" descr="preencoded.png">    </p:cNvPr>
          <p:cNvPicPr>
            <a:picLocks noChangeAspect="1"/>
          </p:cNvPicPr>
          <p:nvPr/>
        </p:nvPicPr>
        <p:blipFill>
          <a:blip r:embed="rId2"/>
          <a:stretch>
            <a:fillRect/>
          </a:stretch>
        </p:blipFill>
        <p:spPr>
          <a:xfrm>
            <a:off x="5143500" y="5285232"/>
            <a:ext cx="265176" cy="265176"/>
          </a:xfrm>
          <a:prstGeom prst="rect">
            <a:avLst/>
          </a:prstGeom>
        </p:spPr>
      </p:pic>
      <p:sp>
        <p:nvSpPr>
          <p:cNvPr id="16" name="Text 12"/>
          <p:cNvSpPr txBox="1"/>
          <p:nvPr/>
        </p:nvSpPr>
        <p:spPr>
          <a:xfrm>
            <a:off x="5687568" y="4873752"/>
            <a:ext cx="5715000" cy="1088136"/>
          </a:xfrm>
          <a:prstGeom prst="rect">
            <a:avLst/>
          </a:prstGeom>
          <a:noFill/>
          <a:ln/>
        </p:spPr>
        <p:txBody>
          <a:bodyPr wrap="square" lIns="0" tIns="0" rIns="0" bIns="0" rtlCol="0" anchor="ctr"/>
          <a:lstStyle/>
          <a:p>
            <a:pPr indent="0" marL="0">
              <a:buNone/>
            </a:pPr>
            <a:r>
              <a:rPr lang="en-US" sz="1300" dirty="0">
                <a:solidFill>
                  <a:schemeClr val="tx1"/>
                </a:solidFill>
              </a:rPr>
              <a:t>Known issue, noisy labels: Fuhad et al. [5] found stain artifacts labelled as parasites and cleaned the set to 26,161 images. We use the standard 27,558 so our numbers compare with the paper.</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STORY OF THE FIELD</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How malaria CNNs evolved, 2016 → 2024</a:t>
            </a:r>
            <a:endParaRPr lang="en-US" sz="3200" dirty="0"/>
          </a:p>
        </p:txBody>
      </p:sp>
      <p:sp>
        <p:nvSpPr>
          <p:cNvPr id="4" name="Shape 2"/>
          <p:cNvSpPr/>
          <p:nvPr/>
        </p:nvSpPr>
        <p:spPr>
          <a:xfrm>
            <a:off x="1691640" y="2514600"/>
            <a:ext cx="8805672" cy="0"/>
          </a:xfrm>
          <a:prstGeom prst="line">
            <a:avLst/>
          </a:prstGeom>
          <a:noFill/>
          <a:ln w="38100">
            <a:solidFill>
              <a:srgbClr val="9FC0C9"/>
            </a:solidFill>
            <a:prstDash val="solid"/>
          </a:ln>
        </p:spPr>
      </p:sp>
      <p:sp>
        <p:nvSpPr>
          <p:cNvPr id="5" name="Text 3"/>
          <p:cNvSpPr txBox="1"/>
          <p:nvPr/>
        </p:nvSpPr>
        <p:spPr>
          <a:xfrm>
            <a:off x="594360" y="1691640"/>
            <a:ext cx="2194560" cy="411480"/>
          </a:xfrm>
          <a:prstGeom prst="rect">
            <a:avLst/>
          </a:prstGeom>
          <a:noFill/>
          <a:ln/>
        </p:spPr>
        <p:txBody>
          <a:bodyPr wrap="square" lIns="0" tIns="0" rIns="0" bIns="0" rtlCol="0" anchor="t"/>
          <a:lstStyle/>
          <a:p>
            <a:pPr algn="ctr" indent="0" marL="0">
              <a:buNone/>
            </a:pPr>
            <a:r>
              <a:rPr lang="en-US" sz="2000" b="1" dirty="0">
                <a:solidFill>
                  <a:schemeClr val="accent1"/>
                </a:solidFill>
              </a:rPr>
              <a:t>2016</a:t>
            </a:r>
            <a:endParaRPr lang="en-US" sz="2000" dirty="0"/>
          </a:p>
        </p:txBody>
      </p:sp>
      <p:sp>
        <p:nvSpPr>
          <p:cNvPr id="6" name="Shape 4"/>
          <p:cNvSpPr/>
          <p:nvPr/>
        </p:nvSpPr>
        <p:spPr>
          <a:xfrm>
            <a:off x="1490472" y="2313432"/>
            <a:ext cx="402336" cy="402336"/>
          </a:xfrm>
          <a:prstGeom prst="ellipse">
            <a:avLst/>
          </a:prstGeom>
          <a:solidFill>
            <a:schemeClr val="accent1"/>
          </a:solidFill>
          <a:ln w="25400">
            <a:solidFill>
              <a:srgbClr val="FFFFFF"/>
            </a:solidFill>
            <a:prstDash val="solid"/>
          </a:ln>
        </p:spPr>
      </p:sp>
      <p:sp>
        <p:nvSpPr>
          <p:cNvPr id="7" name="Text 5"/>
          <p:cNvSpPr txBox="1"/>
          <p:nvPr/>
        </p:nvSpPr>
        <p:spPr>
          <a:xfrm>
            <a:off x="640080" y="2926080"/>
            <a:ext cx="2103120" cy="1920240"/>
          </a:xfrm>
          <a:prstGeom prst="rect">
            <a:avLst/>
          </a:prstGeom>
          <a:noFill/>
          <a:ln/>
        </p:spPr>
        <p:txBody>
          <a:bodyPr wrap="square" lIns="0" tIns="0" rIns="0" bIns="0" rtlCol="0" anchor="t"/>
          <a:lstStyle/>
          <a:p>
            <a:pPr algn="ctr" indent="0" marL="0">
              <a:spcAft>
                <a:spcPts val="400"/>
              </a:spcAft>
              <a:buNone/>
            </a:pPr>
            <a:r>
              <a:rPr lang="en-US" sz="1500" b="1" dirty="0">
                <a:solidFill>
                  <a:schemeClr val="tx1"/>
                </a:solidFill>
              </a:rPr>
              <a:t>Custom CNN beats transfer</a:t>
            </a:r>
            <a:endParaRPr lang="en-US" sz="1400" dirty="0"/>
          </a:p>
          <a:p>
            <a:pPr algn="ctr" indent="0" marL="0">
              <a:spcAft>
                <a:spcPts val="400"/>
              </a:spcAft>
              <a:buNone/>
            </a:pPr>
            <a:r>
              <a:rPr lang="en-US" sz="1200" dirty="0">
                <a:solidFill>
                  <a:schemeClr val="accent6"/>
                </a:solidFill>
              </a:rPr>
              <a:t>Liang [1]</a:t>
            </a:r>
            <a:endParaRPr lang="en-US" sz="1400" dirty="0"/>
          </a:p>
          <a:p>
            <a:pPr algn="ctr" indent="0" marL="0">
              <a:spcAft>
                <a:spcPts val="400"/>
              </a:spcAft>
              <a:buNone/>
            </a:pPr>
            <a:r>
              <a:rPr lang="en-US" sz="1400" b="1" dirty="0">
                <a:solidFill>
                  <a:schemeClr val="accent3"/>
                </a:solidFill>
              </a:rPr>
              <a:t>97.37 %</a:t>
            </a:r>
            <a:endParaRPr lang="en-US" sz="1400" dirty="0"/>
          </a:p>
        </p:txBody>
      </p:sp>
      <p:sp>
        <p:nvSpPr>
          <p:cNvPr id="8" name="Text 6"/>
          <p:cNvSpPr txBox="1"/>
          <p:nvPr/>
        </p:nvSpPr>
        <p:spPr>
          <a:xfrm>
            <a:off x="2795778" y="1691640"/>
            <a:ext cx="2194560" cy="411480"/>
          </a:xfrm>
          <a:prstGeom prst="rect">
            <a:avLst/>
          </a:prstGeom>
          <a:noFill/>
          <a:ln/>
        </p:spPr>
        <p:txBody>
          <a:bodyPr wrap="square" lIns="0" tIns="0" rIns="0" bIns="0" rtlCol="0" anchor="t"/>
          <a:lstStyle/>
          <a:p>
            <a:pPr algn="ctr" indent="0" marL="0">
              <a:buNone/>
            </a:pPr>
            <a:r>
              <a:rPr lang="en-US" sz="2000" b="1" dirty="0">
                <a:solidFill>
                  <a:schemeClr val="accent1"/>
                </a:solidFill>
              </a:rPr>
              <a:t>2018</a:t>
            </a:r>
            <a:endParaRPr lang="en-US" sz="2000" dirty="0"/>
          </a:p>
        </p:txBody>
      </p:sp>
      <p:sp>
        <p:nvSpPr>
          <p:cNvPr id="9" name="Shape 7"/>
          <p:cNvSpPr/>
          <p:nvPr/>
        </p:nvSpPr>
        <p:spPr>
          <a:xfrm>
            <a:off x="3691890" y="2313432"/>
            <a:ext cx="402336" cy="402336"/>
          </a:xfrm>
          <a:prstGeom prst="ellipse">
            <a:avLst/>
          </a:prstGeom>
          <a:solidFill>
            <a:schemeClr val="accent1"/>
          </a:solidFill>
          <a:ln w="25400">
            <a:solidFill>
              <a:srgbClr val="FFFFFF"/>
            </a:solidFill>
            <a:prstDash val="solid"/>
          </a:ln>
        </p:spPr>
      </p:sp>
      <p:sp>
        <p:nvSpPr>
          <p:cNvPr id="10" name="Text 8"/>
          <p:cNvSpPr txBox="1"/>
          <p:nvPr/>
        </p:nvSpPr>
        <p:spPr>
          <a:xfrm>
            <a:off x="2841498" y="2926080"/>
            <a:ext cx="2103120" cy="1920240"/>
          </a:xfrm>
          <a:prstGeom prst="rect">
            <a:avLst/>
          </a:prstGeom>
          <a:noFill/>
          <a:ln/>
        </p:spPr>
        <p:txBody>
          <a:bodyPr wrap="square" lIns="0" tIns="0" rIns="0" bIns="0" rtlCol="0" anchor="t"/>
          <a:lstStyle/>
          <a:p>
            <a:pPr algn="ctr" indent="0" marL="0">
              <a:spcAft>
                <a:spcPts val="400"/>
              </a:spcAft>
              <a:buNone/>
            </a:pPr>
            <a:r>
              <a:rPr lang="en-US" sz="1500" b="1" dirty="0">
                <a:solidFill>
                  <a:schemeClr val="tx1"/>
                </a:solidFill>
              </a:rPr>
              <a:t>Pre-trained features</a:t>
            </a:r>
            <a:endParaRPr lang="en-US" sz="1400" dirty="0"/>
          </a:p>
          <a:p>
            <a:pPr algn="ctr" indent="0" marL="0">
              <a:spcAft>
                <a:spcPts val="400"/>
              </a:spcAft>
              <a:buNone/>
            </a:pPr>
            <a:r>
              <a:rPr lang="en-US" sz="1200" dirty="0">
                <a:solidFill>
                  <a:schemeClr val="accent6"/>
                </a:solidFill>
              </a:rPr>
              <a:t>Rajaraman [2]</a:t>
            </a:r>
            <a:endParaRPr lang="en-US" sz="1400" dirty="0"/>
          </a:p>
          <a:p>
            <a:pPr algn="ctr" indent="0" marL="0">
              <a:spcAft>
                <a:spcPts val="400"/>
              </a:spcAft>
              <a:buNone/>
            </a:pPr>
            <a:r>
              <a:rPr lang="en-US" sz="1400" b="1" dirty="0">
                <a:solidFill>
                  <a:schemeClr val="accent3"/>
                </a:solidFill>
              </a:rPr>
              <a:t>best layers mapped</a:t>
            </a:r>
            <a:endParaRPr lang="en-US" sz="1400" dirty="0"/>
          </a:p>
        </p:txBody>
      </p:sp>
      <p:sp>
        <p:nvSpPr>
          <p:cNvPr id="11" name="Text 9"/>
          <p:cNvSpPr txBox="1"/>
          <p:nvPr/>
        </p:nvSpPr>
        <p:spPr>
          <a:xfrm>
            <a:off x="4997196" y="1691640"/>
            <a:ext cx="2194560" cy="411480"/>
          </a:xfrm>
          <a:prstGeom prst="rect">
            <a:avLst/>
          </a:prstGeom>
          <a:noFill/>
          <a:ln/>
        </p:spPr>
        <p:txBody>
          <a:bodyPr wrap="square" lIns="0" tIns="0" rIns="0" bIns="0" rtlCol="0" anchor="t"/>
          <a:lstStyle/>
          <a:p>
            <a:pPr algn="ctr" indent="0" marL="0">
              <a:buNone/>
            </a:pPr>
            <a:r>
              <a:rPr lang="en-US" sz="2000" b="1" dirty="0">
                <a:solidFill>
                  <a:schemeClr val="accent1"/>
                </a:solidFill>
              </a:rPr>
              <a:t>2019–22</a:t>
            </a:r>
            <a:endParaRPr lang="en-US" sz="2000" dirty="0"/>
          </a:p>
        </p:txBody>
      </p:sp>
      <p:sp>
        <p:nvSpPr>
          <p:cNvPr id="12" name="Shape 10"/>
          <p:cNvSpPr/>
          <p:nvPr/>
        </p:nvSpPr>
        <p:spPr>
          <a:xfrm>
            <a:off x="5893308" y="2313432"/>
            <a:ext cx="402336" cy="402336"/>
          </a:xfrm>
          <a:prstGeom prst="ellipse">
            <a:avLst/>
          </a:prstGeom>
          <a:solidFill>
            <a:schemeClr val="accent1"/>
          </a:solidFill>
          <a:ln w="25400">
            <a:solidFill>
              <a:srgbClr val="FFFFFF"/>
            </a:solidFill>
            <a:prstDash val="solid"/>
          </a:ln>
        </p:spPr>
      </p:sp>
      <p:sp>
        <p:nvSpPr>
          <p:cNvPr id="13" name="Text 11"/>
          <p:cNvSpPr txBox="1"/>
          <p:nvPr/>
        </p:nvSpPr>
        <p:spPr>
          <a:xfrm>
            <a:off x="5042916" y="2926080"/>
            <a:ext cx="2103120" cy="1920240"/>
          </a:xfrm>
          <a:prstGeom prst="rect">
            <a:avLst/>
          </a:prstGeom>
          <a:noFill/>
          <a:ln/>
        </p:spPr>
        <p:txBody>
          <a:bodyPr wrap="square" lIns="0" tIns="0" rIns="0" bIns="0" rtlCol="0" anchor="t"/>
          <a:lstStyle/>
          <a:p>
            <a:pPr algn="ctr" indent="0" marL="0">
              <a:spcAft>
                <a:spcPts val="400"/>
              </a:spcAft>
              <a:buNone/>
            </a:pPr>
            <a:r>
              <a:rPr lang="en-US" sz="1500" b="1" dirty="0">
                <a:solidFill>
                  <a:schemeClr val="tx1"/>
                </a:solidFill>
              </a:rPr>
              <a:t>Ensembles</a:t>
            </a:r>
            <a:endParaRPr lang="en-US" sz="1400" dirty="0"/>
          </a:p>
          <a:p>
            <a:pPr algn="ctr" indent="0" marL="0">
              <a:spcAft>
                <a:spcPts val="400"/>
              </a:spcAft>
              <a:buNone/>
            </a:pPr>
            <a:r>
              <a:rPr lang="en-US" sz="1200" dirty="0">
                <a:solidFill>
                  <a:schemeClr val="accent6"/>
                </a:solidFill>
              </a:rPr>
              <a:t>Rajaraman [3] · Marques [8]</a:t>
            </a:r>
            <a:endParaRPr lang="en-US" sz="1400" dirty="0"/>
          </a:p>
          <a:p>
            <a:pPr algn="ctr" indent="0" marL="0">
              <a:spcAft>
                <a:spcPts val="400"/>
              </a:spcAft>
              <a:buNone/>
            </a:pPr>
            <a:r>
              <a:rPr lang="en-US" sz="1400" b="1" dirty="0">
                <a:solidFill>
                  <a:schemeClr val="accent3"/>
                </a:solidFill>
              </a:rPr>
              <a:t>98.29 %</a:t>
            </a:r>
            <a:endParaRPr lang="en-US" sz="1400" dirty="0"/>
          </a:p>
        </p:txBody>
      </p:sp>
      <p:sp>
        <p:nvSpPr>
          <p:cNvPr id="14" name="Text 12"/>
          <p:cNvSpPr txBox="1"/>
          <p:nvPr/>
        </p:nvSpPr>
        <p:spPr>
          <a:xfrm>
            <a:off x="7198614" y="1691640"/>
            <a:ext cx="2194560" cy="411480"/>
          </a:xfrm>
          <a:prstGeom prst="rect">
            <a:avLst/>
          </a:prstGeom>
          <a:noFill/>
          <a:ln/>
        </p:spPr>
        <p:txBody>
          <a:bodyPr wrap="square" lIns="0" tIns="0" rIns="0" bIns="0" rtlCol="0" anchor="t"/>
          <a:lstStyle/>
          <a:p>
            <a:pPr algn="ctr" indent="0" marL="0">
              <a:buNone/>
            </a:pPr>
            <a:r>
              <a:rPr lang="en-US" sz="2000" b="1" dirty="0">
                <a:solidFill>
                  <a:schemeClr val="accent1"/>
                </a:solidFill>
              </a:rPr>
              <a:t>2020</a:t>
            </a:r>
            <a:endParaRPr lang="en-US" sz="2000" dirty="0"/>
          </a:p>
        </p:txBody>
      </p:sp>
      <p:sp>
        <p:nvSpPr>
          <p:cNvPr id="15" name="Shape 13"/>
          <p:cNvSpPr/>
          <p:nvPr/>
        </p:nvSpPr>
        <p:spPr>
          <a:xfrm>
            <a:off x="8094726" y="2313432"/>
            <a:ext cx="402336" cy="402336"/>
          </a:xfrm>
          <a:prstGeom prst="ellipse">
            <a:avLst/>
          </a:prstGeom>
          <a:solidFill>
            <a:schemeClr val="accent1"/>
          </a:solidFill>
          <a:ln w="25400">
            <a:solidFill>
              <a:srgbClr val="FFFFFF"/>
            </a:solidFill>
            <a:prstDash val="solid"/>
          </a:ln>
        </p:spPr>
      </p:sp>
      <p:sp>
        <p:nvSpPr>
          <p:cNvPr id="16" name="Text 14"/>
          <p:cNvSpPr txBox="1"/>
          <p:nvPr/>
        </p:nvSpPr>
        <p:spPr>
          <a:xfrm>
            <a:off x="7244334" y="2926080"/>
            <a:ext cx="2103120" cy="1920240"/>
          </a:xfrm>
          <a:prstGeom prst="rect">
            <a:avLst/>
          </a:prstGeom>
          <a:noFill/>
          <a:ln/>
        </p:spPr>
        <p:txBody>
          <a:bodyPr wrap="square" lIns="0" tIns="0" rIns="0" bIns="0" rtlCol="0" anchor="t"/>
          <a:lstStyle/>
          <a:p>
            <a:pPr algn="ctr" indent="0" marL="0">
              <a:spcAft>
                <a:spcPts val="400"/>
              </a:spcAft>
              <a:buNone/>
            </a:pPr>
            <a:r>
              <a:rPr lang="en-US" sz="1500" b="1" dirty="0">
                <a:solidFill>
                  <a:schemeClr val="tx1"/>
                </a:solidFill>
              </a:rPr>
              <a:t>Lightweight, on-device</a:t>
            </a:r>
            <a:endParaRPr lang="en-US" sz="1400" dirty="0"/>
          </a:p>
          <a:p>
            <a:pPr algn="ctr" indent="0" marL="0">
              <a:spcAft>
                <a:spcPts val="400"/>
              </a:spcAft>
              <a:buNone/>
            </a:pPr>
            <a:r>
              <a:rPr lang="en-US" sz="1200" dirty="0">
                <a:solidFill>
                  <a:schemeClr val="accent6"/>
                </a:solidFill>
              </a:rPr>
              <a:t>Fuhad · Masud · Zhao</a:t>
            </a:r>
            <a:endParaRPr lang="en-US" sz="1400" dirty="0"/>
          </a:p>
          <a:p>
            <a:pPr algn="ctr" indent="0" marL="0">
              <a:spcAft>
                <a:spcPts val="400"/>
              </a:spcAft>
              <a:buNone/>
            </a:pPr>
            <a:r>
              <a:rPr lang="en-US" sz="1400" b="1" dirty="0">
                <a:solidFill>
                  <a:schemeClr val="accent3"/>
                </a:solidFill>
              </a:rPr>
              <a:t>99.23 % at 4,600 FLOPs</a:t>
            </a:r>
            <a:endParaRPr lang="en-US" sz="1400" dirty="0"/>
          </a:p>
        </p:txBody>
      </p:sp>
      <p:sp>
        <p:nvSpPr>
          <p:cNvPr id="17" name="Text 15"/>
          <p:cNvSpPr txBox="1"/>
          <p:nvPr/>
        </p:nvSpPr>
        <p:spPr>
          <a:xfrm>
            <a:off x="9400032" y="1691640"/>
            <a:ext cx="2194560" cy="411480"/>
          </a:xfrm>
          <a:prstGeom prst="rect">
            <a:avLst/>
          </a:prstGeom>
          <a:noFill/>
          <a:ln/>
        </p:spPr>
        <p:txBody>
          <a:bodyPr wrap="square" lIns="0" tIns="0" rIns="0" bIns="0" rtlCol="0" anchor="t"/>
          <a:lstStyle/>
          <a:p>
            <a:pPr algn="ctr" indent="0" marL="0">
              <a:buNone/>
            </a:pPr>
            <a:r>
              <a:rPr lang="en-US" sz="2000" b="1" dirty="0">
                <a:solidFill>
                  <a:schemeClr val="accent1"/>
                </a:solidFill>
              </a:rPr>
              <a:t>2020–24</a:t>
            </a:r>
            <a:endParaRPr lang="en-US" sz="2000" dirty="0"/>
          </a:p>
        </p:txBody>
      </p:sp>
      <p:sp>
        <p:nvSpPr>
          <p:cNvPr id="18" name="Shape 16"/>
          <p:cNvSpPr/>
          <p:nvPr/>
        </p:nvSpPr>
        <p:spPr>
          <a:xfrm>
            <a:off x="10296144" y="2313432"/>
            <a:ext cx="402336" cy="402336"/>
          </a:xfrm>
          <a:prstGeom prst="ellipse">
            <a:avLst/>
          </a:prstGeom>
          <a:solidFill>
            <a:schemeClr val="accent1"/>
          </a:solidFill>
          <a:ln w="25400">
            <a:solidFill>
              <a:srgbClr val="FFFFFF"/>
            </a:solidFill>
            <a:prstDash val="solid"/>
          </a:ln>
        </p:spPr>
      </p:sp>
      <p:sp>
        <p:nvSpPr>
          <p:cNvPr id="19" name="Text 17"/>
          <p:cNvSpPr txBox="1"/>
          <p:nvPr/>
        </p:nvSpPr>
        <p:spPr>
          <a:xfrm>
            <a:off x="9445752" y="2926080"/>
            <a:ext cx="2103120" cy="1920240"/>
          </a:xfrm>
          <a:prstGeom prst="rect">
            <a:avLst/>
          </a:prstGeom>
          <a:noFill/>
          <a:ln/>
        </p:spPr>
        <p:txBody>
          <a:bodyPr wrap="square" lIns="0" tIns="0" rIns="0" bIns="0" rtlCol="0" anchor="t"/>
          <a:lstStyle/>
          <a:p>
            <a:pPr algn="ctr" indent="0" marL="0">
              <a:spcAft>
                <a:spcPts val="400"/>
              </a:spcAft>
              <a:buNone/>
            </a:pPr>
            <a:r>
              <a:rPr lang="en-US" sz="1500" b="1" dirty="0">
                <a:solidFill>
                  <a:schemeClr val="tx1"/>
                </a:solidFill>
              </a:rPr>
              <a:t>Inputs, capsules, benchmarks</a:t>
            </a:r>
            <a:endParaRPr lang="en-US" sz="1400" dirty="0"/>
          </a:p>
          <a:p>
            <a:pPr algn="ctr" indent="0" marL="0">
              <a:spcAft>
                <a:spcPts val="400"/>
              </a:spcAft>
              <a:buNone/>
            </a:pPr>
            <a:r>
              <a:rPr lang="en-US" sz="1200" dirty="0">
                <a:solidFill>
                  <a:schemeClr val="accent6"/>
                </a:solidFill>
              </a:rPr>
              <a:t>Umer · Madhu · Hemachandran · Mujahid</a:t>
            </a:r>
            <a:endParaRPr lang="en-US" sz="1400" dirty="0"/>
          </a:p>
          <a:p>
            <a:pPr algn="ctr" indent="0" marL="0">
              <a:spcAft>
                <a:spcPts val="400"/>
              </a:spcAft>
              <a:buNone/>
            </a:pPr>
            <a:r>
              <a:rPr lang="en-US" sz="1400" b="1" dirty="0">
                <a:solidFill>
                  <a:schemeClr val="accent3"/>
                </a:solidFill>
              </a:rPr>
              <a:t>99.35 % capsules</a:t>
            </a:r>
            <a:endParaRPr lang="en-US" sz="1400" dirty="0"/>
          </a:p>
        </p:txBody>
      </p:sp>
      <p:sp>
        <p:nvSpPr>
          <p:cNvPr id="20" name="Shape 18"/>
          <p:cNvSpPr/>
          <p:nvPr/>
        </p:nvSpPr>
        <p:spPr>
          <a:xfrm>
            <a:off x="548640" y="5074920"/>
            <a:ext cx="11064240" cy="868680"/>
          </a:xfrm>
          <a:prstGeom prst="roundRect">
            <a:avLst>
              <a:gd name="adj" fmla="val 8421"/>
            </a:avLst>
          </a:prstGeom>
          <a:solidFill>
            <a:srgbClr val="E3F0F2"/>
          </a:solidFill>
          <a:ln w="9525">
            <a:solidFill>
              <a:srgbClr val="E3F0F2"/>
            </a:solidFill>
            <a:prstDash val="solid"/>
          </a:ln>
        </p:spPr>
      </p:sp>
      <p:sp>
        <p:nvSpPr>
          <p:cNvPr id="21" name="Shape 19"/>
          <p:cNvSpPr/>
          <p:nvPr/>
        </p:nvSpPr>
        <p:spPr>
          <a:xfrm>
            <a:off x="749808" y="5280660"/>
            <a:ext cx="457200" cy="457200"/>
          </a:xfrm>
          <a:prstGeom prst="ellipse">
            <a:avLst/>
          </a:prstGeom>
          <a:solidFill>
            <a:schemeClr val="accent1"/>
          </a:solidFill>
          <a:ln w="6350">
            <a:solidFill>
              <a:schemeClr val="accent1"/>
            </a:solidFill>
            <a:prstDash val="solid"/>
          </a:ln>
        </p:spPr>
      </p:sp>
      <p:pic>
        <p:nvPicPr>
          <p:cNvPr id="22" name="Image 0" descr="preencoded.png">    </p:cNvPr>
          <p:cNvPicPr>
            <a:picLocks noChangeAspect="1"/>
          </p:cNvPicPr>
          <p:nvPr/>
        </p:nvPicPr>
        <p:blipFill>
          <a:blip r:embed="rId1"/>
          <a:stretch>
            <a:fillRect/>
          </a:stretch>
        </p:blipFill>
        <p:spPr>
          <a:xfrm>
            <a:off x="845820" y="5376672"/>
            <a:ext cx="265176" cy="265176"/>
          </a:xfrm>
          <a:prstGeom prst="rect">
            <a:avLst/>
          </a:prstGeom>
        </p:spPr>
      </p:pic>
      <p:sp>
        <p:nvSpPr>
          <p:cNvPr id="23" name="Text 20"/>
          <p:cNvSpPr txBox="1"/>
          <p:nvPr/>
        </p:nvSpPr>
        <p:spPr>
          <a:xfrm>
            <a:off x="1389888" y="5148072"/>
            <a:ext cx="10012680" cy="722376"/>
          </a:xfrm>
          <a:prstGeom prst="rect">
            <a:avLst/>
          </a:prstGeom>
          <a:noFill/>
          <a:ln/>
        </p:spPr>
        <p:txBody>
          <a:bodyPr wrap="square" lIns="0" tIns="0" rIns="0" bIns="0" rtlCol="0" anchor="ctr"/>
          <a:lstStyle/>
          <a:p>
            <a:pPr indent="0" marL="0">
              <a:buNone/>
            </a:pPr>
            <a:r>
              <a:rPr lang="en-US" sz="1400" dirty="0">
                <a:solidFill>
                  <a:schemeClr val="tx1"/>
                </a:solidFill>
              </a:rPr>
              <a:t>The arc: "can a CNN do this?" → squeeze accuracy from big models → shrink them for a phone → keep cell structure and benchmark fairly.</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KEY IDEAS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Five ideas that shaped the field</a:t>
            </a:r>
            <a:endParaRPr lang="en-US" sz="3200" dirty="0"/>
          </a:p>
        </p:txBody>
      </p:sp>
      <p:sp>
        <p:nvSpPr>
          <p:cNvPr id="4" name="Shape 2"/>
          <p:cNvSpPr/>
          <p:nvPr/>
        </p:nvSpPr>
        <p:spPr>
          <a:xfrm>
            <a:off x="548640" y="1600200"/>
            <a:ext cx="3520440" cy="2103120"/>
          </a:xfrm>
          <a:prstGeom prst="roundRect">
            <a:avLst>
              <a:gd name="adj" fmla="val 3478"/>
            </a:avLst>
          </a:prstGeom>
          <a:solidFill>
            <a:schemeClr val="bg2"/>
          </a:solidFill>
          <a:ln w="9525">
            <a:solidFill>
              <a:schemeClr val="bg2"/>
            </a:solidFill>
            <a:prstDash val="solid"/>
          </a:ln>
        </p:spPr>
      </p:sp>
      <p:sp>
        <p:nvSpPr>
          <p:cNvPr id="5" name="Shape 3"/>
          <p:cNvSpPr/>
          <p:nvPr/>
        </p:nvSpPr>
        <p:spPr>
          <a:xfrm>
            <a:off x="777240" y="1828800"/>
            <a:ext cx="548640" cy="54864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92454" y="1944014"/>
            <a:ext cx="318211" cy="318211"/>
          </a:xfrm>
          <a:prstGeom prst="rect">
            <a:avLst/>
          </a:prstGeom>
        </p:spPr>
      </p:pic>
      <p:sp>
        <p:nvSpPr>
          <p:cNvPr id="7" name="Text 4"/>
          <p:cNvSpPr txBox="1"/>
          <p:nvPr/>
        </p:nvSpPr>
        <p:spPr>
          <a:xfrm>
            <a:off x="1463040" y="1828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Domain features win</a:t>
            </a:r>
            <a:endParaRPr lang="en-US" sz="1600" dirty="0"/>
          </a:p>
        </p:txBody>
      </p:sp>
      <p:sp>
        <p:nvSpPr>
          <p:cNvPr id="8" name="Text 5"/>
          <p:cNvSpPr txBox="1"/>
          <p:nvPr/>
        </p:nvSpPr>
        <p:spPr>
          <a:xfrm>
            <a:off x="777240" y="2468880"/>
            <a:ext cx="3108960" cy="1188720"/>
          </a:xfrm>
          <a:prstGeom prst="rect">
            <a:avLst/>
          </a:prstGeom>
          <a:noFill/>
          <a:ln/>
        </p:spPr>
        <p:txBody>
          <a:bodyPr wrap="square" lIns="0" tIns="0" rIns="0" bIns="0" rtlCol="0" anchor="t"/>
          <a:lstStyle/>
          <a:p>
            <a:pPr indent="0" marL="0">
              <a:buNone/>
            </a:pPr>
            <a:r>
              <a:rPr lang="en-US" sz="1300" dirty="0">
                <a:solidFill>
                  <a:schemeClr val="tx1"/>
                </a:solidFill>
              </a:rPr>
              <a:t>Liang [1]: a 16-layer CNN 97.37 % vs. AlexNet features 91.99 %. Rajaraman [2] mapped which pre-trained layers transfer best.</a:t>
            </a:r>
            <a:endParaRPr lang="en-US" sz="1300" dirty="0"/>
          </a:p>
        </p:txBody>
      </p:sp>
      <p:sp>
        <p:nvSpPr>
          <p:cNvPr id="9" name="Shape 6"/>
          <p:cNvSpPr/>
          <p:nvPr/>
        </p:nvSpPr>
        <p:spPr>
          <a:xfrm>
            <a:off x="4297680" y="1600200"/>
            <a:ext cx="3520440" cy="2103120"/>
          </a:xfrm>
          <a:prstGeom prst="roundRect">
            <a:avLst>
              <a:gd name="adj" fmla="val 3478"/>
            </a:avLst>
          </a:prstGeom>
          <a:solidFill>
            <a:schemeClr val="bg2"/>
          </a:solidFill>
          <a:ln w="9525">
            <a:solidFill>
              <a:schemeClr val="bg2"/>
            </a:solidFill>
            <a:prstDash val="solid"/>
          </a:ln>
        </p:spPr>
      </p:sp>
      <p:sp>
        <p:nvSpPr>
          <p:cNvPr id="10" name="Shape 7"/>
          <p:cNvSpPr/>
          <p:nvPr/>
        </p:nvSpPr>
        <p:spPr>
          <a:xfrm>
            <a:off x="4526280" y="1828800"/>
            <a:ext cx="548640" cy="54864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41494" y="1944014"/>
            <a:ext cx="318211" cy="318211"/>
          </a:xfrm>
          <a:prstGeom prst="rect">
            <a:avLst/>
          </a:prstGeom>
        </p:spPr>
      </p:pic>
      <p:sp>
        <p:nvSpPr>
          <p:cNvPr id="12" name="Text 8"/>
          <p:cNvSpPr txBox="1"/>
          <p:nvPr/>
        </p:nvSpPr>
        <p:spPr>
          <a:xfrm>
            <a:off x="5212080" y="1828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Ensembles steady answers</a:t>
            </a:r>
            <a:endParaRPr lang="en-US" sz="1600" dirty="0"/>
          </a:p>
        </p:txBody>
      </p:sp>
      <p:sp>
        <p:nvSpPr>
          <p:cNvPr id="13" name="Text 9"/>
          <p:cNvSpPr txBox="1"/>
          <p:nvPr/>
        </p:nvSpPr>
        <p:spPr>
          <a:xfrm>
            <a:off x="4526280" y="2468880"/>
            <a:ext cx="3108960" cy="1188720"/>
          </a:xfrm>
          <a:prstGeom prst="rect">
            <a:avLst/>
          </a:prstGeom>
          <a:noFill/>
          <a:ln/>
        </p:spPr>
        <p:txBody>
          <a:bodyPr wrap="square" lIns="0" tIns="0" rIns="0" bIns="0" rtlCol="0" anchor="t"/>
          <a:lstStyle/>
          <a:p>
            <a:pPr indent="0" marL="0">
              <a:buNone/>
            </a:pPr>
            <a:r>
              <a:rPr lang="en-US" sz="1300" dirty="0">
                <a:solidFill>
                  <a:schemeClr val="tx1"/>
                </a:solidFill>
              </a:rPr>
              <a:t>Rajaraman [3]: VGG-19 + SqueezeNet. Marques [8]: 10-fold EfficientNet-B0 ensemble, 98.29 %, AUC 99.76 %.</a:t>
            </a:r>
            <a:endParaRPr lang="en-US" sz="1300" dirty="0"/>
          </a:p>
        </p:txBody>
      </p:sp>
      <p:sp>
        <p:nvSpPr>
          <p:cNvPr id="14" name="Shape 10"/>
          <p:cNvSpPr/>
          <p:nvPr/>
        </p:nvSpPr>
        <p:spPr>
          <a:xfrm>
            <a:off x="8046720" y="1600200"/>
            <a:ext cx="3520440" cy="2103120"/>
          </a:xfrm>
          <a:prstGeom prst="roundRect">
            <a:avLst>
              <a:gd name="adj" fmla="val 3478"/>
            </a:avLst>
          </a:prstGeom>
          <a:solidFill>
            <a:schemeClr val="bg2"/>
          </a:solidFill>
          <a:ln w="9525">
            <a:solidFill>
              <a:schemeClr val="bg2"/>
            </a:solidFill>
            <a:prstDash val="solid"/>
          </a:ln>
        </p:spPr>
      </p:sp>
      <p:sp>
        <p:nvSpPr>
          <p:cNvPr id="15" name="Shape 11"/>
          <p:cNvSpPr/>
          <p:nvPr/>
        </p:nvSpPr>
        <p:spPr>
          <a:xfrm>
            <a:off x="8275320" y="1828800"/>
            <a:ext cx="548640" cy="548640"/>
          </a:xfrm>
          <a:prstGeom prst="ellipse">
            <a:avLst/>
          </a:prstGeom>
          <a:solidFill>
            <a:schemeClr val="accent1"/>
          </a:solidFill>
          <a:ln w="63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390534" y="1944014"/>
            <a:ext cx="318211" cy="318211"/>
          </a:xfrm>
          <a:prstGeom prst="rect">
            <a:avLst/>
          </a:prstGeom>
        </p:spPr>
      </p:pic>
      <p:sp>
        <p:nvSpPr>
          <p:cNvPr id="17" name="Text 12"/>
          <p:cNvSpPr txBox="1"/>
          <p:nvPr/>
        </p:nvSpPr>
        <p:spPr>
          <a:xfrm>
            <a:off x="8961120" y="1828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Small enough for a phone</a:t>
            </a:r>
            <a:endParaRPr lang="en-US" sz="1600" dirty="0"/>
          </a:p>
        </p:txBody>
      </p:sp>
      <p:sp>
        <p:nvSpPr>
          <p:cNvPr id="18" name="Text 13"/>
          <p:cNvSpPr txBox="1"/>
          <p:nvPr/>
        </p:nvSpPr>
        <p:spPr>
          <a:xfrm>
            <a:off x="8275320" y="2468880"/>
            <a:ext cx="3108960" cy="1188720"/>
          </a:xfrm>
          <a:prstGeom prst="rect">
            <a:avLst/>
          </a:prstGeom>
          <a:noFill/>
          <a:ln/>
        </p:spPr>
        <p:txBody>
          <a:bodyPr wrap="square" lIns="0" tIns="0" rIns="0" bIns="0" rtlCol="0" anchor="t"/>
          <a:lstStyle/>
          <a:p>
            <a:pPr indent="0" marL="0">
              <a:buNone/>
            </a:pPr>
            <a:r>
              <a:rPr lang="en-US" sz="1300" dirty="0">
                <a:solidFill>
                  <a:schemeClr val="tx1"/>
                </a:solidFill>
              </a:rPr>
              <a:t>Fuhad [5]: 99.23 % at 4,600 FLOPs, &lt; 1 s on a phone. Masud [7]: 409 K parameters. Zhao [6]: 2 species.</a:t>
            </a:r>
            <a:endParaRPr lang="en-US" sz="1300" dirty="0"/>
          </a:p>
        </p:txBody>
      </p:sp>
      <p:sp>
        <p:nvSpPr>
          <p:cNvPr id="19" name="Shape 14"/>
          <p:cNvSpPr/>
          <p:nvPr/>
        </p:nvSpPr>
        <p:spPr>
          <a:xfrm>
            <a:off x="548640" y="3886200"/>
            <a:ext cx="3520440" cy="2103120"/>
          </a:xfrm>
          <a:prstGeom prst="roundRect">
            <a:avLst>
              <a:gd name="adj" fmla="val 3478"/>
            </a:avLst>
          </a:prstGeom>
          <a:solidFill>
            <a:schemeClr val="bg2"/>
          </a:solidFill>
          <a:ln w="9525">
            <a:solidFill>
              <a:schemeClr val="bg2"/>
            </a:solidFill>
            <a:prstDash val="solid"/>
          </a:ln>
        </p:spPr>
      </p:sp>
      <p:sp>
        <p:nvSpPr>
          <p:cNvPr id="20" name="Shape 15"/>
          <p:cNvSpPr/>
          <p:nvPr/>
        </p:nvSpPr>
        <p:spPr>
          <a:xfrm>
            <a:off x="777240" y="4114800"/>
            <a:ext cx="548640" cy="548640"/>
          </a:xfrm>
          <a:prstGeom prst="ellipse">
            <a:avLst/>
          </a:prstGeom>
          <a:solidFill>
            <a:schemeClr val="accent1"/>
          </a:solidFill>
          <a:ln w="635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892454" y="4230014"/>
            <a:ext cx="318211" cy="318211"/>
          </a:xfrm>
          <a:prstGeom prst="rect">
            <a:avLst/>
          </a:prstGeom>
        </p:spPr>
      </p:pic>
      <p:sp>
        <p:nvSpPr>
          <p:cNvPr id="22" name="Text 16"/>
          <p:cNvSpPr txBox="1"/>
          <p:nvPr/>
        </p:nvSpPr>
        <p:spPr>
          <a:xfrm>
            <a:off x="1463040" y="4114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Better inputs and structure</a:t>
            </a:r>
            <a:endParaRPr lang="en-US" sz="1600" dirty="0"/>
          </a:p>
        </p:txBody>
      </p:sp>
      <p:sp>
        <p:nvSpPr>
          <p:cNvPr id="23" name="Text 17"/>
          <p:cNvSpPr txBox="1"/>
          <p:nvPr/>
        </p:nvSpPr>
        <p:spPr>
          <a:xfrm>
            <a:off x="777240" y="4754880"/>
            <a:ext cx="3108960" cy="1188720"/>
          </a:xfrm>
          <a:prstGeom prst="rect">
            <a:avLst/>
          </a:prstGeom>
          <a:noFill/>
          <a:ln/>
        </p:spPr>
        <p:txBody>
          <a:bodyPr wrap="square" lIns="0" tIns="0" rIns="0" bIns="0" rtlCol="0" anchor="t"/>
          <a:lstStyle/>
          <a:p>
            <a:pPr indent="0" marL="0">
              <a:buNone/>
            </a:pPr>
            <a:r>
              <a:rPr lang="en-US" sz="1300" dirty="0">
                <a:solidFill>
                  <a:schemeClr val="tx1"/>
                </a:solidFill>
              </a:rPr>
              <a:t>Umer [4]: YUV stain normalisation, ~99.9 %. Madhu [9]: capsule network keeps the parasite's pose, 99.35 %.</a:t>
            </a:r>
            <a:endParaRPr lang="en-US" sz="1300" dirty="0"/>
          </a:p>
        </p:txBody>
      </p:sp>
      <p:sp>
        <p:nvSpPr>
          <p:cNvPr id="24" name="Shape 18"/>
          <p:cNvSpPr/>
          <p:nvPr/>
        </p:nvSpPr>
        <p:spPr>
          <a:xfrm>
            <a:off x="4297680" y="3886200"/>
            <a:ext cx="3520440" cy="2103120"/>
          </a:xfrm>
          <a:prstGeom prst="roundRect">
            <a:avLst>
              <a:gd name="adj" fmla="val 3478"/>
            </a:avLst>
          </a:prstGeom>
          <a:solidFill>
            <a:schemeClr val="bg2"/>
          </a:solidFill>
          <a:ln w="9525">
            <a:solidFill>
              <a:schemeClr val="bg2"/>
            </a:solidFill>
            <a:prstDash val="solid"/>
          </a:ln>
        </p:spPr>
      </p:sp>
      <p:sp>
        <p:nvSpPr>
          <p:cNvPr id="25" name="Shape 19"/>
          <p:cNvSpPr/>
          <p:nvPr/>
        </p:nvSpPr>
        <p:spPr>
          <a:xfrm>
            <a:off x="4526280" y="4114800"/>
            <a:ext cx="548640" cy="548640"/>
          </a:xfrm>
          <a:prstGeom prst="ellipse">
            <a:avLst/>
          </a:prstGeom>
          <a:solidFill>
            <a:schemeClr val="accent1"/>
          </a:solidFill>
          <a:ln w="635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4641494" y="4230014"/>
            <a:ext cx="318211" cy="318211"/>
          </a:xfrm>
          <a:prstGeom prst="rect">
            <a:avLst/>
          </a:prstGeom>
        </p:spPr>
      </p:pic>
      <p:sp>
        <p:nvSpPr>
          <p:cNvPr id="27" name="Text 20"/>
          <p:cNvSpPr txBox="1"/>
          <p:nvPr/>
        </p:nvSpPr>
        <p:spPr>
          <a:xfrm>
            <a:off x="5212080" y="4114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Fair benchmarks</a:t>
            </a:r>
            <a:endParaRPr lang="en-US" sz="1600" dirty="0"/>
          </a:p>
        </p:txBody>
      </p:sp>
      <p:sp>
        <p:nvSpPr>
          <p:cNvPr id="28" name="Text 21"/>
          <p:cNvSpPr txBox="1"/>
          <p:nvPr/>
        </p:nvSpPr>
        <p:spPr>
          <a:xfrm>
            <a:off x="4526280" y="4754880"/>
            <a:ext cx="3108960" cy="1188720"/>
          </a:xfrm>
          <a:prstGeom prst="rect">
            <a:avLst/>
          </a:prstGeom>
          <a:noFill/>
          <a:ln/>
        </p:spPr>
        <p:txBody>
          <a:bodyPr wrap="square" lIns="0" tIns="0" rIns="0" bIns="0" rtlCol="0" anchor="t"/>
          <a:lstStyle/>
          <a:p>
            <a:pPr indent="0" marL="0">
              <a:buNone/>
            </a:pPr>
            <a:r>
              <a:rPr lang="en-US" sz="1300" dirty="0">
                <a:solidFill>
                  <a:schemeClr val="tx1"/>
                </a:solidFill>
              </a:rPr>
              <a:t>Hemachandran [10]: MobileNetV2 97.06 % ≈ ResNet-50. Mujahid [11]: tuned 12-layer CNN 97.57 % beats 11 backbones.</a:t>
            </a:r>
            <a:endParaRPr lang="en-US" sz="1300" dirty="0"/>
          </a:p>
        </p:txBody>
      </p:sp>
      <p:sp>
        <p:nvSpPr>
          <p:cNvPr id="29" name="Shape 22"/>
          <p:cNvSpPr/>
          <p:nvPr/>
        </p:nvSpPr>
        <p:spPr>
          <a:xfrm>
            <a:off x="8046720" y="3886200"/>
            <a:ext cx="3520440" cy="2103120"/>
          </a:xfrm>
          <a:prstGeom prst="roundRect">
            <a:avLst>
              <a:gd name="adj" fmla="val 3478"/>
            </a:avLst>
          </a:prstGeom>
          <a:solidFill>
            <a:srgbClr val="0E3B43"/>
          </a:solidFill>
          <a:ln w="9525">
            <a:solidFill>
              <a:srgbClr val="0E3B43"/>
            </a:solidFill>
            <a:prstDash val="solid"/>
          </a:ln>
        </p:spPr>
      </p:sp>
      <p:sp>
        <p:nvSpPr>
          <p:cNvPr id="30" name="Text 23"/>
          <p:cNvSpPr txBox="1"/>
          <p:nvPr/>
        </p:nvSpPr>
        <p:spPr>
          <a:xfrm>
            <a:off x="8275320" y="4069080"/>
            <a:ext cx="3108960" cy="1783080"/>
          </a:xfrm>
          <a:prstGeom prst="rect">
            <a:avLst/>
          </a:prstGeom>
          <a:noFill/>
          <a:ln/>
        </p:spPr>
        <p:txBody>
          <a:bodyPr wrap="square" lIns="0" tIns="0" rIns="0" bIns="0" rtlCol="0" anchor="t"/>
          <a:lstStyle/>
          <a:p>
            <a:pPr indent="0" marL="0">
              <a:buNone/>
            </a:pPr>
            <a:r>
              <a:rPr lang="en-US" sz="1600" b="1" dirty="0">
                <a:solidFill>
                  <a:schemeClr val="accent2"/>
                </a:solidFill>
              </a:rPr>
              <a:t>Takeaway</a:t>
            </a:r>
            <a:endParaRPr lang="en-US" sz="1400" dirty="0"/>
          </a:p>
          <a:p>
            <a:pPr indent="0" marL="0">
              <a:buNone/>
            </a:pPr>
            <a:r>
              <a:rPr lang="en-US" sz="1400" dirty="0">
                <a:solidFill>
                  <a:schemeClr val="bg1"/>
                </a:solidFill>
              </a:rPr>
              <a:t>Accuracy on clean, randomly split data is largely solved. The open problems are trust (leakage, labels) and deployment.</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AT A GLANCE</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All 11 studies on one page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57200"/>
                <a:gridCol w="2651760"/>
                <a:gridCol w="3749040"/>
                <a:gridCol w="4206240"/>
              </a:tblGrid>
              <a:tr h="3611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 (year)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Headline result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Liang (2016)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Custom 16-layer CNN from scratch</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97.37 %, beats AlexNet features (91.99 %)</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Rajaraman (2018)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Pre-trained CNNs as feature extractors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Mapped the best transfer layers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Rajaraman (2019)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VGG-19 + SqueezeNet ensemble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Lower variance, better generalisation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Umer (2020)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Stacked CNN + YUV stain normalisation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~99.9 % accuracy, 100 % precision (5-fold)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Fuhad (2020)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Autoencoder + knowledge distillation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99.23 % · 4,600 FLOPs · &lt; 1 s · cleaned labels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Zhao (2020)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VGG16 + FSRCNN super-resolution + SSD300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96.5 % · cross-species (P. vivax)</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Masud (2020)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Lightweight CNN + cyclical learning rate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97.30 % · 409 K parameters · ~97 min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1188">
                <a:tc>
                  <a:txBody>
                    <a:bodyPr/>
                    <a:lstStyle/>
                    <a:p>
                      <a:pPr indent="0" marL="0">
                        <a:buNone/>
                      </a:pPr>
                      <a:r>
                        <a:rPr lang="en-US" sz="1300" b="1" dirty="0">
                          <a:solidFill>
                            <a:srgbClr val="137C8E"/>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b="1" dirty="0">
                          <a:solidFill>
                            <a:srgbClr val="137C8E"/>
                          </a:solidFill>
                          <a:latin typeface="Calibri" pitchFamily="34" charset="0"/>
                          <a:ea typeface="Calibri" pitchFamily="34" charset="-122"/>
                          <a:cs typeface="Calibri" pitchFamily="34" charset="-120"/>
                        </a:rPr>
                        <a:t>Marques (2022) · base paper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b="1" dirty="0">
                          <a:solidFill>
                            <a:srgbClr val="137C8E"/>
                          </a:solidFill>
                          <a:latin typeface="Calibri" pitchFamily="34" charset="0"/>
                          <a:ea typeface="Calibri" pitchFamily="34" charset="-122"/>
                          <a:cs typeface="Calibri" pitchFamily="34" charset="-120"/>
                        </a:rPr>
                        <a:t>EfficientNet-B0 · 10-fold ensemble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b="1" dirty="0">
                          <a:solidFill>
                            <a:srgbClr val="137C8E"/>
                          </a:solidFill>
                          <a:latin typeface="Calibri" pitchFamily="34" charset="0"/>
                          <a:ea typeface="Calibri" pitchFamily="34" charset="-122"/>
                          <a:cs typeface="Calibri" pitchFamily="34" charset="-120"/>
                        </a:rPr>
                        <a:t>98.29 % · AUC 99.76 % · open code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Madhu (2023)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Inception-V3 + capsule network</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99.35 % · preserves spatial pose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Hemachandran (2023)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CNN vs. MobileNetV2 vs. ResNet-50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MobileNetV2 97.06 % · light ≈ heavy</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611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Mujahid (2024)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Custom 12-layer CNN vs. 11 backbones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97.57 % · lowest test loss (0.0995)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bl>
          </a:graphicData>
        </a:graphic>
      </p:graphicFrame>
      <p:sp>
        <p:nvSpPr>
          <p:cNvPr id="5" name="Text 2"/>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Direct ranking is misleading: protocols, splits and label cleaning differ between papers.</a:t>
            </a:r>
            <a:endParaRPr lang="en-US" sz="12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COMPARATIVE ANALYSIS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Reported accuracy is high, but not comparable</a:t>
            </a:r>
            <a:endParaRPr lang="en-US" sz="3200" dirty="0"/>
          </a:p>
        </p:txBody>
      </p:sp>
      <p:graphicFrame>
        <p:nvGraphicFramePr>
          <p:cNvPr id="4" name="Chart 0" descr=""/>
          <p:cNvGraphicFramePr/>
          <p:nvPr/>
        </p:nvGraphicFramePr>
        <p:xfrm>
          <a:off x="548640" y="15544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691640"/>
            <a:ext cx="502920" cy="50292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2"/>
          <a:stretch>
            <a:fillRect/>
          </a:stretch>
        </p:blipFill>
        <p:spPr>
          <a:xfrm>
            <a:off x="7969453" y="1797253"/>
            <a:ext cx="291694" cy="291694"/>
          </a:xfrm>
          <a:prstGeom prst="rect">
            <a:avLst/>
          </a:prstGeom>
        </p:spPr>
      </p:pic>
      <p:sp>
        <p:nvSpPr>
          <p:cNvPr id="7" name="Text 3"/>
          <p:cNvSpPr txBox="1"/>
          <p:nvPr/>
        </p:nvSpPr>
        <p:spPr>
          <a:xfrm>
            <a:off x="8595360" y="1655064"/>
            <a:ext cx="3017520"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Different splits</a:t>
            </a:r>
            <a:endParaRPr lang="en-US" sz="1400" dirty="0"/>
          </a:p>
          <a:p>
            <a:pPr indent="0" marL="0">
              <a:spcAft>
                <a:spcPts val="300"/>
              </a:spcAft>
              <a:buNone/>
            </a:pPr>
            <a:r>
              <a:rPr lang="en-US" sz="1400" dirty="0">
                <a:solidFill>
                  <a:schemeClr val="tx1"/>
                </a:solidFill>
              </a:rPr>
              <a:t>5-fold, 10-fold and 80:20 protocols are not comparable.</a:t>
            </a:r>
            <a:endParaRPr lang="en-US" sz="1400" dirty="0"/>
          </a:p>
        </p:txBody>
      </p:sp>
      <p:sp>
        <p:nvSpPr>
          <p:cNvPr id="8" name="Shape 4"/>
          <p:cNvSpPr/>
          <p:nvPr/>
        </p:nvSpPr>
        <p:spPr>
          <a:xfrm>
            <a:off x="7863840" y="3108960"/>
            <a:ext cx="502920" cy="502920"/>
          </a:xfrm>
          <a:prstGeom prst="ellipse">
            <a:avLst/>
          </a:prstGeom>
          <a:solidFill>
            <a:schemeClr val="accent1"/>
          </a:solidFill>
          <a:ln w="6350">
            <a:solidFill>
              <a:schemeClr val="accent1"/>
            </a:solidFill>
            <a:prstDash val="solid"/>
          </a:ln>
        </p:spPr>
      </p:sp>
      <p:pic>
        <p:nvPicPr>
          <p:cNvPr id="9" name="Image 1" descr="preencoded.png">    </p:cNvPr>
          <p:cNvPicPr>
            <a:picLocks noChangeAspect="1"/>
          </p:cNvPicPr>
          <p:nvPr/>
        </p:nvPicPr>
        <p:blipFill>
          <a:blip r:embed="rId3"/>
          <a:stretch>
            <a:fillRect/>
          </a:stretch>
        </p:blipFill>
        <p:spPr>
          <a:xfrm>
            <a:off x="7969453" y="3214573"/>
            <a:ext cx="291694" cy="291694"/>
          </a:xfrm>
          <a:prstGeom prst="rect">
            <a:avLst/>
          </a:prstGeom>
        </p:spPr>
      </p:pic>
      <p:sp>
        <p:nvSpPr>
          <p:cNvPr id="10" name="Text 5"/>
          <p:cNvSpPr txBox="1"/>
          <p:nvPr/>
        </p:nvSpPr>
        <p:spPr>
          <a:xfrm>
            <a:off x="8595360" y="3072384"/>
            <a:ext cx="3017520"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Different data</a:t>
            </a:r>
            <a:endParaRPr lang="en-US" sz="1400" dirty="0"/>
          </a:p>
          <a:p>
            <a:pPr indent="0" marL="0">
              <a:spcAft>
                <a:spcPts val="300"/>
              </a:spcAft>
              <a:buNone/>
            </a:pPr>
            <a:r>
              <a:rPr lang="en-US" sz="1400" dirty="0">
                <a:solidFill>
                  <a:schemeClr val="tx1"/>
                </a:solidFill>
              </a:rPr>
              <a:t>Some use the noisy set, some cleaned labels.</a:t>
            </a:r>
            <a:endParaRPr lang="en-US" sz="1400" dirty="0"/>
          </a:p>
        </p:txBody>
      </p:sp>
      <p:sp>
        <p:nvSpPr>
          <p:cNvPr id="11" name="Shape 6"/>
          <p:cNvSpPr/>
          <p:nvPr/>
        </p:nvSpPr>
        <p:spPr>
          <a:xfrm>
            <a:off x="7863840" y="4526280"/>
            <a:ext cx="502920" cy="502920"/>
          </a:xfrm>
          <a:prstGeom prst="ellipse">
            <a:avLst/>
          </a:prstGeom>
          <a:solidFill>
            <a:schemeClr val="accent1"/>
          </a:solidFill>
          <a:ln w="6350">
            <a:solidFill>
              <a:schemeClr val="accent1"/>
            </a:solidFill>
            <a:prstDash val="solid"/>
          </a:ln>
        </p:spPr>
      </p:sp>
      <p:pic>
        <p:nvPicPr>
          <p:cNvPr id="12" name="Image 2" descr="preencoded.png">    </p:cNvPr>
          <p:cNvPicPr>
            <a:picLocks noChangeAspect="1"/>
          </p:cNvPicPr>
          <p:nvPr/>
        </p:nvPicPr>
        <p:blipFill>
          <a:blip r:embed="rId4"/>
          <a:stretch>
            <a:fillRect/>
          </a:stretch>
        </p:blipFill>
        <p:spPr>
          <a:xfrm>
            <a:off x="7969453" y="4631893"/>
            <a:ext cx="291694" cy="291694"/>
          </a:xfrm>
          <a:prstGeom prst="rect">
            <a:avLst/>
          </a:prstGeom>
        </p:spPr>
      </p:pic>
      <p:sp>
        <p:nvSpPr>
          <p:cNvPr id="13" name="Text 7"/>
          <p:cNvSpPr txBox="1"/>
          <p:nvPr/>
        </p:nvSpPr>
        <p:spPr>
          <a:xfrm>
            <a:off x="8595360" y="4489704"/>
            <a:ext cx="3017520"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Possible leakage</a:t>
            </a:r>
            <a:endParaRPr lang="en-US" sz="1400" dirty="0"/>
          </a:p>
          <a:p>
            <a:pPr indent="0" marL="0">
              <a:spcAft>
                <a:spcPts val="300"/>
              </a:spcAft>
              <a:buNone/>
            </a:pPr>
            <a:r>
              <a:rPr lang="en-US" sz="1400" dirty="0">
                <a:solidFill>
                  <a:schemeClr val="tx1"/>
                </a:solidFill>
              </a:rPr>
              <a:t>Random image splits can put one patient's cells in both training and test.</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RESEARCH GAPS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What none of the papers has solved</a:t>
            </a:r>
            <a:endParaRPr lang="en-US" sz="3200" dirty="0"/>
          </a:p>
        </p:txBody>
      </p:sp>
      <p:sp>
        <p:nvSpPr>
          <p:cNvPr id="4" name="Shape 2"/>
          <p:cNvSpPr/>
          <p:nvPr/>
        </p:nvSpPr>
        <p:spPr>
          <a:xfrm>
            <a:off x="548640" y="1600200"/>
            <a:ext cx="5440680" cy="2057400"/>
          </a:xfrm>
          <a:prstGeom prst="roundRect">
            <a:avLst>
              <a:gd name="adj" fmla="val 3556"/>
            </a:avLst>
          </a:prstGeom>
          <a:solidFill>
            <a:schemeClr val="bg2"/>
          </a:solidFill>
          <a:ln w="9525">
            <a:solidFill>
              <a:schemeClr val="bg2"/>
            </a:solidFill>
            <a:prstDash val="solid"/>
          </a:ln>
        </p:spPr>
      </p:sp>
      <p:sp>
        <p:nvSpPr>
          <p:cNvPr id="5" name="Shape 3"/>
          <p:cNvSpPr/>
          <p:nvPr/>
        </p:nvSpPr>
        <p:spPr>
          <a:xfrm>
            <a:off x="822960" y="1874520"/>
            <a:ext cx="594360" cy="594360"/>
          </a:xfrm>
          <a:prstGeom prst="ellipse">
            <a:avLst/>
          </a:prstGeom>
          <a:solidFill>
            <a:schemeClr val="accent3"/>
          </a:solidFill>
          <a:ln w="635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947776" y="1999336"/>
            <a:ext cx="344729" cy="344729"/>
          </a:xfrm>
          <a:prstGeom prst="rect">
            <a:avLst/>
          </a:prstGeom>
        </p:spPr>
      </p:pic>
      <p:sp>
        <p:nvSpPr>
          <p:cNvPr id="7" name="Text 4"/>
          <p:cNvSpPr txBox="1"/>
          <p:nvPr/>
        </p:nvSpPr>
        <p:spPr>
          <a:xfrm>
            <a:off x="1600200" y="1801368"/>
            <a:ext cx="4206240" cy="731520"/>
          </a:xfrm>
          <a:prstGeom prst="rect">
            <a:avLst/>
          </a:prstGeom>
          <a:noFill/>
          <a:ln/>
        </p:spPr>
        <p:txBody>
          <a:bodyPr wrap="square" lIns="0" tIns="0" rIns="0" bIns="0" rtlCol="0" anchor="ctr"/>
          <a:lstStyle/>
          <a:p>
            <a:pPr indent="0" marL="0">
              <a:buNone/>
            </a:pPr>
            <a:r>
              <a:rPr lang="en-US" sz="1100" b="1" spc="100" kern="0" dirty="0">
                <a:solidFill>
                  <a:schemeClr val="accent6"/>
                </a:solidFill>
              </a:rPr>
              <a:t>GAP 1</a:t>
            </a:r>
            <a:endParaRPr lang="en-US" sz="1400" dirty="0"/>
          </a:p>
          <a:p>
            <a:pPr indent="0" marL="0">
              <a:buNone/>
            </a:pPr>
            <a:r>
              <a:rPr lang="en-US" sz="1700" b="1" dirty="0">
                <a:solidFill>
                  <a:schemeClr val="tx1"/>
                </a:solidFill>
              </a:rPr>
              <a:t>Patient-level data leakage</a:t>
            </a:r>
            <a:endParaRPr lang="en-US" sz="1400" dirty="0"/>
          </a:p>
        </p:txBody>
      </p:sp>
      <p:sp>
        <p:nvSpPr>
          <p:cNvPr id="8" name="Text 5"/>
          <p:cNvSpPr txBox="1"/>
          <p:nvPr/>
        </p:nvSpPr>
        <p:spPr>
          <a:xfrm>
            <a:off x="822960" y="2606040"/>
            <a:ext cx="4937760" cy="960120"/>
          </a:xfrm>
          <a:prstGeom prst="rect">
            <a:avLst/>
          </a:prstGeom>
          <a:noFill/>
          <a:ln/>
        </p:spPr>
        <p:txBody>
          <a:bodyPr wrap="square" lIns="0" tIns="0" rIns="0" bIns="0" rtlCol="0" anchor="t"/>
          <a:lstStyle/>
          <a:p>
            <a:pPr indent="0" marL="0">
              <a:buNone/>
            </a:pPr>
            <a:r>
              <a:rPr lang="en-US" sz="1400" dirty="0">
                <a:solidFill>
                  <a:schemeClr val="tx1"/>
                </a:solidFill>
              </a:rPr>
              <a:t>Random image-level splits put cells from the same patient in training and test, inflating accuracy. Only [1] and [2] split by patient.</a:t>
            </a:r>
            <a:endParaRPr lang="en-US" sz="1400" dirty="0"/>
          </a:p>
        </p:txBody>
      </p:sp>
      <p:sp>
        <p:nvSpPr>
          <p:cNvPr id="9" name="Shape 6"/>
          <p:cNvSpPr/>
          <p:nvPr/>
        </p:nvSpPr>
        <p:spPr>
          <a:xfrm>
            <a:off x="6172200" y="1600200"/>
            <a:ext cx="5440680" cy="2057400"/>
          </a:xfrm>
          <a:prstGeom prst="roundRect">
            <a:avLst>
              <a:gd name="adj" fmla="val 3556"/>
            </a:avLst>
          </a:prstGeom>
          <a:solidFill>
            <a:schemeClr val="bg2"/>
          </a:solidFill>
          <a:ln w="9525">
            <a:solidFill>
              <a:schemeClr val="bg2"/>
            </a:solidFill>
            <a:prstDash val="solid"/>
          </a:ln>
        </p:spPr>
      </p:sp>
      <p:sp>
        <p:nvSpPr>
          <p:cNvPr id="10" name="Shape 7"/>
          <p:cNvSpPr/>
          <p:nvPr/>
        </p:nvSpPr>
        <p:spPr>
          <a:xfrm>
            <a:off x="6446520" y="1874520"/>
            <a:ext cx="594360" cy="59436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571336" y="1999336"/>
            <a:ext cx="344729" cy="344729"/>
          </a:xfrm>
          <a:prstGeom prst="rect">
            <a:avLst/>
          </a:prstGeom>
        </p:spPr>
      </p:pic>
      <p:sp>
        <p:nvSpPr>
          <p:cNvPr id="12" name="Text 8"/>
          <p:cNvSpPr txBox="1"/>
          <p:nvPr/>
        </p:nvSpPr>
        <p:spPr>
          <a:xfrm>
            <a:off x="7223760" y="1801368"/>
            <a:ext cx="4206240" cy="731520"/>
          </a:xfrm>
          <a:prstGeom prst="rect">
            <a:avLst/>
          </a:prstGeom>
          <a:noFill/>
          <a:ln/>
        </p:spPr>
        <p:txBody>
          <a:bodyPr wrap="square" lIns="0" tIns="0" rIns="0" bIns="0" rtlCol="0" anchor="ctr"/>
          <a:lstStyle/>
          <a:p>
            <a:pPr indent="0" marL="0">
              <a:buNone/>
            </a:pPr>
            <a:r>
              <a:rPr lang="en-US" sz="1100" b="1" spc="100" kern="0" dirty="0">
                <a:solidFill>
                  <a:schemeClr val="accent6"/>
                </a:solidFill>
              </a:rPr>
              <a:t>GAP 2</a:t>
            </a:r>
            <a:endParaRPr lang="en-US" sz="1400" dirty="0"/>
          </a:p>
          <a:p>
            <a:pPr indent="0" marL="0">
              <a:buNone/>
            </a:pPr>
            <a:r>
              <a:rPr lang="en-US" sz="1700" b="1" dirty="0">
                <a:solidFill>
                  <a:schemeClr val="tx1"/>
                </a:solidFill>
              </a:rPr>
              <a:t>Single-species focus</a:t>
            </a:r>
            <a:endParaRPr lang="en-US" sz="1400" dirty="0"/>
          </a:p>
        </p:txBody>
      </p:sp>
      <p:sp>
        <p:nvSpPr>
          <p:cNvPr id="13" name="Text 9"/>
          <p:cNvSpPr txBox="1"/>
          <p:nvPr/>
        </p:nvSpPr>
        <p:spPr>
          <a:xfrm>
            <a:off x="6446520" y="2606040"/>
            <a:ext cx="4937760" cy="960120"/>
          </a:xfrm>
          <a:prstGeom prst="rect">
            <a:avLst/>
          </a:prstGeom>
          <a:noFill/>
          <a:ln/>
        </p:spPr>
        <p:txBody>
          <a:bodyPr wrap="square" lIns="0" tIns="0" rIns="0" bIns="0" rtlCol="0" anchor="t"/>
          <a:lstStyle/>
          <a:p>
            <a:pPr indent="0" marL="0">
              <a:buNone/>
            </a:pPr>
            <a:r>
              <a:rPr lang="en-US" sz="1400" dirty="0">
                <a:solidFill>
                  <a:schemeClr val="tx1"/>
                </a:solidFill>
              </a:rPr>
              <a:t>Almost all models see only P. falciparum; vivax, ovale, malariae and knowlesi are largely untested. Only Zhao [6] tried.</a:t>
            </a:r>
            <a:endParaRPr lang="en-US" sz="1400" dirty="0"/>
          </a:p>
        </p:txBody>
      </p:sp>
      <p:sp>
        <p:nvSpPr>
          <p:cNvPr id="14" name="Shape 10"/>
          <p:cNvSpPr/>
          <p:nvPr/>
        </p:nvSpPr>
        <p:spPr>
          <a:xfrm>
            <a:off x="548640" y="3840480"/>
            <a:ext cx="5440680" cy="2057400"/>
          </a:xfrm>
          <a:prstGeom prst="roundRect">
            <a:avLst>
              <a:gd name="adj" fmla="val 3556"/>
            </a:avLst>
          </a:prstGeom>
          <a:solidFill>
            <a:schemeClr val="bg2"/>
          </a:solidFill>
          <a:ln w="9525">
            <a:solidFill>
              <a:schemeClr val="bg2"/>
            </a:solidFill>
            <a:prstDash val="solid"/>
          </a:ln>
        </p:spPr>
      </p:sp>
      <p:sp>
        <p:nvSpPr>
          <p:cNvPr id="15" name="Shape 11"/>
          <p:cNvSpPr/>
          <p:nvPr/>
        </p:nvSpPr>
        <p:spPr>
          <a:xfrm>
            <a:off x="822960" y="4114800"/>
            <a:ext cx="594360" cy="594360"/>
          </a:xfrm>
          <a:prstGeom prst="ellipse">
            <a:avLst/>
          </a:prstGeom>
          <a:solidFill>
            <a:schemeClr val="accent1"/>
          </a:solidFill>
          <a:ln w="63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947776" y="4239616"/>
            <a:ext cx="344729" cy="344729"/>
          </a:xfrm>
          <a:prstGeom prst="rect">
            <a:avLst/>
          </a:prstGeom>
        </p:spPr>
      </p:pic>
      <p:sp>
        <p:nvSpPr>
          <p:cNvPr id="17" name="Text 12"/>
          <p:cNvSpPr txBox="1"/>
          <p:nvPr/>
        </p:nvSpPr>
        <p:spPr>
          <a:xfrm>
            <a:off x="1600200" y="4041648"/>
            <a:ext cx="4206240" cy="731520"/>
          </a:xfrm>
          <a:prstGeom prst="rect">
            <a:avLst/>
          </a:prstGeom>
          <a:noFill/>
          <a:ln/>
        </p:spPr>
        <p:txBody>
          <a:bodyPr wrap="square" lIns="0" tIns="0" rIns="0" bIns="0" rtlCol="0" anchor="ctr"/>
          <a:lstStyle/>
          <a:p>
            <a:pPr indent="0" marL="0">
              <a:buNone/>
            </a:pPr>
            <a:r>
              <a:rPr lang="en-US" sz="1100" b="1" spc="100" kern="0" dirty="0">
                <a:solidFill>
                  <a:schemeClr val="accent6"/>
                </a:solidFill>
              </a:rPr>
              <a:t>GAP 3</a:t>
            </a:r>
            <a:endParaRPr lang="en-US" sz="1400" dirty="0"/>
          </a:p>
          <a:p>
            <a:pPr indent="0" marL="0">
              <a:buNone/>
            </a:pPr>
            <a:r>
              <a:rPr lang="en-US" sz="1700" b="1" dirty="0">
                <a:solidFill>
                  <a:schemeClr val="tx1"/>
                </a:solidFill>
              </a:rPr>
              <a:t>Noisy ground-truth labels</a:t>
            </a:r>
            <a:endParaRPr lang="en-US" sz="1400" dirty="0"/>
          </a:p>
        </p:txBody>
      </p:sp>
      <p:sp>
        <p:nvSpPr>
          <p:cNvPr id="18" name="Text 13"/>
          <p:cNvSpPr txBox="1"/>
          <p:nvPr/>
        </p:nvSpPr>
        <p:spPr>
          <a:xfrm>
            <a:off x="822960" y="4846320"/>
            <a:ext cx="4937760" cy="960120"/>
          </a:xfrm>
          <a:prstGeom prst="rect">
            <a:avLst/>
          </a:prstGeom>
          <a:noFill/>
          <a:ln/>
        </p:spPr>
        <p:txBody>
          <a:bodyPr wrap="square" lIns="0" tIns="0" rIns="0" bIns="0" rtlCol="0" anchor="t"/>
          <a:lstStyle/>
          <a:p>
            <a:pPr indent="0" marL="0">
              <a:buNone/>
            </a:pPr>
            <a:r>
              <a:rPr lang="en-US" sz="1400" dirty="0">
                <a:solidFill>
                  <a:schemeClr val="tx1"/>
                </a:solidFill>
              </a:rPr>
              <a:t>Except Fuhad [5], everyone trains and reports on the mislabelled public set.</a:t>
            </a:r>
            <a:endParaRPr lang="en-US" sz="1400" dirty="0"/>
          </a:p>
        </p:txBody>
      </p:sp>
      <p:sp>
        <p:nvSpPr>
          <p:cNvPr id="19" name="Shape 14"/>
          <p:cNvSpPr/>
          <p:nvPr/>
        </p:nvSpPr>
        <p:spPr>
          <a:xfrm>
            <a:off x="6172200" y="3840480"/>
            <a:ext cx="5440680" cy="2057400"/>
          </a:xfrm>
          <a:prstGeom prst="roundRect">
            <a:avLst>
              <a:gd name="adj" fmla="val 3556"/>
            </a:avLst>
          </a:prstGeom>
          <a:solidFill>
            <a:schemeClr val="bg2"/>
          </a:solidFill>
          <a:ln w="9525">
            <a:solidFill>
              <a:schemeClr val="bg2"/>
            </a:solidFill>
            <a:prstDash val="solid"/>
          </a:ln>
        </p:spPr>
      </p:sp>
      <p:sp>
        <p:nvSpPr>
          <p:cNvPr id="20" name="Shape 15"/>
          <p:cNvSpPr/>
          <p:nvPr/>
        </p:nvSpPr>
        <p:spPr>
          <a:xfrm>
            <a:off x="6446520" y="4114800"/>
            <a:ext cx="594360" cy="594360"/>
          </a:xfrm>
          <a:prstGeom prst="ellipse">
            <a:avLst/>
          </a:prstGeom>
          <a:solidFill>
            <a:schemeClr val="accent1"/>
          </a:solidFill>
          <a:ln w="635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571336" y="4239616"/>
            <a:ext cx="344729" cy="344729"/>
          </a:xfrm>
          <a:prstGeom prst="rect">
            <a:avLst/>
          </a:prstGeom>
        </p:spPr>
      </p:pic>
      <p:sp>
        <p:nvSpPr>
          <p:cNvPr id="22" name="Text 16"/>
          <p:cNvSpPr txBox="1"/>
          <p:nvPr/>
        </p:nvSpPr>
        <p:spPr>
          <a:xfrm>
            <a:off x="7223760" y="4041648"/>
            <a:ext cx="4206240" cy="731520"/>
          </a:xfrm>
          <a:prstGeom prst="rect">
            <a:avLst/>
          </a:prstGeom>
          <a:noFill/>
          <a:ln/>
        </p:spPr>
        <p:txBody>
          <a:bodyPr wrap="square" lIns="0" tIns="0" rIns="0" bIns="0" rtlCol="0" anchor="ctr"/>
          <a:lstStyle/>
          <a:p>
            <a:pPr indent="0" marL="0">
              <a:buNone/>
            </a:pPr>
            <a:r>
              <a:rPr lang="en-US" sz="1100" b="1" spc="100" kern="0" dirty="0">
                <a:solidFill>
                  <a:schemeClr val="accent6"/>
                </a:solidFill>
              </a:rPr>
              <a:t>GAP 4</a:t>
            </a:r>
            <a:endParaRPr lang="en-US" sz="1400" dirty="0"/>
          </a:p>
          <a:p>
            <a:pPr indent="0" marL="0">
              <a:buNone/>
            </a:pPr>
            <a:r>
              <a:rPr lang="en-US" sz="1700" b="1" dirty="0">
                <a:solidFill>
                  <a:schemeClr val="tx1"/>
                </a:solidFill>
              </a:rPr>
              <a:t>Clinical-workflow gap</a:t>
            </a:r>
            <a:endParaRPr lang="en-US" sz="1400" dirty="0"/>
          </a:p>
        </p:txBody>
      </p:sp>
      <p:sp>
        <p:nvSpPr>
          <p:cNvPr id="23" name="Text 17"/>
          <p:cNvSpPr txBox="1"/>
          <p:nvPr/>
        </p:nvSpPr>
        <p:spPr>
          <a:xfrm>
            <a:off x="6446520" y="4846320"/>
            <a:ext cx="4937760" cy="960120"/>
          </a:xfrm>
          <a:prstGeom prst="rect">
            <a:avLst/>
          </a:prstGeom>
          <a:noFill/>
          <a:ln/>
        </p:spPr>
        <p:txBody>
          <a:bodyPr wrap="square" lIns="0" tIns="0" rIns="0" bIns="0" rtlCol="0" anchor="t"/>
          <a:lstStyle/>
          <a:p>
            <a:pPr indent="0" marL="0">
              <a:buNone/>
            </a:pPr>
            <a:r>
              <a:rPr lang="en-US" sz="1400" dirty="0">
                <a:solidFill>
                  <a:schemeClr val="tx1"/>
                </a:solidFill>
              </a:rPr>
              <a:t>Work centres on clean, pre-segmented single cells; real labs need raw, unsegmented smears.</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FROM GAPS TO A PLAN</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How the review shapes our project</a:t>
            </a:r>
            <a:endParaRPr lang="en-US" sz="3200" dirty="0"/>
          </a:p>
        </p:txBody>
      </p:sp>
      <p:sp>
        <p:nvSpPr>
          <p:cNvPr id="4" name="Shape 2"/>
          <p:cNvSpPr/>
          <p:nvPr/>
        </p:nvSpPr>
        <p:spPr>
          <a:xfrm>
            <a:off x="548640" y="1645920"/>
            <a:ext cx="2615184" cy="3291840"/>
          </a:xfrm>
          <a:prstGeom prst="roundRect">
            <a:avLst>
              <a:gd name="adj" fmla="val 2797"/>
            </a:avLst>
          </a:prstGeom>
          <a:solidFill>
            <a:schemeClr val="bg2"/>
          </a:solidFill>
          <a:ln w="9525">
            <a:solidFill>
              <a:schemeClr val="bg2"/>
            </a:solidFill>
            <a:prstDash val="solid"/>
          </a:ln>
        </p:spPr>
      </p:sp>
      <p:sp>
        <p:nvSpPr>
          <p:cNvPr id="5" name="Shape 3"/>
          <p:cNvSpPr/>
          <p:nvPr/>
        </p:nvSpPr>
        <p:spPr>
          <a:xfrm>
            <a:off x="777240" y="1874520"/>
            <a:ext cx="594360" cy="59436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02056" y="1999336"/>
            <a:ext cx="344729" cy="344729"/>
          </a:xfrm>
          <a:prstGeom prst="rect">
            <a:avLst/>
          </a:prstGeom>
        </p:spPr>
      </p:pic>
      <p:sp>
        <p:nvSpPr>
          <p:cNvPr id="7" name="Text 4"/>
          <p:cNvSpPr txBox="1"/>
          <p:nvPr/>
        </p:nvSpPr>
        <p:spPr>
          <a:xfrm>
            <a:off x="777240" y="2606040"/>
            <a:ext cx="2194560" cy="868680"/>
          </a:xfrm>
          <a:prstGeom prst="rect">
            <a:avLst/>
          </a:prstGeom>
          <a:noFill/>
          <a:ln/>
        </p:spPr>
        <p:txBody>
          <a:bodyPr wrap="square" lIns="0" tIns="0" rIns="0" bIns="0" rtlCol="0" anchor="t"/>
          <a:lstStyle/>
          <a:p>
            <a:pPr indent="0" marL="0">
              <a:buNone/>
            </a:pPr>
            <a:r>
              <a:rPr lang="en-US" sz="1600" b="1" dirty="0">
                <a:solidFill>
                  <a:schemeClr val="tx1"/>
                </a:solidFill>
              </a:rPr>
              <a:t>YUV stain normalisation</a:t>
            </a:r>
            <a:endParaRPr lang="en-US" sz="1400" dirty="0"/>
          </a:p>
          <a:p>
            <a:pPr indent="0" marL="0">
              <a:buNone/>
            </a:pPr>
            <a:r>
              <a:rPr lang="en-US" sz="1200" dirty="0">
                <a:solidFill>
                  <a:schemeClr val="accent6"/>
                </a:solidFill>
              </a:rPr>
              <a:t>from Umer [4]</a:t>
            </a:r>
            <a:endParaRPr lang="en-US" sz="1400" dirty="0"/>
          </a:p>
        </p:txBody>
      </p:sp>
      <p:sp>
        <p:nvSpPr>
          <p:cNvPr id="8" name="Text 5"/>
          <p:cNvSpPr txBox="1"/>
          <p:nvPr/>
        </p:nvSpPr>
        <p:spPr>
          <a:xfrm>
            <a:off x="777240" y="3520440"/>
            <a:ext cx="2194560" cy="1325880"/>
          </a:xfrm>
          <a:prstGeom prst="rect">
            <a:avLst/>
          </a:prstGeom>
          <a:noFill/>
          <a:ln/>
        </p:spPr>
        <p:txBody>
          <a:bodyPr wrap="square" lIns="0" tIns="0" rIns="0" bIns="0" rtlCol="0" anchor="t"/>
          <a:lstStyle/>
          <a:p>
            <a:pPr indent="0" marL="0">
              <a:buNone/>
            </a:pPr>
            <a:r>
              <a:rPr lang="en-US" sz="1400" dirty="0">
                <a:solidFill>
                  <a:schemeClr val="tx1"/>
                </a:solidFill>
              </a:rPr>
              <a:t>Make the model robust to staining differences between labs. → H2</a:t>
            </a:r>
            <a:endParaRPr lang="en-US" sz="1400" dirty="0"/>
          </a:p>
        </p:txBody>
      </p:sp>
      <p:sp>
        <p:nvSpPr>
          <p:cNvPr id="9" name="Shape 6"/>
          <p:cNvSpPr/>
          <p:nvPr/>
        </p:nvSpPr>
        <p:spPr>
          <a:xfrm>
            <a:off x="3346704" y="1645920"/>
            <a:ext cx="2615184" cy="3291840"/>
          </a:xfrm>
          <a:prstGeom prst="roundRect">
            <a:avLst>
              <a:gd name="adj" fmla="val 2797"/>
            </a:avLst>
          </a:prstGeom>
          <a:solidFill>
            <a:schemeClr val="bg2"/>
          </a:solidFill>
          <a:ln w="9525">
            <a:solidFill>
              <a:schemeClr val="bg2"/>
            </a:solidFill>
            <a:prstDash val="solid"/>
          </a:ln>
        </p:spPr>
      </p:sp>
      <p:sp>
        <p:nvSpPr>
          <p:cNvPr id="10" name="Shape 7"/>
          <p:cNvSpPr/>
          <p:nvPr/>
        </p:nvSpPr>
        <p:spPr>
          <a:xfrm>
            <a:off x="3575304" y="1874520"/>
            <a:ext cx="594360" cy="59436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700120" y="1999336"/>
            <a:ext cx="344729" cy="344729"/>
          </a:xfrm>
          <a:prstGeom prst="rect">
            <a:avLst/>
          </a:prstGeom>
        </p:spPr>
      </p:pic>
      <p:sp>
        <p:nvSpPr>
          <p:cNvPr id="12" name="Text 8"/>
          <p:cNvSpPr txBox="1"/>
          <p:nvPr/>
        </p:nvSpPr>
        <p:spPr>
          <a:xfrm>
            <a:off x="3575304" y="2606040"/>
            <a:ext cx="2194560" cy="868680"/>
          </a:xfrm>
          <a:prstGeom prst="rect">
            <a:avLst/>
          </a:prstGeom>
          <a:noFill/>
          <a:ln/>
        </p:spPr>
        <p:txBody>
          <a:bodyPr wrap="square" lIns="0" tIns="0" rIns="0" bIns="0" rtlCol="0" anchor="t"/>
          <a:lstStyle/>
          <a:p>
            <a:pPr indent="0" marL="0">
              <a:buNone/>
            </a:pPr>
            <a:r>
              <a:rPr lang="en-US" sz="1600" b="1" dirty="0">
                <a:solidFill>
                  <a:schemeClr val="tx1"/>
                </a:solidFill>
              </a:rPr>
              <a:t>Patient-level validation</a:t>
            </a:r>
            <a:endParaRPr lang="en-US" sz="1400" dirty="0"/>
          </a:p>
          <a:p>
            <a:pPr indent="0" marL="0">
              <a:buNone/>
            </a:pPr>
            <a:r>
              <a:rPr lang="en-US" sz="1200" dirty="0">
                <a:solidFill>
                  <a:schemeClr val="accent6"/>
                </a:solidFill>
              </a:rPr>
              <a:t>from Rajaraman [2]</a:t>
            </a:r>
            <a:endParaRPr lang="en-US" sz="1400" dirty="0"/>
          </a:p>
        </p:txBody>
      </p:sp>
      <p:sp>
        <p:nvSpPr>
          <p:cNvPr id="13" name="Text 9"/>
          <p:cNvSpPr txBox="1"/>
          <p:nvPr/>
        </p:nvSpPr>
        <p:spPr>
          <a:xfrm>
            <a:off x="3575304" y="3520440"/>
            <a:ext cx="2194560" cy="1325880"/>
          </a:xfrm>
          <a:prstGeom prst="rect">
            <a:avLst/>
          </a:prstGeom>
          <a:noFill/>
          <a:ln/>
        </p:spPr>
        <p:txBody>
          <a:bodyPr wrap="square" lIns="0" tIns="0" rIns="0" bIns="0" rtlCol="0" anchor="t"/>
          <a:lstStyle/>
          <a:p>
            <a:pPr indent="0" marL="0">
              <a:buNone/>
            </a:pPr>
            <a:r>
              <a:rPr lang="en-US" sz="1400" dirty="0">
                <a:solidFill>
                  <a:schemeClr val="tx1"/>
                </a:solidFill>
              </a:rPr>
              <a:t>Group cells by slide before splitting: honest, leakage-free scores. → H1</a:t>
            </a:r>
            <a:endParaRPr lang="en-US" sz="1400" dirty="0"/>
          </a:p>
        </p:txBody>
      </p:sp>
      <p:sp>
        <p:nvSpPr>
          <p:cNvPr id="14" name="Shape 10"/>
          <p:cNvSpPr/>
          <p:nvPr/>
        </p:nvSpPr>
        <p:spPr>
          <a:xfrm>
            <a:off x="6144768" y="1645920"/>
            <a:ext cx="2615184" cy="3291840"/>
          </a:xfrm>
          <a:prstGeom prst="roundRect">
            <a:avLst>
              <a:gd name="adj" fmla="val 2797"/>
            </a:avLst>
          </a:prstGeom>
          <a:solidFill>
            <a:schemeClr val="bg2"/>
          </a:solidFill>
          <a:ln w="9525">
            <a:solidFill>
              <a:schemeClr val="bg2"/>
            </a:solidFill>
            <a:prstDash val="solid"/>
          </a:ln>
        </p:spPr>
      </p:sp>
      <p:sp>
        <p:nvSpPr>
          <p:cNvPr id="15" name="Shape 11"/>
          <p:cNvSpPr/>
          <p:nvPr/>
        </p:nvSpPr>
        <p:spPr>
          <a:xfrm>
            <a:off x="6373368" y="1874520"/>
            <a:ext cx="594360" cy="594360"/>
          </a:xfrm>
          <a:prstGeom prst="ellipse">
            <a:avLst/>
          </a:prstGeom>
          <a:solidFill>
            <a:schemeClr val="accent1"/>
          </a:solidFill>
          <a:ln w="63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498184" y="1999336"/>
            <a:ext cx="344729" cy="344729"/>
          </a:xfrm>
          <a:prstGeom prst="rect">
            <a:avLst/>
          </a:prstGeom>
        </p:spPr>
      </p:pic>
      <p:sp>
        <p:nvSpPr>
          <p:cNvPr id="17" name="Text 12"/>
          <p:cNvSpPr txBox="1"/>
          <p:nvPr/>
        </p:nvSpPr>
        <p:spPr>
          <a:xfrm>
            <a:off x="6373368" y="2606040"/>
            <a:ext cx="2194560" cy="868680"/>
          </a:xfrm>
          <a:prstGeom prst="rect">
            <a:avLst/>
          </a:prstGeom>
          <a:noFill/>
          <a:ln/>
        </p:spPr>
        <p:txBody>
          <a:bodyPr wrap="square" lIns="0" tIns="0" rIns="0" bIns="0" rtlCol="0" anchor="t"/>
          <a:lstStyle/>
          <a:p>
            <a:pPr indent="0" marL="0">
              <a:buNone/>
            </a:pPr>
            <a:r>
              <a:rPr lang="en-US" sz="1600" b="1" dirty="0">
                <a:solidFill>
                  <a:schemeClr val="tx1"/>
                </a:solidFill>
              </a:rPr>
              <a:t>Verified labels</a:t>
            </a:r>
            <a:endParaRPr lang="en-US" sz="1400" dirty="0"/>
          </a:p>
          <a:p>
            <a:pPr indent="0" marL="0">
              <a:buNone/>
            </a:pPr>
            <a:r>
              <a:rPr lang="en-US" sz="1200" dirty="0">
                <a:solidFill>
                  <a:schemeClr val="accent6"/>
                </a:solidFill>
              </a:rPr>
              <a:t>from Fuhad [5]</a:t>
            </a:r>
            <a:endParaRPr lang="en-US" sz="1400" dirty="0"/>
          </a:p>
        </p:txBody>
      </p:sp>
      <p:sp>
        <p:nvSpPr>
          <p:cNvPr id="18" name="Text 13"/>
          <p:cNvSpPr txBox="1"/>
          <p:nvPr/>
        </p:nvSpPr>
        <p:spPr>
          <a:xfrm>
            <a:off x="6373368" y="3520440"/>
            <a:ext cx="2194560" cy="1325880"/>
          </a:xfrm>
          <a:prstGeom prst="rect">
            <a:avLst/>
          </a:prstGeom>
          <a:noFill/>
          <a:ln/>
        </p:spPr>
        <p:txBody>
          <a:bodyPr wrap="square" lIns="0" tIns="0" rIns="0" bIns="0" rtlCol="0" anchor="t"/>
          <a:lstStyle/>
          <a:p>
            <a:pPr indent="0" marL="0">
              <a:buNone/>
            </a:pPr>
            <a:r>
              <a:rPr lang="en-US" sz="1400" dirty="0">
                <a:solidFill>
                  <a:schemeClr val="tx1"/>
                </a:solidFill>
              </a:rPr>
              <a:t>Learn real features, not artifacts (future work).</a:t>
            </a:r>
            <a:endParaRPr lang="en-US" sz="1400" dirty="0"/>
          </a:p>
        </p:txBody>
      </p:sp>
      <p:sp>
        <p:nvSpPr>
          <p:cNvPr id="19" name="Shape 14"/>
          <p:cNvSpPr/>
          <p:nvPr/>
        </p:nvSpPr>
        <p:spPr>
          <a:xfrm>
            <a:off x="8942832" y="1645920"/>
            <a:ext cx="2615184" cy="3291840"/>
          </a:xfrm>
          <a:prstGeom prst="roundRect">
            <a:avLst>
              <a:gd name="adj" fmla="val 2797"/>
            </a:avLst>
          </a:prstGeom>
          <a:solidFill>
            <a:schemeClr val="bg2"/>
          </a:solidFill>
          <a:ln w="9525">
            <a:solidFill>
              <a:schemeClr val="bg2"/>
            </a:solidFill>
            <a:prstDash val="solid"/>
          </a:ln>
        </p:spPr>
      </p:sp>
      <p:sp>
        <p:nvSpPr>
          <p:cNvPr id="20" name="Shape 15"/>
          <p:cNvSpPr/>
          <p:nvPr/>
        </p:nvSpPr>
        <p:spPr>
          <a:xfrm>
            <a:off x="9171432" y="1874520"/>
            <a:ext cx="594360" cy="594360"/>
          </a:xfrm>
          <a:prstGeom prst="ellipse">
            <a:avLst/>
          </a:prstGeom>
          <a:solidFill>
            <a:schemeClr val="accent1"/>
          </a:solidFill>
          <a:ln w="635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296248" y="1999336"/>
            <a:ext cx="344729" cy="344729"/>
          </a:xfrm>
          <a:prstGeom prst="rect">
            <a:avLst/>
          </a:prstGeom>
        </p:spPr>
      </p:pic>
      <p:sp>
        <p:nvSpPr>
          <p:cNvPr id="22" name="Text 16"/>
          <p:cNvSpPr txBox="1"/>
          <p:nvPr/>
        </p:nvSpPr>
        <p:spPr>
          <a:xfrm>
            <a:off x="9171432" y="2606040"/>
            <a:ext cx="2194560" cy="868680"/>
          </a:xfrm>
          <a:prstGeom prst="rect">
            <a:avLst/>
          </a:prstGeom>
          <a:noFill/>
          <a:ln/>
        </p:spPr>
        <p:txBody>
          <a:bodyPr wrap="square" lIns="0" tIns="0" rIns="0" bIns="0" rtlCol="0" anchor="t"/>
          <a:lstStyle/>
          <a:p>
            <a:pPr indent="0" marL="0">
              <a:buNone/>
            </a:pPr>
            <a:r>
              <a:rPr lang="en-US" sz="1600" b="1" dirty="0">
                <a:solidFill>
                  <a:schemeClr val="tx1"/>
                </a:solidFill>
              </a:rPr>
              <a:t>Lightweight model</a:t>
            </a:r>
            <a:endParaRPr lang="en-US" sz="1400" dirty="0"/>
          </a:p>
          <a:p>
            <a:pPr indent="0" marL="0">
              <a:buNone/>
            </a:pPr>
            <a:r>
              <a:rPr lang="en-US" sz="1200" dirty="0">
                <a:solidFill>
                  <a:schemeClr val="accent6"/>
                </a:solidFill>
              </a:rPr>
              <a:t>from Masud [7] / Fuhad [5]</a:t>
            </a:r>
            <a:endParaRPr lang="en-US" sz="1400" dirty="0"/>
          </a:p>
        </p:txBody>
      </p:sp>
      <p:sp>
        <p:nvSpPr>
          <p:cNvPr id="23" name="Text 17"/>
          <p:cNvSpPr txBox="1"/>
          <p:nvPr/>
        </p:nvSpPr>
        <p:spPr>
          <a:xfrm>
            <a:off x="9171432" y="3520440"/>
            <a:ext cx="2194560" cy="1325880"/>
          </a:xfrm>
          <a:prstGeom prst="rect">
            <a:avLst/>
          </a:prstGeom>
          <a:noFill/>
          <a:ln/>
        </p:spPr>
        <p:txBody>
          <a:bodyPr wrap="square" lIns="0" tIns="0" rIns="0" bIns="0" rtlCol="0" anchor="t"/>
          <a:lstStyle/>
          <a:p>
            <a:pPr indent="0" marL="0">
              <a:buNone/>
            </a:pPr>
            <a:r>
              <a:rPr lang="en-US" sz="1400" dirty="0">
                <a:solidFill>
                  <a:schemeClr val="tx1"/>
                </a:solidFill>
              </a:rPr>
              <a:t>Keep inference light enough for low-resource settings.</a:t>
            </a:r>
            <a:endParaRPr lang="en-US" sz="1400" dirty="0"/>
          </a:p>
        </p:txBody>
      </p:sp>
      <p:sp>
        <p:nvSpPr>
          <p:cNvPr id="24" name="Shape 18"/>
          <p:cNvSpPr/>
          <p:nvPr/>
        </p:nvSpPr>
        <p:spPr>
          <a:xfrm>
            <a:off x="548640" y="5212080"/>
            <a:ext cx="11064240" cy="777240"/>
          </a:xfrm>
          <a:prstGeom prst="roundRect">
            <a:avLst>
              <a:gd name="adj" fmla="val 9412"/>
            </a:avLst>
          </a:prstGeom>
          <a:solidFill>
            <a:srgbClr val="E3F0F2"/>
          </a:solidFill>
          <a:ln w="9525">
            <a:solidFill>
              <a:srgbClr val="E3F0F2"/>
            </a:solidFill>
            <a:prstDash val="solid"/>
          </a:ln>
        </p:spPr>
      </p:sp>
      <p:sp>
        <p:nvSpPr>
          <p:cNvPr id="25" name="Shape 19"/>
          <p:cNvSpPr/>
          <p:nvPr/>
        </p:nvSpPr>
        <p:spPr>
          <a:xfrm>
            <a:off x="749808" y="5372100"/>
            <a:ext cx="457200" cy="457200"/>
          </a:xfrm>
          <a:prstGeom prst="ellipse">
            <a:avLst/>
          </a:prstGeom>
          <a:solidFill>
            <a:schemeClr val="accent1"/>
          </a:solidFill>
          <a:ln w="635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845820" y="5468112"/>
            <a:ext cx="265176" cy="265176"/>
          </a:xfrm>
          <a:prstGeom prst="rect">
            <a:avLst/>
          </a:prstGeom>
        </p:spPr>
      </p:pic>
      <p:sp>
        <p:nvSpPr>
          <p:cNvPr id="27" name="Text 20"/>
          <p:cNvSpPr txBox="1"/>
          <p:nvPr/>
        </p:nvSpPr>
        <p:spPr>
          <a:xfrm>
            <a:off x="1389888" y="5285232"/>
            <a:ext cx="10012680" cy="630936"/>
          </a:xfrm>
          <a:prstGeom prst="rect">
            <a:avLst/>
          </a:prstGeom>
          <a:noFill/>
          <a:ln/>
        </p:spPr>
        <p:txBody>
          <a:bodyPr wrap="square" lIns="0" tIns="0" rIns="0" bIns="0" rtlCol="0" anchor="ctr"/>
          <a:lstStyle/>
          <a:p>
            <a:pPr indent="0" marL="0">
              <a:buNone/>
            </a:pPr>
            <a:r>
              <a:rPr lang="en-US" sz="1500" dirty="0">
                <a:solidFill>
                  <a:schemeClr val="tx1"/>
                </a:solidFill>
              </a:rPr>
              <a:t>First step: reproduce a strong, open baseline, then change one thing at a time. That is Phase 2.</a:t>
            </a:r>
            <a:endParaRPr lang="en-US" sz="15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10515600" cy="365760"/>
          </a:xfrm>
          <a:prstGeom prst="rect">
            <a:avLst/>
          </a:prstGeom>
          <a:noFill/>
          <a:ln/>
        </p:spPr>
        <p:txBody>
          <a:bodyPr wrap="square" lIns="0" tIns="0" rIns="0" bIns="0" rtlCol="0"/>
          <a:lstStyle/>
          <a:p>
            <a:pPr algn="l" indent="0" marL="0">
              <a:buNone/>
            </a:pPr>
            <a:r>
              <a:rPr lang="en-US" sz="1600" b="1" spc="200" kern="0" dirty="0">
                <a:solidFill>
                  <a:schemeClr val="accent2"/>
                </a:solidFill>
              </a:rPr>
              <a:t>PHASE 2</a:t>
            </a:r>
            <a:endParaRPr lang="en-US" sz="1600" dirty="0"/>
          </a:p>
        </p:txBody>
      </p:sp>
      <p:sp>
        <p:nvSpPr>
          <p:cNvPr id="3" name="Text 0"/>
          <p:cNvSpPr/>
          <p:nvPr>
            <p:ph idx="101" type="title" hasCustomPrompt="1"/>
          </p:nvPr>
        </p:nvSpPr>
        <p:spPr>
          <a:xfrm>
            <a:off x="822960" y="274320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Reproducing the base paper</a:t>
            </a:r>
            <a:endParaRPr lang="en-US" sz="4400" dirty="0"/>
          </a:p>
        </p:txBody>
      </p:sp>
      <p:sp>
        <p:nvSpPr>
          <p:cNvPr id="4" name="Text 0"/>
          <p:cNvSpPr/>
          <p:nvPr>
            <p:ph idx="102" type="body" hasCustomPrompt="1"/>
          </p:nvPr>
        </p:nvSpPr>
        <p:spPr>
          <a:xfrm>
            <a:off x="822960" y="3794760"/>
            <a:ext cx="10058400" cy="822960"/>
          </a:xfrm>
          <a:prstGeom prst="rect">
            <a:avLst/>
          </a:prstGeom>
          <a:noFill/>
          <a:ln/>
        </p:spPr>
        <p:txBody>
          <a:bodyPr wrap="square" lIns="0" tIns="0" rIns="0" bIns="0" rtlCol="0" anchor="t"/>
          <a:lstStyle/>
          <a:p>
            <a:pPr algn="l" indent="0" marL="0">
              <a:buNone/>
            </a:pPr>
            <a:r>
              <a:rPr lang="en-US" sz="1800" dirty="0">
                <a:solidFill>
                  <a:schemeClr val="accent2"/>
                </a:solidFill>
              </a:rPr>
              <a:t>Marques et al. (2022), rebuilt from its own code and trained on all 10 folds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BASE PAPER · MARQUES ET AL. [8], 2022</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Why EfficientNet-B0 with a 10-fold ensemble</a:t>
            </a:r>
            <a:endParaRPr lang="en-US" sz="3200" dirty="0"/>
          </a:p>
        </p:txBody>
      </p:sp>
      <p:sp>
        <p:nvSpPr>
          <p:cNvPr id="4" name="Shape 2"/>
          <p:cNvSpPr/>
          <p:nvPr/>
        </p:nvSpPr>
        <p:spPr>
          <a:xfrm>
            <a:off x="548640" y="164592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67695" y="1764975"/>
            <a:ext cx="328818" cy="328818"/>
          </a:xfrm>
          <a:prstGeom prst="rect">
            <a:avLst/>
          </a:prstGeom>
        </p:spPr>
      </p:pic>
      <p:sp>
        <p:nvSpPr>
          <p:cNvPr id="6" name="Text 3"/>
          <p:cNvSpPr txBox="1"/>
          <p:nvPr/>
        </p:nvSpPr>
        <p:spPr>
          <a:xfrm>
            <a:off x="1344168" y="160934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Open, executable code</a:t>
            </a:r>
            <a:endParaRPr lang="en-US" sz="1400" dirty="0"/>
          </a:p>
          <a:p>
            <a:pPr indent="0" marL="0">
              <a:spcAft>
                <a:spcPts val="300"/>
              </a:spcAft>
              <a:buNone/>
            </a:pPr>
            <a:r>
              <a:rPr lang="en-US" sz="1400" dirty="0">
                <a:solidFill>
                  <a:schemeClr val="tx1"/>
                </a:solidFill>
              </a:rPr>
              <a:t>The authors published their executed Jupyter notebook as a supplementary file, so a faithful rebuild is possible.</a:t>
            </a:r>
            <a:endParaRPr lang="en-US" sz="1400" dirty="0"/>
          </a:p>
        </p:txBody>
      </p:sp>
      <p:sp>
        <p:nvSpPr>
          <p:cNvPr id="7" name="Shape 4"/>
          <p:cNvSpPr/>
          <p:nvPr/>
        </p:nvSpPr>
        <p:spPr>
          <a:xfrm>
            <a:off x="6172200" y="164592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291255" y="1764975"/>
            <a:ext cx="328818" cy="328818"/>
          </a:xfrm>
          <a:prstGeom prst="rect">
            <a:avLst/>
          </a:prstGeom>
        </p:spPr>
      </p:pic>
      <p:sp>
        <p:nvSpPr>
          <p:cNvPr id="9" name="Text 5"/>
          <p:cNvSpPr txBox="1"/>
          <p:nvPr/>
        </p:nvSpPr>
        <p:spPr>
          <a:xfrm>
            <a:off x="6967728" y="160934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Strict validation</a:t>
            </a:r>
            <a:endParaRPr lang="en-US" sz="1400" dirty="0"/>
          </a:p>
          <a:p>
            <a:pPr indent="0" marL="0">
              <a:spcAft>
                <a:spcPts val="300"/>
              </a:spcAft>
              <a:buNone/>
            </a:pPr>
            <a:r>
              <a:rPr lang="en-US" sz="1400" dirty="0">
                <a:solidFill>
                  <a:schemeClr val="tx1"/>
                </a:solidFill>
              </a:rPr>
              <a:t>Stratified 10-fold cross-validation plus a separate hold-out set that no model trains on.</a:t>
            </a:r>
            <a:endParaRPr lang="en-US" sz="1400" dirty="0"/>
          </a:p>
        </p:txBody>
      </p:sp>
      <p:sp>
        <p:nvSpPr>
          <p:cNvPr id="10" name="Shape 6"/>
          <p:cNvSpPr/>
          <p:nvPr/>
        </p:nvSpPr>
        <p:spPr>
          <a:xfrm>
            <a:off x="548640" y="30632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667695" y="3182295"/>
            <a:ext cx="328818" cy="328818"/>
          </a:xfrm>
          <a:prstGeom prst="rect">
            <a:avLst/>
          </a:prstGeom>
        </p:spPr>
      </p:pic>
      <p:sp>
        <p:nvSpPr>
          <p:cNvPr id="12" name="Text 7"/>
          <p:cNvSpPr txBox="1"/>
          <p:nvPr/>
        </p:nvSpPr>
        <p:spPr>
          <a:xfrm>
            <a:off x="1344168" y="302666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Light backbone</a:t>
            </a:r>
            <a:endParaRPr lang="en-US" sz="1400" dirty="0"/>
          </a:p>
          <a:p>
            <a:pPr indent="0" marL="0">
              <a:spcAft>
                <a:spcPts val="300"/>
              </a:spcAft>
              <a:buNone/>
            </a:pPr>
            <a:r>
              <a:rPr lang="en-US" sz="1400" dirty="0">
                <a:solidFill>
                  <a:schemeClr val="tx1"/>
                </a:solidFill>
              </a:rPr>
              <a:t>4.2 M parameters in total: the smallest EfficientNet, close to our deployability goal.</a:t>
            </a:r>
            <a:endParaRPr lang="en-US" sz="1400" dirty="0"/>
          </a:p>
        </p:txBody>
      </p:sp>
      <p:sp>
        <p:nvSpPr>
          <p:cNvPr id="13" name="Shape 8"/>
          <p:cNvSpPr/>
          <p:nvPr/>
        </p:nvSpPr>
        <p:spPr>
          <a:xfrm>
            <a:off x="6172200" y="3063240"/>
            <a:ext cx="566928" cy="566928"/>
          </a:xfrm>
          <a:prstGeom prst="ellipse">
            <a:avLst/>
          </a:prstGeom>
          <a:solidFill>
            <a:schemeClr val="accent1"/>
          </a:solidFill>
          <a:ln w="6350">
            <a:solidFill>
              <a:schemeClr val="accent1"/>
            </a:solidFill>
            <a:prstDash val="solid"/>
          </a:ln>
        </p:spPr>
      </p:sp>
      <p:pic>
        <p:nvPicPr>
          <p:cNvPr id="14" name="Image 3" descr="preencoded.png">    </p:cNvPr>
          <p:cNvPicPr>
            <a:picLocks noChangeAspect="1"/>
          </p:cNvPicPr>
          <p:nvPr/>
        </p:nvPicPr>
        <p:blipFill>
          <a:blip r:embed="rId4"/>
          <a:stretch>
            <a:fillRect/>
          </a:stretch>
        </p:blipFill>
        <p:spPr>
          <a:xfrm>
            <a:off x="6291255" y="3182295"/>
            <a:ext cx="328818" cy="328818"/>
          </a:xfrm>
          <a:prstGeom prst="rect">
            <a:avLst/>
          </a:prstGeom>
        </p:spPr>
      </p:pic>
      <p:sp>
        <p:nvSpPr>
          <p:cNvPr id="15" name="Text 9"/>
          <p:cNvSpPr txBox="1"/>
          <p:nvPr/>
        </p:nvSpPr>
        <p:spPr>
          <a:xfrm>
            <a:off x="6967728" y="302666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Strong, not at the ceiling</a:t>
            </a:r>
            <a:endParaRPr lang="en-US" sz="1400" dirty="0"/>
          </a:p>
          <a:p>
            <a:pPr indent="0" marL="0">
              <a:spcAft>
                <a:spcPts val="300"/>
              </a:spcAft>
              <a:buNone/>
            </a:pPr>
            <a:r>
              <a:rPr lang="en-US" sz="1400" dirty="0">
                <a:solidFill>
                  <a:schemeClr val="tx1"/>
                </a:solidFill>
              </a:rPr>
              <a:t>98.29 % leaves room to see whether a change helps or hurts.</a:t>
            </a:r>
            <a:endParaRPr lang="en-US" sz="1400" dirty="0"/>
          </a:p>
        </p:txBody>
      </p:sp>
      <p:sp>
        <p:nvSpPr>
          <p:cNvPr id="16" name="Shape 10"/>
          <p:cNvSpPr/>
          <p:nvPr/>
        </p:nvSpPr>
        <p:spPr>
          <a:xfrm>
            <a:off x="548640" y="4572000"/>
            <a:ext cx="11064240" cy="1463040"/>
          </a:xfrm>
          <a:prstGeom prst="roundRect">
            <a:avLst>
              <a:gd name="adj" fmla="val 5000"/>
            </a:avLst>
          </a:prstGeom>
          <a:solidFill>
            <a:srgbClr val="E3F0F2"/>
          </a:solidFill>
          <a:ln w="9525">
            <a:solidFill>
              <a:srgbClr val="E3F0F2"/>
            </a:solidFill>
            <a:prstDash val="solid"/>
          </a:ln>
        </p:spPr>
      </p:sp>
      <p:sp>
        <p:nvSpPr>
          <p:cNvPr id="17" name="Text 11"/>
          <p:cNvSpPr txBox="1"/>
          <p:nvPr/>
        </p:nvSpPr>
        <p:spPr>
          <a:xfrm>
            <a:off x="822960" y="4681728"/>
            <a:ext cx="10515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THE PAPER'S TARGETS (from its own printed results)</a:t>
            </a:r>
            <a:endParaRPr lang="en-US" sz="1200" dirty="0"/>
          </a:p>
        </p:txBody>
      </p:sp>
      <p:sp>
        <p:nvSpPr>
          <p:cNvPr id="18" name="Text 12"/>
          <p:cNvSpPr txBox="1"/>
          <p:nvPr/>
        </p:nvSpPr>
        <p:spPr>
          <a:xfrm>
            <a:off x="82296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97.56 %</a:t>
            </a:r>
            <a:endParaRPr lang="en-US" sz="1400" dirty="0"/>
          </a:p>
          <a:p>
            <a:pPr indent="0" marL="0">
              <a:buNone/>
            </a:pPr>
            <a:r>
              <a:rPr lang="en-US" sz="1300" dirty="0">
                <a:solidFill>
                  <a:schemeClr val="tx1"/>
                </a:solidFill>
              </a:rPr>
              <a:t>mean fold accuracy (Table 5)</a:t>
            </a:r>
            <a:endParaRPr lang="en-US" sz="1400" dirty="0"/>
          </a:p>
        </p:txBody>
      </p:sp>
      <p:sp>
        <p:nvSpPr>
          <p:cNvPr id="19" name="Text 13"/>
          <p:cNvSpPr txBox="1"/>
          <p:nvPr/>
        </p:nvSpPr>
        <p:spPr>
          <a:xfrm>
            <a:off x="352044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97.69 %</a:t>
            </a:r>
            <a:endParaRPr lang="en-US" sz="1400" dirty="0"/>
          </a:p>
          <a:p>
            <a:pPr indent="0" marL="0">
              <a:buNone/>
            </a:pPr>
            <a:r>
              <a:rPr lang="en-US" sz="1300" dirty="0">
                <a:solidFill>
                  <a:schemeClr val="tx1"/>
                </a:solidFill>
              </a:rPr>
              <a:t>single model on hold-out (Table 6)</a:t>
            </a:r>
            <a:endParaRPr lang="en-US" sz="1400" dirty="0"/>
          </a:p>
        </p:txBody>
      </p:sp>
      <p:sp>
        <p:nvSpPr>
          <p:cNvPr id="20" name="Text 14"/>
          <p:cNvSpPr txBox="1"/>
          <p:nvPr/>
        </p:nvSpPr>
        <p:spPr>
          <a:xfrm>
            <a:off x="621792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98.29 %</a:t>
            </a:r>
            <a:endParaRPr lang="en-US" sz="1400" dirty="0"/>
          </a:p>
          <a:p>
            <a:pPr indent="0" marL="0">
              <a:buNone/>
            </a:pPr>
            <a:r>
              <a:rPr lang="en-US" sz="1300" dirty="0">
                <a:solidFill>
                  <a:schemeClr val="tx1"/>
                </a:solidFill>
              </a:rPr>
              <a:t>ensemble accuracy</a:t>
            </a:r>
            <a:endParaRPr lang="en-US" sz="1400" dirty="0"/>
          </a:p>
        </p:txBody>
      </p:sp>
      <p:sp>
        <p:nvSpPr>
          <p:cNvPr id="21" name="Text 15"/>
          <p:cNvSpPr txBox="1"/>
          <p:nvPr/>
        </p:nvSpPr>
        <p:spPr>
          <a:xfrm>
            <a:off x="891540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99.76 %</a:t>
            </a:r>
            <a:endParaRPr lang="en-US" sz="1400" dirty="0"/>
          </a:p>
          <a:p>
            <a:pPr indent="0" marL="0">
              <a:buNone/>
            </a:pPr>
            <a:r>
              <a:rPr lang="en-US" sz="1300" dirty="0">
                <a:solidFill>
                  <a:schemeClr val="tx1"/>
                </a:solidFill>
              </a:rPr>
              <a:t>ensemble ROC-AUC</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MILESTONE 2 · FIRST REPRODUCTION</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First attempt: the recipe from the paper's text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1920240"/>
                <a:gridCol w="3474720"/>
              </a:tblGrid>
              <a:tr h="4297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First run (A0)</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Kaggle, 2× Tesla T4</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Folds trained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 of 10 (free GPU budget)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Weights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ImageNet EfficientNet-B0</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Training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 15 epochs, early stopping, batch 128</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Augmentation</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flips + 90° rotations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2976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Hold-out set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10 % = 2,756 images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5" name="Shape 2"/>
          <p:cNvSpPr/>
          <p:nvPr/>
        </p:nvSpPr>
        <p:spPr>
          <a:xfrm>
            <a:off x="6309360" y="1645920"/>
            <a:ext cx="5303520" cy="1143000"/>
          </a:xfrm>
          <a:prstGeom prst="roundRect">
            <a:avLst>
              <a:gd name="adj" fmla="val 6400"/>
            </a:avLst>
          </a:prstGeom>
          <a:solidFill>
            <a:schemeClr val="bg2"/>
          </a:solidFill>
          <a:ln w="9525">
            <a:solidFill>
              <a:schemeClr val="bg2"/>
            </a:solidFill>
            <a:prstDash val="solid"/>
          </a:ln>
        </p:spPr>
      </p:sp>
      <p:sp>
        <p:nvSpPr>
          <p:cNvPr id="6" name="Text 3"/>
          <p:cNvSpPr txBox="1"/>
          <p:nvPr/>
        </p:nvSpPr>
        <p:spPr>
          <a:xfrm>
            <a:off x="6537960" y="1737360"/>
            <a:ext cx="4846320" cy="444500"/>
          </a:xfrm>
          <a:prstGeom prst="rect">
            <a:avLst/>
          </a:prstGeom>
          <a:noFill/>
          <a:ln/>
        </p:spPr>
        <p:txBody>
          <a:bodyPr wrap="square" lIns="0" tIns="0" rIns="0" bIns="0" rtlCol="0" anchor="ctr"/>
          <a:lstStyle/>
          <a:p>
            <a:pPr indent="0" marL="0">
              <a:buNone/>
            </a:pPr>
            <a:r>
              <a:rPr lang="en-US" sz="2800" b="1" dirty="0">
                <a:solidFill>
                  <a:schemeClr val="accent1"/>
                </a:solidFill>
              </a:rPr>
              <a:t>97.38 %</a:t>
            </a:r>
            <a:endParaRPr lang="en-US" sz="2800" dirty="0"/>
          </a:p>
        </p:txBody>
      </p:sp>
      <p:sp>
        <p:nvSpPr>
          <p:cNvPr id="7" name="Text 4"/>
          <p:cNvSpPr txBox="1"/>
          <p:nvPr/>
        </p:nvSpPr>
        <p:spPr>
          <a:xfrm>
            <a:off x="6537960" y="2181860"/>
            <a:ext cx="4846320" cy="310896"/>
          </a:xfrm>
          <a:prstGeom prst="rect">
            <a:avLst/>
          </a:prstGeom>
          <a:noFill/>
          <a:ln/>
        </p:spPr>
        <p:txBody>
          <a:bodyPr wrap="square" lIns="0" tIns="0" rIns="0" bIns="0" rtlCol="0" anchor="ctr"/>
          <a:lstStyle/>
          <a:p>
            <a:pPr indent="0" marL="0">
              <a:buNone/>
            </a:pPr>
            <a:r>
              <a:rPr lang="en-US" sz="1400" b="1" dirty="0">
                <a:solidFill>
                  <a:schemeClr val="tx1"/>
                </a:solidFill>
              </a:rPr>
              <a:t>mean fold accuracy</a:t>
            </a:r>
            <a:endParaRPr lang="en-US" sz="1400" dirty="0"/>
          </a:p>
        </p:txBody>
      </p:sp>
      <p:sp>
        <p:nvSpPr>
          <p:cNvPr id="8" name="Text 5"/>
          <p:cNvSpPr txBox="1"/>
          <p:nvPr/>
        </p:nvSpPr>
        <p:spPr>
          <a:xfrm>
            <a:off x="6537960" y="2492756"/>
            <a:ext cx="4846320" cy="274320"/>
          </a:xfrm>
          <a:prstGeom prst="rect">
            <a:avLst/>
          </a:prstGeom>
          <a:noFill/>
          <a:ln/>
        </p:spPr>
        <p:txBody>
          <a:bodyPr wrap="square" lIns="0" tIns="0" rIns="0" bIns="0" rtlCol="0" anchor="ctr"/>
          <a:lstStyle/>
          <a:p>
            <a:pPr indent="0" marL="0">
              <a:buNone/>
            </a:pPr>
            <a:r>
              <a:rPr lang="en-US" sz="1200" dirty="0">
                <a:solidFill>
                  <a:schemeClr val="accent6"/>
                </a:solidFill>
              </a:rPr>
              <a:t>± 0.74 over 3 folds</a:t>
            </a:r>
            <a:endParaRPr lang="en-US" sz="1200" dirty="0"/>
          </a:p>
        </p:txBody>
      </p:sp>
      <p:sp>
        <p:nvSpPr>
          <p:cNvPr id="9" name="Shape 6"/>
          <p:cNvSpPr/>
          <p:nvPr/>
        </p:nvSpPr>
        <p:spPr>
          <a:xfrm>
            <a:off x="6309360" y="2898648"/>
            <a:ext cx="5303520" cy="1143000"/>
          </a:xfrm>
          <a:prstGeom prst="roundRect">
            <a:avLst>
              <a:gd name="adj" fmla="val 6400"/>
            </a:avLst>
          </a:prstGeom>
          <a:solidFill>
            <a:schemeClr val="bg2"/>
          </a:solidFill>
          <a:ln w="9525">
            <a:solidFill>
              <a:schemeClr val="bg2"/>
            </a:solidFill>
            <a:prstDash val="solid"/>
          </a:ln>
        </p:spPr>
      </p:sp>
      <p:sp>
        <p:nvSpPr>
          <p:cNvPr id="10" name="Text 7"/>
          <p:cNvSpPr txBox="1"/>
          <p:nvPr/>
        </p:nvSpPr>
        <p:spPr>
          <a:xfrm>
            <a:off x="6537960" y="2990088"/>
            <a:ext cx="4846320" cy="444500"/>
          </a:xfrm>
          <a:prstGeom prst="rect">
            <a:avLst/>
          </a:prstGeom>
          <a:noFill/>
          <a:ln/>
        </p:spPr>
        <p:txBody>
          <a:bodyPr wrap="square" lIns="0" tIns="0" rIns="0" bIns="0" rtlCol="0" anchor="ctr"/>
          <a:lstStyle/>
          <a:p>
            <a:pPr indent="0" marL="0">
              <a:buNone/>
            </a:pPr>
            <a:r>
              <a:rPr lang="en-US" sz="2800" b="1" dirty="0">
                <a:solidFill>
                  <a:schemeClr val="accent1"/>
                </a:solidFill>
              </a:rPr>
              <a:t>97.57 %</a:t>
            </a:r>
            <a:endParaRPr lang="en-US" sz="2800" dirty="0"/>
          </a:p>
        </p:txBody>
      </p:sp>
      <p:sp>
        <p:nvSpPr>
          <p:cNvPr id="11" name="Text 8"/>
          <p:cNvSpPr txBox="1"/>
          <p:nvPr/>
        </p:nvSpPr>
        <p:spPr>
          <a:xfrm>
            <a:off x="6537960" y="3434588"/>
            <a:ext cx="4846320" cy="310896"/>
          </a:xfrm>
          <a:prstGeom prst="rect">
            <a:avLst/>
          </a:prstGeom>
          <a:noFill/>
          <a:ln/>
        </p:spPr>
        <p:txBody>
          <a:bodyPr wrap="square" lIns="0" tIns="0" rIns="0" bIns="0" rtlCol="0" anchor="ctr"/>
          <a:lstStyle/>
          <a:p>
            <a:pPr indent="0" marL="0">
              <a:buNone/>
            </a:pPr>
            <a:r>
              <a:rPr lang="en-US" sz="1400" b="1" dirty="0">
                <a:solidFill>
                  <a:schemeClr val="tx1"/>
                </a:solidFill>
              </a:rPr>
              <a:t>3-model ensemble</a:t>
            </a:r>
            <a:endParaRPr lang="en-US" sz="1400" dirty="0"/>
          </a:p>
        </p:txBody>
      </p:sp>
      <p:sp>
        <p:nvSpPr>
          <p:cNvPr id="12" name="Text 9"/>
          <p:cNvSpPr txBox="1"/>
          <p:nvPr/>
        </p:nvSpPr>
        <p:spPr>
          <a:xfrm>
            <a:off x="6537960" y="3745484"/>
            <a:ext cx="4846320" cy="274320"/>
          </a:xfrm>
          <a:prstGeom prst="rect">
            <a:avLst/>
          </a:prstGeom>
          <a:noFill/>
          <a:ln/>
        </p:spPr>
        <p:txBody>
          <a:bodyPr wrap="square" lIns="0" tIns="0" rIns="0" bIns="0" rtlCol="0" anchor="ctr"/>
          <a:lstStyle/>
          <a:p>
            <a:pPr indent="0" marL="0">
              <a:buNone/>
            </a:pPr>
            <a:r>
              <a:rPr lang="en-US" sz="1200" dirty="0">
                <a:solidFill>
                  <a:schemeClr val="accent6"/>
                </a:solidFill>
              </a:rPr>
              <a:t>on 2,756 hold-out cells</a:t>
            </a:r>
            <a:endParaRPr lang="en-US" sz="1200" dirty="0"/>
          </a:p>
        </p:txBody>
      </p:sp>
      <p:sp>
        <p:nvSpPr>
          <p:cNvPr id="13" name="Shape 10"/>
          <p:cNvSpPr/>
          <p:nvPr/>
        </p:nvSpPr>
        <p:spPr>
          <a:xfrm>
            <a:off x="6309360" y="4151376"/>
            <a:ext cx="5303520" cy="1143000"/>
          </a:xfrm>
          <a:prstGeom prst="roundRect">
            <a:avLst>
              <a:gd name="adj" fmla="val 6400"/>
            </a:avLst>
          </a:prstGeom>
          <a:solidFill>
            <a:schemeClr val="bg2"/>
          </a:solidFill>
          <a:ln w="9525">
            <a:solidFill>
              <a:schemeClr val="bg2"/>
            </a:solidFill>
            <a:prstDash val="solid"/>
          </a:ln>
        </p:spPr>
      </p:sp>
      <p:sp>
        <p:nvSpPr>
          <p:cNvPr id="14" name="Text 11"/>
          <p:cNvSpPr txBox="1"/>
          <p:nvPr/>
        </p:nvSpPr>
        <p:spPr>
          <a:xfrm>
            <a:off x="6537960" y="4336034"/>
            <a:ext cx="4846320" cy="444500"/>
          </a:xfrm>
          <a:prstGeom prst="rect">
            <a:avLst/>
          </a:prstGeom>
          <a:noFill/>
          <a:ln/>
        </p:spPr>
        <p:txBody>
          <a:bodyPr wrap="square" lIns="0" tIns="0" rIns="0" bIns="0" rtlCol="0" anchor="ctr"/>
          <a:lstStyle/>
          <a:p>
            <a:pPr indent="0" marL="0">
              <a:buNone/>
            </a:pPr>
            <a:r>
              <a:rPr lang="en-US" sz="2800" b="1" dirty="0">
                <a:solidFill>
                  <a:schemeClr val="accent1"/>
                </a:solidFill>
              </a:rPr>
              <a:t>99.76 %</a:t>
            </a:r>
            <a:endParaRPr lang="en-US" sz="2800" dirty="0"/>
          </a:p>
        </p:txBody>
      </p:sp>
      <p:sp>
        <p:nvSpPr>
          <p:cNvPr id="15" name="Text 12"/>
          <p:cNvSpPr txBox="1"/>
          <p:nvPr/>
        </p:nvSpPr>
        <p:spPr>
          <a:xfrm>
            <a:off x="6537960" y="4780534"/>
            <a:ext cx="4846320" cy="310896"/>
          </a:xfrm>
          <a:prstGeom prst="rect">
            <a:avLst/>
          </a:prstGeom>
          <a:noFill/>
          <a:ln/>
        </p:spPr>
        <p:txBody>
          <a:bodyPr wrap="square" lIns="0" tIns="0" rIns="0" bIns="0" rtlCol="0" anchor="ctr"/>
          <a:lstStyle/>
          <a:p>
            <a:pPr indent="0" marL="0">
              <a:buNone/>
            </a:pPr>
            <a:r>
              <a:rPr lang="en-US" sz="1400" b="1" dirty="0">
                <a:solidFill>
                  <a:schemeClr val="tx1"/>
                </a:solidFill>
              </a:rPr>
              <a:t>ensemble ROC-AUC</a:t>
            </a:r>
            <a:endParaRPr lang="en-US" sz="1400" dirty="0"/>
          </a:p>
        </p:txBody>
      </p:sp>
      <p:sp>
        <p:nvSpPr>
          <p:cNvPr id="16" name="Shape 13"/>
          <p:cNvSpPr/>
          <p:nvPr/>
        </p:nvSpPr>
        <p:spPr>
          <a:xfrm>
            <a:off x="548640" y="5440680"/>
            <a:ext cx="11064240" cy="731520"/>
          </a:xfrm>
          <a:prstGeom prst="roundRect">
            <a:avLst>
              <a:gd name="adj" fmla="val 10000"/>
            </a:avLst>
          </a:prstGeom>
          <a:solidFill>
            <a:srgbClr val="E3F0F2"/>
          </a:solidFill>
          <a:ln w="9525">
            <a:solidFill>
              <a:srgbClr val="E3F0F2"/>
            </a:solidFill>
            <a:prstDash val="solid"/>
          </a:ln>
        </p:spPr>
      </p:sp>
      <p:sp>
        <p:nvSpPr>
          <p:cNvPr id="17" name="Shape 14"/>
          <p:cNvSpPr/>
          <p:nvPr/>
        </p:nvSpPr>
        <p:spPr>
          <a:xfrm>
            <a:off x="749808" y="5577840"/>
            <a:ext cx="457200" cy="457200"/>
          </a:xfrm>
          <a:prstGeom prst="ellipse">
            <a:avLst/>
          </a:prstGeom>
          <a:solidFill>
            <a:schemeClr val="accent1"/>
          </a:solidFill>
          <a:ln w="6350">
            <a:solidFill>
              <a:schemeClr val="accent1"/>
            </a:solidFill>
            <a:prstDash val="solid"/>
          </a:ln>
        </p:spPr>
      </p:sp>
      <p:pic>
        <p:nvPicPr>
          <p:cNvPr id="18" name="Image 0" descr="preencoded.png">    </p:cNvPr>
          <p:cNvPicPr>
            <a:picLocks noChangeAspect="1"/>
          </p:cNvPicPr>
          <p:nvPr/>
        </p:nvPicPr>
        <p:blipFill>
          <a:blip r:embed="rId1"/>
          <a:stretch>
            <a:fillRect/>
          </a:stretch>
        </p:blipFill>
        <p:spPr>
          <a:xfrm>
            <a:off x="845820" y="5673852"/>
            <a:ext cx="265176" cy="265176"/>
          </a:xfrm>
          <a:prstGeom prst="rect">
            <a:avLst/>
          </a:prstGeom>
        </p:spPr>
      </p:pic>
      <p:sp>
        <p:nvSpPr>
          <p:cNvPr id="19" name="Text 15"/>
          <p:cNvSpPr txBox="1"/>
          <p:nvPr/>
        </p:nvSpPr>
        <p:spPr>
          <a:xfrm>
            <a:off x="1389888" y="5513832"/>
            <a:ext cx="10012680" cy="585216"/>
          </a:xfrm>
          <a:prstGeom prst="rect">
            <a:avLst/>
          </a:prstGeom>
          <a:noFill/>
          <a:ln/>
        </p:spPr>
        <p:txBody>
          <a:bodyPr wrap="square" lIns="0" tIns="0" rIns="0" bIns="0" rtlCol="0" anchor="ctr"/>
          <a:lstStyle/>
          <a:p>
            <a:pPr indent="0" marL="0">
              <a:buNone/>
            </a:pPr>
            <a:r>
              <a:rPr lang="en-US" sz="1400" dirty="0">
                <a:solidFill>
                  <a:schemeClr val="tx1"/>
                </a:solidFill>
              </a:rPr>
              <a:t>Within 1 pp on accuracy, but several settings were guesses because the text leaves them out. So we went to the authors' own code.</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THE PAPER'S OWN CODE REVEALED</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The authors' notebook differs from the paper's text in 8 places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03120"/>
                <a:gridCol w="4754880"/>
                <a:gridCol w="42062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Paper's code (used now)</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 first reproduction (from the text)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Pretrained weights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noisy-student · efficientnet 1.1.1 (qubvel)</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ImageNet · tf.keras.applications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Classifier head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GAP → 128 → 64 → 32 → 2 softmax, dropout 0.3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GAP → dropout 0.2 → 1 sigmoid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Loss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categorical cross-entropy, label smoothing 0.1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binary cross-entropy</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Schedule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33 epochs, LR × 0.5 on plateau, keep best val_loss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 15 epochs, LR × 0.1, early stopping</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16 (1,240 steps per epoch)</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128 (64 per GPU, 2 GPUs)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Hold-out set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20 % = 5,512 images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10 % = 2,756 images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Augmentation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full albumentations pipeline (noise, blur, distortions, CLAHE…)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flips + 90° rotations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nearest-neighbour resize, pixels ÷ 255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bilinear resize, ImageNet normalisation</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12080"/>
            <a:ext cx="11064240" cy="457200"/>
          </a:xfrm>
          <a:prstGeom prst="rect">
            <a:avLst/>
          </a:prstGeom>
          <a:noFill/>
          <a:ln/>
        </p:spPr>
        <p:txBody>
          <a:bodyPr wrap="square" lIns="0" tIns="0" rIns="0" bIns="0" rtlCol="0" anchor="t"/>
          <a:lstStyle/>
          <a:p>
            <a:pPr indent="0" marL="0">
              <a:buNone/>
            </a:pPr>
            <a:r>
              <a:rPr lang="en-US" sz="1200" dirty="0">
                <a:solidFill>
                  <a:schemeClr val="accent6"/>
                </a:solidFill>
              </a:rPr>
              <a:t>Source: Springer supplementary file MOESM1, the authors' executed notebook (30 Jan 2021). Our notebook now follows it line by line; 32 automated tests check the recipe.</a:t>
            </a:r>
            <a:endParaRPr lang="en-US" sz="12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READING THE PAPER CLOSELY</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Two things the paper's numbers hide</a:t>
            </a:r>
            <a:endParaRPr lang="en-US" sz="3200" dirty="0"/>
          </a:p>
        </p:txBody>
      </p:sp>
      <p:sp>
        <p:nvSpPr>
          <p:cNvPr id="4" name="Shape 2"/>
          <p:cNvSpPr/>
          <p:nvPr/>
        </p:nvSpPr>
        <p:spPr>
          <a:xfrm>
            <a:off x="548640" y="1645920"/>
            <a:ext cx="5440680" cy="3794760"/>
          </a:xfrm>
          <a:prstGeom prst="roundRect">
            <a:avLst>
              <a:gd name="adj" fmla="val 1928"/>
            </a:avLst>
          </a:prstGeom>
          <a:solidFill>
            <a:schemeClr val="bg2"/>
          </a:solidFill>
          <a:ln w="9525">
            <a:solidFill>
              <a:schemeClr val="bg2"/>
            </a:solidFill>
            <a:prstDash val="solid"/>
          </a:ln>
        </p:spPr>
      </p:sp>
      <p:sp>
        <p:nvSpPr>
          <p:cNvPr id="5" name="Shape 3"/>
          <p:cNvSpPr/>
          <p:nvPr/>
        </p:nvSpPr>
        <p:spPr>
          <a:xfrm>
            <a:off x="822960" y="1874520"/>
            <a:ext cx="640080" cy="640080"/>
          </a:xfrm>
          <a:prstGeom prst="ellipse">
            <a:avLst/>
          </a:prstGeom>
          <a:solidFill>
            <a:schemeClr val="accent4"/>
          </a:solidFill>
          <a:ln w="635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957377" y="2008937"/>
            <a:ext cx="371246" cy="371246"/>
          </a:xfrm>
          <a:prstGeom prst="rect">
            <a:avLst/>
          </a:prstGeom>
        </p:spPr>
      </p:pic>
      <p:sp>
        <p:nvSpPr>
          <p:cNvPr id="7" name="Text 4"/>
          <p:cNvSpPr txBox="1"/>
          <p:nvPr/>
        </p:nvSpPr>
        <p:spPr>
          <a:xfrm>
            <a:off x="1645920" y="1920240"/>
            <a:ext cx="4114800" cy="548640"/>
          </a:xfrm>
          <a:prstGeom prst="rect">
            <a:avLst/>
          </a:prstGeom>
          <a:noFill/>
          <a:ln/>
        </p:spPr>
        <p:txBody>
          <a:bodyPr wrap="square" lIns="0" tIns="0" rIns="0" bIns="0" rtlCol="0" anchor="ctr"/>
          <a:lstStyle/>
          <a:p>
            <a:pPr indent="0" marL="0">
              <a:buNone/>
            </a:pPr>
            <a:r>
              <a:rPr lang="en-US" sz="1800" b="1" dirty="0">
                <a:solidFill>
                  <a:schemeClr val="tx1"/>
                </a:solidFill>
              </a:rPr>
              <a:t>Evaluation images were augmented too</a:t>
            </a:r>
            <a:endParaRPr lang="en-US" sz="1800" dirty="0"/>
          </a:p>
        </p:txBody>
      </p:sp>
      <p:sp>
        <p:nvSpPr>
          <p:cNvPr id="8" name="Text 5"/>
          <p:cNvSpPr txBox="1"/>
          <p:nvPr/>
        </p:nvSpPr>
        <p:spPr>
          <a:xfrm>
            <a:off x="822960" y="2697480"/>
            <a:ext cx="4937760" cy="2560320"/>
          </a:xfrm>
          <a:prstGeom prst="rect">
            <a:avLst/>
          </a:prstGeom>
          <a:noFill/>
          <a:ln/>
        </p:spPr>
        <p:txBody>
          <a:bodyPr wrap="square" lIns="0" tIns="0" rIns="0" bIns="0" rtlCol="0" anchor="t"/>
          <a:lstStyle/>
          <a:p>
            <a:pPr indent="0" marL="0">
              <a:buNone/>
            </a:pPr>
            <a:r>
              <a:rPr lang="en-US" sz="1600" dirty="0">
                <a:solidFill>
                  <a:schemeClr val="tx1"/>
                </a:solidFill>
              </a:rPr>
              <a:t>One ImageDataAugmentor object fed the training, test and validation generators, so every prediction the paper reports was made on a randomly distorted image.</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We keep this for the headline numbers ("paper protocol") and also score the same models on clean images.</a:t>
            </a:r>
            <a:endParaRPr lang="en-US" sz="1600" dirty="0"/>
          </a:p>
        </p:txBody>
      </p:sp>
      <p:sp>
        <p:nvSpPr>
          <p:cNvPr id="9" name="Shape 6"/>
          <p:cNvSpPr/>
          <p:nvPr/>
        </p:nvSpPr>
        <p:spPr>
          <a:xfrm>
            <a:off x="6172200" y="1645920"/>
            <a:ext cx="5440680" cy="3794760"/>
          </a:xfrm>
          <a:prstGeom prst="roundRect">
            <a:avLst>
              <a:gd name="adj" fmla="val 1928"/>
            </a:avLst>
          </a:prstGeom>
          <a:solidFill>
            <a:schemeClr val="bg2"/>
          </a:solidFill>
          <a:ln w="9525">
            <a:solidFill>
              <a:schemeClr val="bg2"/>
            </a:solidFill>
            <a:prstDash val="solid"/>
          </a:ln>
        </p:spPr>
      </p:sp>
      <p:sp>
        <p:nvSpPr>
          <p:cNvPr id="10" name="Shape 7"/>
          <p:cNvSpPr/>
          <p:nvPr/>
        </p:nvSpPr>
        <p:spPr>
          <a:xfrm>
            <a:off x="6446520" y="1874520"/>
            <a:ext cx="640080" cy="640080"/>
          </a:xfrm>
          <a:prstGeom prst="ellipse">
            <a:avLst/>
          </a:prstGeom>
          <a:solidFill>
            <a:schemeClr val="accent4"/>
          </a:solidFill>
          <a:ln w="6350">
            <a:solidFill>
              <a:schemeClr val="accent4"/>
            </a:solidFill>
            <a:prstDash val="solid"/>
          </a:ln>
        </p:spPr>
      </p:sp>
      <p:pic>
        <p:nvPicPr>
          <p:cNvPr id="11" name="Image 1" descr="preencoded.png">    </p:cNvPr>
          <p:cNvPicPr>
            <a:picLocks noChangeAspect="1"/>
          </p:cNvPicPr>
          <p:nvPr/>
        </p:nvPicPr>
        <p:blipFill>
          <a:blip r:embed="rId2"/>
          <a:stretch>
            <a:fillRect/>
          </a:stretch>
        </p:blipFill>
        <p:spPr>
          <a:xfrm>
            <a:off x="6580937" y="2008937"/>
            <a:ext cx="371246" cy="371246"/>
          </a:xfrm>
          <a:prstGeom prst="rect">
            <a:avLst/>
          </a:prstGeom>
        </p:spPr>
      </p:pic>
      <p:sp>
        <p:nvSpPr>
          <p:cNvPr id="12" name="Text 8"/>
          <p:cNvSpPr txBox="1"/>
          <p:nvPr/>
        </p:nvSpPr>
        <p:spPr>
          <a:xfrm>
            <a:off x="7269480" y="1920240"/>
            <a:ext cx="4206240" cy="548640"/>
          </a:xfrm>
          <a:prstGeom prst="rect">
            <a:avLst/>
          </a:prstGeom>
          <a:noFill/>
          <a:ln/>
        </p:spPr>
        <p:txBody>
          <a:bodyPr wrap="square" lIns="0" tIns="0" rIns="0" bIns="0" rtlCol="0" anchor="ctr"/>
          <a:lstStyle/>
          <a:p>
            <a:pPr indent="0" marL="0">
              <a:buNone/>
            </a:pPr>
            <a:r>
              <a:rPr lang="en-US" sz="1800" b="1" dirty="0">
                <a:solidFill>
                  <a:schemeClr val="tx1"/>
                </a:solidFill>
              </a:rPr>
              <a:t>Precision and recall are swapped in the text</a:t>
            </a:r>
            <a:endParaRPr lang="en-US" sz="1800" dirty="0"/>
          </a:p>
        </p:txBody>
      </p:sp>
      <p:sp>
        <p:nvSpPr>
          <p:cNvPr id="13" name="Text 9"/>
          <p:cNvSpPr txBox="1"/>
          <p:nvPr/>
        </p:nvSpPr>
        <p:spPr>
          <a:xfrm>
            <a:off x="6446520" y="2697480"/>
            <a:ext cx="4937760" cy="320040"/>
          </a:xfrm>
          <a:prstGeom prst="rect">
            <a:avLst/>
          </a:prstGeom>
          <a:noFill/>
          <a:ln/>
        </p:spPr>
        <p:txBody>
          <a:bodyPr wrap="square" lIns="0" tIns="0" rIns="0" bIns="0" rtlCol="0" anchor="t"/>
          <a:lstStyle/>
          <a:p>
            <a:pPr indent="0" marL="0">
              <a:buNone/>
            </a:pPr>
            <a:r>
              <a:rPr lang="en-US" sz="1500" dirty="0">
                <a:solidFill>
                  <a:schemeClr val="tx1"/>
                </a:solidFill>
              </a:rPr>
              <a:t>The paper's own printed ensemble report:</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46520" y="3108960"/>
          <a:ext cx="4937760" cy="914400"/>
        </p:xfrm>
        <a:graphic>
          <a:graphicData uri="http://schemas.openxmlformats.org/drawingml/2006/table">
            <a:tbl>
              <a:tblPr/>
              <a:tblGrid>
                <a:gridCol w="1737360"/>
                <a:gridCol w="1600200"/>
                <a:gridCol w="1600200"/>
              </a:tblGrid>
              <a:tr h="365760">
                <a:tc>
                  <a:txBody>
                    <a:bodyPr/>
                    <a:lstStyle/>
                    <a:p>
                      <a:pP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Pred. parasitized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Pred. uninfected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6576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Parasitized (2,744)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2,682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62 missed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6576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Uninfected (2,768)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32 flagged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2,736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15" name="Text 10"/>
          <p:cNvSpPr txBox="1"/>
          <p:nvPr/>
        </p:nvSpPr>
        <p:spPr>
          <a:xfrm>
            <a:off x="6446520" y="4343400"/>
            <a:ext cx="4983480" cy="868680"/>
          </a:xfrm>
          <a:prstGeom prst="rect">
            <a:avLst/>
          </a:prstGeom>
          <a:noFill/>
          <a:ln/>
        </p:spPr>
        <p:txBody>
          <a:bodyPr wrap="square" lIns="0" tIns="0" rIns="0" bIns="0" rtlCol="0" anchor="t"/>
          <a:lstStyle/>
          <a:p>
            <a:pPr indent="0" marL="0">
              <a:buNone/>
            </a:pPr>
            <a:r>
              <a:rPr lang="en-US" sz="1400" dirty="0">
                <a:solidFill>
                  <a:schemeClr val="tx1"/>
                </a:solidFill>
              </a:rPr>
              <a:t>Recall = 2,682 / 2,744 = </a:t>
            </a:r>
            <a:pPr indent="0" marL="0">
              <a:buNone/>
            </a:pPr>
            <a:r>
              <a:rPr lang="en-US" sz="1400" b="1" dirty="0">
                <a:solidFill>
                  <a:schemeClr val="accent1"/>
                </a:solidFill>
              </a:rPr>
              <a:t>97.74 %</a:t>
            </a:r>
            <a:pPr indent="0" marL="0">
              <a:buNone/>
            </a:pPr>
            <a:r>
              <a:rPr lang="en-US" sz="1400" dirty="0">
                <a:solidFill>
                  <a:schemeClr val="accent6"/>
                </a:solidFill>
              </a:rPr>
              <a:t>  (text says 98.82 %)</a:t>
            </a:r>
            <a:endParaRPr lang="en-US" sz="1400" dirty="0"/>
          </a:p>
          <a:p>
            <a:pPr indent="0" marL="0">
              <a:buNone/>
            </a:pPr>
            <a:r>
              <a:rPr lang="en-US" sz="1400" dirty="0">
                <a:solidFill>
                  <a:schemeClr val="tx1"/>
                </a:solidFill>
              </a:rPr>
              <a:t>Precision = 2,682 / 2,714 = </a:t>
            </a:r>
            <a:pPr indent="0" marL="0">
              <a:buNone/>
            </a:pPr>
            <a:r>
              <a:rPr lang="en-US" sz="1400" b="1" dirty="0">
                <a:solidFill>
                  <a:schemeClr val="accent1"/>
                </a:solidFill>
              </a:rPr>
              <a:t>98.82 %</a:t>
            </a:r>
            <a:pPr indent="0" marL="0">
              <a:buNone/>
            </a:pPr>
            <a:r>
              <a:rPr lang="en-US" sz="1400" dirty="0">
                <a:solidFill>
                  <a:schemeClr val="accent6"/>
                </a:solidFill>
              </a:rPr>
              <a:t>  (text says 97.74 %)</a:t>
            </a:r>
            <a:endParaRPr lang="en-US" sz="1400" dirty="0"/>
          </a:p>
        </p:txBody>
      </p:sp>
      <p:sp>
        <p:nvSpPr>
          <p:cNvPr id="16" name="Shape 11"/>
          <p:cNvSpPr/>
          <p:nvPr/>
        </p:nvSpPr>
        <p:spPr>
          <a:xfrm>
            <a:off x="548640" y="5596128"/>
            <a:ext cx="11064240" cy="658368"/>
          </a:xfrm>
          <a:prstGeom prst="roundRect">
            <a:avLst>
              <a:gd name="adj" fmla="val 11111"/>
            </a:avLst>
          </a:prstGeom>
          <a:solidFill>
            <a:srgbClr val="E3F0F2"/>
          </a:solidFill>
          <a:ln w="9525">
            <a:solidFill>
              <a:srgbClr val="E3F0F2"/>
            </a:solidFill>
            <a:prstDash val="solid"/>
          </a:ln>
        </p:spPr>
      </p:sp>
      <p:sp>
        <p:nvSpPr>
          <p:cNvPr id="17" name="Text 12"/>
          <p:cNvSpPr txBox="1"/>
          <p:nvPr/>
        </p:nvSpPr>
        <p:spPr>
          <a:xfrm>
            <a:off x="822960" y="5669280"/>
            <a:ext cx="10515600" cy="512064"/>
          </a:xfrm>
          <a:prstGeom prst="rect">
            <a:avLst/>
          </a:prstGeom>
          <a:noFill/>
          <a:ln/>
        </p:spPr>
        <p:txBody>
          <a:bodyPr wrap="square" lIns="0" tIns="0" rIns="0" bIns="0" rtlCol="0" anchor="ctr"/>
          <a:lstStyle/>
          <a:p>
            <a:pPr indent="0" marL="0">
              <a:buNone/>
            </a:pPr>
            <a:r>
              <a:rPr lang="en-US" sz="1400" dirty="0">
                <a:solidFill>
                  <a:schemeClr val="tx1"/>
                </a:solidFill>
              </a:rPr>
              <a:t>So our first run's "recall 2 pp lower" compared against the wrong number. Against the true 97.74 %, the paper-exact run is 0.67 pp lower.</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PAPER-EXACT PROTOCOL</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One split, ten fold models, one ensemble</a:t>
            </a:r>
            <a:endParaRPr lang="en-US" sz="3200" dirty="0"/>
          </a:p>
        </p:txBody>
      </p:sp>
      <p:sp>
        <p:nvSpPr>
          <p:cNvPr id="4" name="Shape 2"/>
          <p:cNvSpPr/>
          <p:nvPr/>
        </p:nvSpPr>
        <p:spPr>
          <a:xfrm>
            <a:off x="548640" y="1783080"/>
            <a:ext cx="1920240" cy="1188720"/>
          </a:xfrm>
          <a:prstGeom prst="roundRect">
            <a:avLst>
              <a:gd name="adj" fmla="val 6154"/>
            </a:avLst>
          </a:prstGeom>
          <a:solidFill>
            <a:schemeClr val="bg2"/>
          </a:solidFill>
          <a:ln w="9525">
            <a:solidFill>
              <a:schemeClr val="bg2"/>
            </a:solidFill>
            <a:prstDash val="solid"/>
          </a:ln>
        </p:spPr>
      </p:sp>
      <p:sp>
        <p:nvSpPr>
          <p:cNvPr id="5" name="Text 3"/>
          <p:cNvSpPr txBox="1"/>
          <p:nvPr/>
        </p:nvSpPr>
        <p:spPr>
          <a:xfrm>
            <a:off x="685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27,558</a:t>
            </a:r>
            <a:endParaRPr lang="en-US" sz="1400" dirty="0"/>
          </a:p>
          <a:p>
            <a:pPr algn="ctr" indent="0" marL="0">
              <a:buNone/>
            </a:pPr>
            <a:r>
              <a:rPr lang="en-US" sz="1300" dirty="0">
                <a:solidFill>
                  <a:schemeClr val="tx1"/>
                </a:solidFill>
              </a:rPr>
              <a:t>NIH cell images, 13,779 per class</a:t>
            </a:r>
            <a:endParaRPr lang="en-US" sz="1400" dirty="0"/>
          </a:p>
        </p:txBody>
      </p:sp>
      <p:sp>
        <p:nvSpPr>
          <p:cNvPr id="6" name="Shape 4"/>
          <p:cNvSpPr/>
          <p:nvPr/>
        </p:nvSpPr>
        <p:spPr>
          <a:xfrm>
            <a:off x="2834640" y="1783080"/>
            <a:ext cx="1920240" cy="1188720"/>
          </a:xfrm>
          <a:prstGeom prst="roundRect">
            <a:avLst>
              <a:gd name="adj" fmla="val 6154"/>
            </a:avLst>
          </a:prstGeom>
          <a:solidFill>
            <a:schemeClr val="bg2"/>
          </a:solidFill>
          <a:ln w="9525">
            <a:solidFill>
              <a:schemeClr val="bg2"/>
            </a:solidFill>
            <a:prstDash val="solid"/>
          </a:ln>
        </p:spPr>
      </p:sp>
      <p:sp>
        <p:nvSpPr>
          <p:cNvPr id="7" name="Text 5"/>
          <p:cNvSpPr txBox="1"/>
          <p:nvPr/>
        </p:nvSpPr>
        <p:spPr>
          <a:xfrm>
            <a:off x="2971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80 / 20 split</a:t>
            </a:r>
            <a:endParaRPr lang="en-US" sz="1400" dirty="0"/>
          </a:p>
          <a:p>
            <a:pPr algn="ctr" indent="0" marL="0">
              <a:buNone/>
            </a:pPr>
            <a:r>
              <a:rPr lang="en-US" sz="1300" dirty="0">
                <a:solidFill>
                  <a:schemeClr val="tx1"/>
                </a:solidFill>
              </a:rPr>
              <a:t>random, seeded so all 10 GPUs agree</a:t>
            </a:r>
            <a:endParaRPr lang="en-US" sz="1400" dirty="0"/>
          </a:p>
        </p:txBody>
      </p:sp>
      <p:sp>
        <p:nvSpPr>
          <p:cNvPr id="8" name="Shape 6"/>
          <p:cNvSpPr/>
          <p:nvPr/>
        </p:nvSpPr>
        <p:spPr>
          <a:xfrm>
            <a:off x="5120640" y="1783080"/>
            <a:ext cx="1920240" cy="1188720"/>
          </a:xfrm>
          <a:prstGeom prst="roundRect">
            <a:avLst>
              <a:gd name="adj" fmla="val 6154"/>
            </a:avLst>
          </a:prstGeom>
          <a:solidFill>
            <a:schemeClr val="bg2"/>
          </a:solidFill>
          <a:ln w="9525">
            <a:solidFill>
              <a:schemeClr val="bg2"/>
            </a:solidFill>
            <a:prstDash val="solid"/>
          </a:ln>
        </p:spPr>
      </p:sp>
      <p:sp>
        <p:nvSpPr>
          <p:cNvPr id="9" name="Text 7"/>
          <p:cNvSpPr txBox="1"/>
          <p:nvPr/>
        </p:nvSpPr>
        <p:spPr>
          <a:xfrm>
            <a:off x="5257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22,046</a:t>
            </a:r>
            <a:endParaRPr lang="en-US" sz="1400" dirty="0"/>
          </a:p>
          <a:p>
            <a:pPr algn="ctr" indent="0" marL="0">
              <a:buNone/>
            </a:pPr>
            <a:r>
              <a:rPr lang="en-US" sz="1300" dirty="0">
                <a:solidFill>
                  <a:schemeClr val="tx1"/>
                </a:solidFill>
              </a:rPr>
              <a:t>learning set for 10-fold CV</a:t>
            </a:r>
            <a:endParaRPr lang="en-US" sz="1400" dirty="0"/>
          </a:p>
        </p:txBody>
      </p:sp>
      <p:sp>
        <p:nvSpPr>
          <p:cNvPr id="10" name="Shape 8"/>
          <p:cNvSpPr/>
          <p:nvPr/>
        </p:nvSpPr>
        <p:spPr>
          <a:xfrm>
            <a:off x="7406640" y="1783080"/>
            <a:ext cx="1920240" cy="1188720"/>
          </a:xfrm>
          <a:prstGeom prst="roundRect">
            <a:avLst>
              <a:gd name="adj" fmla="val 6154"/>
            </a:avLst>
          </a:prstGeom>
          <a:solidFill>
            <a:schemeClr val="bg2"/>
          </a:solidFill>
          <a:ln w="9525">
            <a:solidFill>
              <a:schemeClr val="bg2"/>
            </a:solidFill>
            <a:prstDash val="solid"/>
          </a:ln>
        </p:spPr>
      </p:sp>
      <p:sp>
        <p:nvSpPr>
          <p:cNvPr id="11" name="Text 9"/>
          <p:cNvSpPr txBox="1"/>
          <p:nvPr/>
        </p:nvSpPr>
        <p:spPr>
          <a:xfrm>
            <a:off x="7543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10 stratified folds</a:t>
            </a:r>
            <a:endParaRPr lang="en-US" sz="1400" dirty="0"/>
          </a:p>
          <a:p>
            <a:pPr algn="ctr" indent="0" marL="0">
              <a:buNone/>
            </a:pPr>
            <a:r>
              <a:rPr lang="en-US" sz="1300" dirty="0">
                <a:solidFill>
                  <a:schemeClr val="tx1"/>
                </a:solidFill>
              </a:rPr>
              <a:t>each: train 19,841, test 2,205</a:t>
            </a:r>
            <a:endParaRPr lang="en-US" sz="1400" dirty="0"/>
          </a:p>
        </p:txBody>
      </p:sp>
      <p:sp>
        <p:nvSpPr>
          <p:cNvPr id="12" name="Shape 10"/>
          <p:cNvSpPr/>
          <p:nvPr/>
        </p:nvSpPr>
        <p:spPr>
          <a:xfrm>
            <a:off x="9692640" y="1783080"/>
            <a:ext cx="1920240" cy="1188720"/>
          </a:xfrm>
          <a:prstGeom prst="roundRect">
            <a:avLst>
              <a:gd name="adj" fmla="val 6154"/>
            </a:avLst>
          </a:prstGeom>
          <a:solidFill>
            <a:schemeClr val="bg2"/>
          </a:solidFill>
          <a:ln w="9525">
            <a:solidFill>
              <a:schemeClr val="bg2"/>
            </a:solidFill>
            <a:prstDash val="solid"/>
          </a:ln>
        </p:spPr>
      </p:sp>
      <p:sp>
        <p:nvSpPr>
          <p:cNvPr id="13" name="Text 11"/>
          <p:cNvSpPr txBox="1"/>
          <p:nvPr/>
        </p:nvSpPr>
        <p:spPr>
          <a:xfrm>
            <a:off x="9829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10 models</a:t>
            </a:r>
            <a:endParaRPr lang="en-US" sz="1400" dirty="0"/>
          </a:p>
          <a:p>
            <a:pPr algn="ctr" indent="0" marL="0">
              <a:buNone/>
            </a:pPr>
            <a:r>
              <a:rPr lang="en-US" sz="1300" dirty="0">
                <a:solidFill>
                  <a:schemeClr val="tx1"/>
                </a:solidFill>
              </a:rPr>
              <a:t>one per fold, best val_loss weights</a:t>
            </a:r>
            <a:endParaRPr lang="en-US" sz="1400" dirty="0"/>
          </a:p>
        </p:txBody>
      </p:sp>
      <p:sp>
        <p:nvSpPr>
          <p:cNvPr id="14" name="Shape 12"/>
          <p:cNvSpPr/>
          <p:nvPr/>
        </p:nvSpPr>
        <p:spPr>
          <a:xfrm>
            <a:off x="2505456" y="2377440"/>
            <a:ext cx="292608" cy="0"/>
          </a:xfrm>
          <a:prstGeom prst="line">
            <a:avLst/>
          </a:prstGeom>
          <a:noFill/>
          <a:ln w="19050">
            <a:solidFill>
              <a:srgbClr val="64748B"/>
            </a:solidFill>
            <a:prstDash val="solid"/>
            <a:tailEnd type="triangle"/>
          </a:ln>
        </p:spPr>
      </p:sp>
      <p:sp>
        <p:nvSpPr>
          <p:cNvPr id="15" name="Shape 13"/>
          <p:cNvSpPr/>
          <p:nvPr/>
        </p:nvSpPr>
        <p:spPr>
          <a:xfrm>
            <a:off x="4791456" y="2377440"/>
            <a:ext cx="292608" cy="0"/>
          </a:xfrm>
          <a:prstGeom prst="line">
            <a:avLst/>
          </a:prstGeom>
          <a:noFill/>
          <a:ln w="19050">
            <a:solidFill>
              <a:srgbClr val="64748B"/>
            </a:solidFill>
            <a:prstDash val="solid"/>
            <a:tailEnd type="triangle"/>
          </a:ln>
        </p:spPr>
      </p:sp>
      <p:sp>
        <p:nvSpPr>
          <p:cNvPr id="16" name="Shape 14"/>
          <p:cNvSpPr/>
          <p:nvPr/>
        </p:nvSpPr>
        <p:spPr>
          <a:xfrm>
            <a:off x="7077456" y="2377440"/>
            <a:ext cx="292608" cy="0"/>
          </a:xfrm>
          <a:prstGeom prst="line">
            <a:avLst/>
          </a:prstGeom>
          <a:noFill/>
          <a:ln w="19050">
            <a:solidFill>
              <a:srgbClr val="64748B"/>
            </a:solidFill>
            <a:prstDash val="solid"/>
            <a:tailEnd type="triangle"/>
          </a:ln>
        </p:spPr>
      </p:sp>
      <p:sp>
        <p:nvSpPr>
          <p:cNvPr id="17" name="Shape 15"/>
          <p:cNvSpPr/>
          <p:nvPr/>
        </p:nvSpPr>
        <p:spPr>
          <a:xfrm>
            <a:off x="9363456" y="2377440"/>
            <a:ext cx="292608" cy="0"/>
          </a:xfrm>
          <a:prstGeom prst="line">
            <a:avLst/>
          </a:prstGeom>
          <a:noFill/>
          <a:ln w="19050">
            <a:solidFill>
              <a:srgbClr val="64748B"/>
            </a:solidFill>
            <a:prstDash val="solid"/>
            <a:tailEnd type="triangle"/>
          </a:ln>
        </p:spPr>
      </p:sp>
      <p:sp>
        <p:nvSpPr>
          <p:cNvPr id="18" name="Shape 16"/>
          <p:cNvSpPr/>
          <p:nvPr/>
        </p:nvSpPr>
        <p:spPr>
          <a:xfrm>
            <a:off x="2834640" y="3886200"/>
            <a:ext cx="1920240" cy="1188720"/>
          </a:xfrm>
          <a:prstGeom prst="roundRect">
            <a:avLst>
              <a:gd name="adj" fmla="val 6154"/>
            </a:avLst>
          </a:prstGeom>
          <a:solidFill>
            <a:srgbClr val="FBF1E4"/>
          </a:solidFill>
          <a:ln w="9525">
            <a:solidFill>
              <a:srgbClr val="FBF1E4"/>
            </a:solidFill>
            <a:prstDash val="solid"/>
          </a:ln>
        </p:spPr>
      </p:sp>
      <p:sp>
        <p:nvSpPr>
          <p:cNvPr id="19" name="Text 17"/>
          <p:cNvSpPr txBox="1"/>
          <p:nvPr/>
        </p:nvSpPr>
        <p:spPr>
          <a:xfrm>
            <a:off x="2971800" y="3995928"/>
            <a:ext cx="1645920" cy="969264"/>
          </a:xfrm>
          <a:prstGeom prst="rect">
            <a:avLst/>
          </a:prstGeom>
          <a:noFill/>
          <a:ln/>
        </p:spPr>
        <p:txBody>
          <a:bodyPr wrap="square" lIns="0" tIns="0" rIns="0" bIns="0" rtlCol="0" anchor="ctr"/>
          <a:lstStyle/>
          <a:p>
            <a:pPr algn="ctr" indent="0" marL="0">
              <a:buNone/>
            </a:pPr>
            <a:r>
              <a:rPr lang="en-US" sz="1700" b="1" dirty="0">
                <a:solidFill>
                  <a:schemeClr val="accent4"/>
                </a:solidFill>
              </a:rPr>
              <a:t>5,512</a:t>
            </a:r>
            <a:endParaRPr lang="en-US" sz="1400" dirty="0"/>
          </a:p>
          <a:p>
            <a:pPr algn="ctr" indent="0" marL="0">
              <a:buNone/>
            </a:pPr>
            <a:r>
              <a:rPr lang="en-US" sz="1300" dirty="0">
                <a:solidFill>
                  <a:schemeClr val="tx1"/>
                </a:solidFill>
              </a:rPr>
              <a:t>hold-out set, never used in training</a:t>
            </a:r>
            <a:endParaRPr lang="en-US" sz="1400" dirty="0"/>
          </a:p>
        </p:txBody>
      </p:sp>
      <p:sp>
        <p:nvSpPr>
          <p:cNvPr id="20" name="Shape 18"/>
          <p:cNvSpPr/>
          <p:nvPr/>
        </p:nvSpPr>
        <p:spPr>
          <a:xfrm>
            <a:off x="5120640" y="3886200"/>
            <a:ext cx="6492240" cy="1188720"/>
          </a:xfrm>
          <a:prstGeom prst="roundRect">
            <a:avLst>
              <a:gd name="adj" fmla="val 6154"/>
            </a:avLst>
          </a:prstGeom>
          <a:solidFill>
            <a:srgbClr val="E3F0F2"/>
          </a:solidFill>
          <a:ln w="9525">
            <a:solidFill>
              <a:srgbClr val="E3F0F2"/>
            </a:solidFill>
            <a:prstDash val="solid"/>
          </a:ln>
        </p:spPr>
      </p:sp>
      <p:sp>
        <p:nvSpPr>
          <p:cNvPr id="21" name="Text 19"/>
          <p:cNvSpPr txBox="1"/>
          <p:nvPr/>
        </p:nvSpPr>
        <p:spPr>
          <a:xfrm>
            <a:off x="5257800" y="3995928"/>
            <a:ext cx="6217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Ensemble = average of the 10 softmax outputs</a:t>
            </a:r>
            <a:endParaRPr lang="en-US" sz="1400" dirty="0"/>
          </a:p>
          <a:p>
            <a:pPr algn="ctr" indent="0" marL="0">
              <a:buNone/>
            </a:pPr>
            <a:r>
              <a:rPr lang="en-US" sz="1300" dirty="0">
                <a:solidFill>
                  <a:schemeClr val="tx1"/>
                </a:solidFill>
              </a:rPr>
              <a:t>scored on the hold-out set → 97.62 % accuracy, 99.73 % ROC-AUC (paper 98.29 %, 99.76 %)</a:t>
            </a:r>
            <a:endParaRPr lang="en-US" sz="1400" dirty="0"/>
          </a:p>
        </p:txBody>
      </p:sp>
      <p:sp>
        <p:nvSpPr>
          <p:cNvPr id="22" name="Shape 20"/>
          <p:cNvSpPr/>
          <p:nvPr/>
        </p:nvSpPr>
        <p:spPr>
          <a:xfrm>
            <a:off x="3794760" y="3008376"/>
            <a:ext cx="0" cy="841248"/>
          </a:xfrm>
          <a:prstGeom prst="line">
            <a:avLst/>
          </a:prstGeom>
          <a:noFill/>
          <a:ln w="19050">
            <a:solidFill>
              <a:srgbClr val="64748B"/>
            </a:solidFill>
            <a:prstDash val="solid"/>
            <a:tailEnd type="triangle"/>
          </a:ln>
        </p:spPr>
      </p:sp>
      <p:sp>
        <p:nvSpPr>
          <p:cNvPr id="23" name="Shape 21"/>
          <p:cNvSpPr/>
          <p:nvPr/>
        </p:nvSpPr>
        <p:spPr>
          <a:xfrm>
            <a:off x="4791456" y="4480560"/>
            <a:ext cx="292608" cy="0"/>
          </a:xfrm>
          <a:prstGeom prst="line">
            <a:avLst/>
          </a:prstGeom>
          <a:noFill/>
          <a:ln w="19050">
            <a:solidFill>
              <a:srgbClr val="64748B"/>
            </a:solidFill>
            <a:prstDash val="solid"/>
            <a:tailEnd type="triangle"/>
          </a:ln>
        </p:spPr>
      </p:sp>
      <p:sp>
        <p:nvSpPr>
          <p:cNvPr id="24" name="Shape 22"/>
          <p:cNvSpPr/>
          <p:nvPr/>
        </p:nvSpPr>
        <p:spPr>
          <a:xfrm>
            <a:off x="10652760" y="3008376"/>
            <a:ext cx="0" cy="841248"/>
          </a:xfrm>
          <a:prstGeom prst="line">
            <a:avLst/>
          </a:prstGeom>
          <a:noFill/>
          <a:ln w="19050">
            <a:solidFill>
              <a:srgbClr val="64748B"/>
            </a:solidFill>
            <a:prstDash val="solid"/>
            <a:tailEnd type="triangle"/>
          </a:ln>
        </p:spPr>
      </p:sp>
      <p:sp>
        <p:nvSpPr>
          <p:cNvPr id="25" name="Text 23"/>
          <p:cNvSpPr txBox="1"/>
          <p:nvPr/>
        </p:nvSpPr>
        <p:spPr>
          <a:xfrm>
            <a:off x="548640" y="5349240"/>
            <a:ext cx="11064240" cy="685800"/>
          </a:xfrm>
          <a:prstGeom prst="rect">
            <a:avLst/>
          </a:prstGeom>
          <a:noFill/>
          <a:ln/>
        </p:spPr>
        <p:txBody>
          <a:bodyPr wrap="square" lIns="0" tIns="0" rIns="0" bIns="0" rtlCol="0" anchor="t"/>
          <a:lstStyle/>
          <a:p>
            <a:pPr indent="0" marL="0">
              <a:buNone/>
            </a:pPr>
            <a:r>
              <a:rPr lang="en-US" sz="1300" dirty="0">
                <a:solidFill>
                  <a:schemeClr val="accent6"/>
                </a:solidFill>
              </a:rPr>
              <a:t>Every fold model is also scored on its own CV test part (the paper's Table 5) and on the hold-out set (Table 6). Each fold stores a fingerprint of the split (a0cc112e…): all 10 folds match.</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MODEL</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EfficientNet-B0 with the paper's dense head</a:t>
            </a:r>
            <a:endParaRPr lang="en-US" sz="3200" dirty="0"/>
          </a:p>
        </p:txBody>
      </p:sp>
      <p:sp>
        <p:nvSpPr>
          <p:cNvPr id="4" name="Shape 2"/>
          <p:cNvSpPr/>
          <p:nvPr/>
        </p:nvSpPr>
        <p:spPr>
          <a:xfrm>
            <a:off x="548640" y="1691640"/>
            <a:ext cx="1600200" cy="914400"/>
          </a:xfrm>
          <a:prstGeom prst="roundRect">
            <a:avLst>
              <a:gd name="adj" fmla="val 8000"/>
            </a:avLst>
          </a:prstGeom>
          <a:solidFill>
            <a:schemeClr val="bg2"/>
          </a:solidFill>
          <a:ln w="9525">
            <a:solidFill>
              <a:schemeClr val="bg2"/>
            </a:solidFill>
            <a:prstDash val="solid"/>
          </a:ln>
        </p:spPr>
      </p:sp>
      <p:sp>
        <p:nvSpPr>
          <p:cNvPr id="5" name="Text 3"/>
          <p:cNvSpPr txBox="1"/>
          <p:nvPr/>
        </p:nvSpPr>
        <p:spPr>
          <a:xfrm>
            <a:off x="640080" y="1764792"/>
            <a:ext cx="1417320" cy="768096"/>
          </a:xfrm>
          <a:prstGeom prst="rect">
            <a:avLst/>
          </a:prstGeom>
          <a:noFill/>
          <a:ln/>
        </p:spPr>
        <p:txBody>
          <a:bodyPr wrap="square" lIns="0" tIns="0" rIns="0" bIns="0" rtlCol="0" anchor="ctr"/>
          <a:lstStyle/>
          <a:p>
            <a:pPr algn="ctr" indent="0" marL="0">
              <a:buNone/>
            </a:pPr>
            <a:r>
              <a:rPr lang="en-US" sz="1500" b="1" dirty="0">
                <a:solidFill>
                  <a:schemeClr val="tx1"/>
                </a:solidFill>
              </a:rPr>
              <a:t>Input</a:t>
            </a:r>
            <a:endParaRPr lang="en-US" sz="1400" dirty="0"/>
          </a:p>
          <a:p>
            <a:pPr algn="ctr" indent="0" marL="0">
              <a:buNone/>
            </a:pPr>
            <a:r>
              <a:rPr lang="en-US" sz="1200" dirty="0">
                <a:solidFill>
                  <a:schemeClr val="accent6"/>
                </a:solidFill>
              </a:rPr>
              <a:t>224 × 224 × 3 · uint8</a:t>
            </a:r>
            <a:endParaRPr lang="en-US" sz="1400" dirty="0"/>
          </a:p>
        </p:txBody>
      </p:sp>
      <p:sp>
        <p:nvSpPr>
          <p:cNvPr id="6" name="Shape 4"/>
          <p:cNvSpPr/>
          <p:nvPr/>
        </p:nvSpPr>
        <p:spPr>
          <a:xfrm>
            <a:off x="2514600" y="1691640"/>
            <a:ext cx="1097280" cy="914400"/>
          </a:xfrm>
          <a:prstGeom prst="roundRect">
            <a:avLst>
              <a:gd name="adj" fmla="val 8000"/>
            </a:avLst>
          </a:prstGeom>
          <a:solidFill>
            <a:schemeClr val="bg2"/>
          </a:solidFill>
          <a:ln w="9525">
            <a:solidFill>
              <a:schemeClr val="bg2"/>
            </a:solidFill>
            <a:prstDash val="solid"/>
          </a:ln>
        </p:spPr>
      </p:sp>
      <p:sp>
        <p:nvSpPr>
          <p:cNvPr id="7" name="Text 5"/>
          <p:cNvSpPr txBox="1"/>
          <p:nvPr/>
        </p:nvSpPr>
        <p:spPr>
          <a:xfrm>
            <a:off x="2606040" y="1764792"/>
            <a:ext cx="914400" cy="768096"/>
          </a:xfrm>
          <a:prstGeom prst="rect">
            <a:avLst/>
          </a:prstGeom>
          <a:noFill/>
          <a:ln/>
        </p:spPr>
        <p:txBody>
          <a:bodyPr wrap="square" lIns="0" tIns="0" rIns="0" bIns="0" rtlCol="0" anchor="ctr"/>
          <a:lstStyle/>
          <a:p>
            <a:pPr algn="ctr" indent="0" marL="0">
              <a:buNone/>
            </a:pPr>
            <a:r>
              <a:rPr lang="en-US" sz="1500" b="1" dirty="0">
                <a:solidFill>
                  <a:schemeClr val="tx1"/>
                </a:solidFill>
              </a:rPr>
              <a:t>÷ 255</a:t>
            </a:r>
            <a:endParaRPr lang="en-US" sz="1400" dirty="0"/>
          </a:p>
          <a:p>
            <a:pPr algn="ctr" indent="0" marL="0">
              <a:buNone/>
            </a:pPr>
            <a:r>
              <a:rPr lang="en-US" sz="1200" dirty="0">
                <a:solidFill>
                  <a:schemeClr val="accent6"/>
                </a:solidFill>
              </a:rPr>
              <a:t>pixels to 0–1</a:t>
            </a:r>
            <a:endParaRPr lang="en-US" sz="1400" dirty="0"/>
          </a:p>
        </p:txBody>
      </p:sp>
      <p:sp>
        <p:nvSpPr>
          <p:cNvPr id="8" name="Shape 6"/>
          <p:cNvSpPr/>
          <p:nvPr/>
        </p:nvSpPr>
        <p:spPr>
          <a:xfrm>
            <a:off x="3977640" y="1691640"/>
            <a:ext cx="3794760" cy="914400"/>
          </a:xfrm>
          <a:prstGeom prst="roundRect">
            <a:avLst>
              <a:gd name="adj" fmla="val 8000"/>
            </a:avLst>
          </a:prstGeom>
          <a:solidFill>
            <a:srgbClr val="137C8E"/>
          </a:solidFill>
          <a:ln w="9525">
            <a:solidFill>
              <a:srgbClr val="137C8E"/>
            </a:solidFill>
            <a:prstDash val="solid"/>
          </a:ln>
        </p:spPr>
      </p:sp>
      <p:sp>
        <p:nvSpPr>
          <p:cNvPr id="9" name="Text 7"/>
          <p:cNvSpPr txBox="1"/>
          <p:nvPr/>
        </p:nvSpPr>
        <p:spPr>
          <a:xfrm>
            <a:off x="4069080" y="1764792"/>
            <a:ext cx="3611880" cy="768096"/>
          </a:xfrm>
          <a:prstGeom prst="rect">
            <a:avLst/>
          </a:prstGeom>
          <a:noFill/>
          <a:ln/>
        </p:spPr>
        <p:txBody>
          <a:bodyPr wrap="square" lIns="0" tIns="0" rIns="0" bIns="0" rtlCol="0" anchor="ctr"/>
          <a:lstStyle/>
          <a:p>
            <a:pPr algn="ctr" indent="0" marL="0">
              <a:buNone/>
            </a:pPr>
            <a:r>
              <a:rPr lang="en-US" sz="1500" b="1" dirty="0">
                <a:solidFill>
                  <a:schemeClr val="bg1"/>
                </a:solidFill>
              </a:rPr>
              <a:t>EfficientNet-B0 backbone</a:t>
            </a:r>
            <a:endParaRPr lang="en-US" sz="1400" dirty="0"/>
          </a:p>
          <a:p>
            <a:pPr algn="ctr" indent="0" marL="0">
              <a:buNone/>
            </a:pPr>
            <a:r>
              <a:rPr lang="en-US" sz="1200" dirty="0">
                <a:solidFill>
                  <a:schemeClr val="bg1"/>
                </a:solidFill>
              </a:rPr>
              <a:t>noisy-student weights · 4,049,564 parameters</a:t>
            </a:r>
            <a:endParaRPr lang="en-US" sz="1400" dirty="0"/>
          </a:p>
        </p:txBody>
      </p:sp>
      <p:sp>
        <p:nvSpPr>
          <p:cNvPr id="10" name="Shape 8"/>
          <p:cNvSpPr/>
          <p:nvPr/>
        </p:nvSpPr>
        <p:spPr>
          <a:xfrm>
            <a:off x="2185416" y="2148840"/>
            <a:ext cx="292608" cy="0"/>
          </a:xfrm>
          <a:prstGeom prst="line">
            <a:avLst/>
          </a:prstGeom>
          <a:noFill/>
          <a:ln w="19050">
            <a:solidFill>
              <a:srgbClr val="64748B"/>
            </a:solidFill>
            <a:prstDash val="solid"/>
            <a:tailEnd type="triangle"/>
          </a:ln>
        </p:spPr>
      </p:sp>
      <p:sp>
        <p:nvSpPr>
          <p:cNvPr id="11" name="Shape 9"/>
          <p:cNvSpPr/>
          <p:nvPr/>
        </p:nvSpPr>
        <p:spPr>
          <a:xfrm>
            <a:off x="3648456" y="2148840"/>
            <a:ext cx="292608" cy="0"/>
          </a:xfrm>
          <a:prstGeom prst="line">
            <a:avLst/>
          </a:prstGeom>
          <a:noFill/>
          <a:ln w="19050">
            <a:solidFill>
              <a:srgbClr val="64748B"/>
            </a:solidFill>
            <a:prstDash val="solid"/>
            <a:tailEnd type="triangle"/>
          </a:ln>
        </p:spPr>
      </p:sp>
      <p:sp>
        <p:nvSpPr>
          <p:cNvPr id="12" name="Shape 10"/>
          <p:cNvSpPr/>
          <p:nvPr/>
        </p:nvSpPr>
        <p:spPr>
          <a:xfrm>
            <a:off x="548640" y="2852928"/>
            <a:ext cx="731520" cy="566928"/>
          </a:xfrm>
          <a:prstGeom prst="roundRect">
            <a:avLst>
              <a:gd name="adj" fmla="val 12903"/>
            </a:avLst>
          </a:prstGeom>
          <a:solidFill>
            <a:srgbClr val="D8EAEE"/>
          </a:solidFill>
          <a:ln w="9525">
            <a:solidFill>
              <a:srgbClr val="D8EAEE"/>
            </a:solidFill>
            <a:prstDash val="solid"/>
          </a:ln>
        </p:spPr>
      </p:sp>
      <p:sp>
        <p:nvSpPr>
          <p:cNvPr id="13" name="Text 11"/>
          <p:cNvSpPr txBox="1"/>
          <p:nvPr/>
        </p:nvSpPr>
        <p:spPr>
          <a:xfrm>
            <a:off x="548640"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stem</a:t>
            </a:r>
            <a:endParaRPr lang="en-US" sz="1400" dirty="0"/>
          </a:p>
          <a:p>
            <a:pPr algn="ctr" indent="0" marL="0">
              <a:buNone/>
            </a:pPr>
            <a:r>
              <a:rPr lang="en-US" sz="1100" dirty="0">
                <a:solidFill>
                  <a:schemeClr val="accent6"/>
                </a:solidFill>
              </a:rPr>
              <a:t>32</a:t>
            </a:r>
            <a:endParaRPr lang="en-US" sz="1400" dirty="0"/>
          </a:p>
        </p:txBody>
      </p:sp>
      <p:sp>
        <p:nvSpPr>
          <p:cNvPr id="14" name="Shape 12"/>
          <p:cNvSpPr/>
          <p:nvPr/>
        </p:nvSpPr>
        <p:spPr>
          <a:xfrm>
            <a:off x="1357884" y="2852928"/>
            <a:ext cx="731520" cy="566928"/>
          </a:xfrm>
          <a:prstGeom prst="roundRect">
            <a:avLst>
              <a:gd name="adj" fmla="val 12903"/>
            </a:avLst>
          </a:prstGeom>
          <a:solidFill>
            <a:srgbClr val="D8EAEE"/>
          </a:solidFill>
          <a:ln w="9525">
            <a:solidFill>
              <a:srgbClr val="D8EAEE"/>
            </a:solidFill>
            <a:prstDash val="solid"/>
          </a:ln>
        </p:spPr>
      </p:sp>
      <p:sp>
        <p:nvSpPr>
          <p:cNvPr id="15" name="Text 13"/>
          <p:cNvSpPr txBox="1"/>
          <p:nvPr/>
        </p:nvSpPr>
        <p:spPr>
          <a:xfrm>
            <a:off x="1357884"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16</a:t>
            </a:r>
            <a:endParaRPr lang="en-US" sz="1400" dirty="0"/>
          </a:p>
          <a:p>
            <a:pPr algn="ctr" indent="0" marL="0">
              <a:buNone/>
            </a:pPr>
            <a:r>
              <a:rPr lang="en-US" sz="1100" dirty="0">
                <a:solidFill>
                  <a:schemeClr val="accent6"/>
                </a:solidFill>
              </a:rPr>
              <a:t>×1</a:t>
            </a:r>
            <a:endParaRPr lang="en-US" sz="1400" dirty="0"/>
          </a:p>
        </p:txBody>
      </p:sp>
      <p:sp>
        <p:nvSpPr>
          <p:cNvPr id="16" name="Shape 14"/>
          <p:cNvSpPr/>
          <p:nvPr/>
        </p:nvSpPr>
        <p:spPr>
          <a:xfrm>
            <a:off x="2167128" y="2852928"/>
            <a:ext cx="731520" cy="566928"/>
          </a:xfrm>
          <a:prstGeom prst="roundRect">
            <a:avLst>
              <a:gd name="adj" fmla="val 12903"/>
            </a:avLst>
          </a:prstGeom>
          <a:solidFill>
            <a:srgbClr val="D8EAEE"/>
          </a:solidFill>
          <a:ln w="9525">
            <a:solidFill>
              <a:srgbClr val="D8EAEE"/>
            </a:solidFill>
            <a:prstDash val="solid"/>
          </a:ln>
        </p:spPr>
      </p:sp>
      <p:sp>
        <p:nvSpPr>
          <p:cNvPr id="17" name="Text 15"/>
          <p:cNvSpPr txBox="1"/>
          <p:nvPr/>
        </p:nvSpPr>
        <p:spPr>
          <a:xfrm>
            <a:off x="2167128"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24</a:t>
            </a:r>
            <a:endParaRPr lang="en-US" sz="1400" dirty="0"/>
          </a:p>
          <a:p>
            <a:pPr algn="ctr" indent="0" marL="0">
              <a:buNone/>
            </a:pPr>
            <a:r>
              <a:rPr lang="en-US" sz="1100" dirty="0">
                <a:solidFill>
                  <a:schemeClr val="accent6"/>
                </a:solidFill>
              </a:rPr>
              <a:t>×2</a:t>
            </a:r>
            <a:endParaRPr lang="en-US" sz="1400" dirty="0"/>
          </a:p>
        </p:txBody>
      </p:sp>
      <p:sp>
        <p:nvSpPr>
          <p:cNvPr id="18" name="Shape 16"/>
          <p:cNvSpPr/>
          <p:nvPr/>
        </p:nvSpPr>
        <p:spPr>
          <a:xfrm>
            <a:off x="2976372" y="2852928"/>
            <a:ext cx="731520" cy="566928"/>
          </a:xfrm>
          <a:prstGeom prst="roundRect">
            <a:avLst>
              <a:gd name="adj" fmla="val 12903"/>
            </a:avLst>
          </a:prstGeom>
          <a:solidFill>
            <a:srgbClr val="D8EAEE"/>
          </a:solidFill>
          <a:ln w="9525">
            <a:solidFill>
              <a:srgbClr val="D8EAEE"/>
            </a:solidFill>
            <a:prstDash val="solid"/>
          </a:ln>
        </p:spPr>
      </p:sp>
      <p:sp>
        <p:nvSpPr>
          <p:cNvPr id="19" name="Text 17"/>
          <p:cNvSpPr txBox="1"/>
          <p:nvPr/>
        </p:nvSpPr>
        <p:spPr>
          <a:xfrm>
            <a:off x="2976372"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40</a:t>
            </a:r>
            <a:endParaRPr lang="en-US" sz="1400" dirty="0"/>
          </a:p>
          <a:p>
            <a:pPr algn="ctr" indent="0" marL="0">
              <a:buNone/>
            </a:pPr>
            <a:r>
              <a:rPr lang="en-US" sz="1100" dirty="0">
                <a:solidFill>
                  <a:schemeClr val="accent6"/>
                </a:solidFill>
              </a:rPr>
              <a:t>×2</a:t>
            </a:r>
            <a:endParaRPr lang="en-US" sz="1400" dirty="0"/>
          </a:p>
        </p:txBody>
      </p:sp>
      <p:sp>
        <p:nvSpPr>
          <p:cNvPr id="20" name="Shape 18"/>
          <p:cNvSpPr/>
          <p:nvPr/>
        </p:nvSpPr>
        <p:spPr>
          <a:xfrm>
            <a:off x="3785616" y="2852928"/>
            <a:ext cx="731520" cy="566928"/>
          </a:xfrm>
          <a:prstGeom prst="roundRect">
            <a:avLst>
              <a:gd name="adj" fmla="val 12903"/>
            </a:avLst>
          </a:prstGeom>
          <a:solidFill>
            <a:srgbClr val="D8EAEE"/>
          </a:solidFill>
          <a:ln w="9525">
            <a:solidFill>
              <a:srgbClr val="D8EAEE"/>
            </a:solidFill>
            <a:prstDash val="solid"/>
          </a:ln>
        </p:spPr>
      </p:sp>
      <p:sp>
        <p:nvSpPr>
          <p:cNvPr id="21" name="Text 19"/>
          <p:cNvSpPr txBox="1"/>
          <p:nvPr/>
        </p:nvSpPr>
        <p:spPr>
          <a:xfrm>
            <a:off x="3785616"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80</a:t>
            </a:r>
            <a:endParaRPr lang="en-US" sz="1400" dirty="0"/>
          </a:p>
          <a:p>
            <a:pPr algn="ctr" indent="0" marL="0">
              <a:buNone/>
            </a:pPr>
            <a:r>
              <a:rPr lang="en-US" sz="1100" dirty="0">
                <a:solidFill>
                  <a:schemeClr val="accent6"/>
                </a:solidFill>
              </a:rPr>
              <a:t>×3</a:t>
            </a:r>
            <a:endParaRPr lang="en-US" sz="1400" dirty="0"/>
          </a:p>
        </p:txBody>
      </p:sp>
      <p:sp>
        <p:nvSpPr>
          <p:cNvPr id="22" name="Shape 20"/>
          <p:cNvSpPr/>
          <p:nvPr/>
        </p:nvSpPr>
        <p:spPr>
          <a:xfrm>
            <a:off x="4594860" y="2852928"/>
            <a:ext cx="731520" cy="566928"/>
          </a:xfrm>
          <a:prstGeom prst="roundRect">
            <a:avLst>
              <a:gd name="adj" fmla="val 12903"/>
            </a:avLst>
          </a:prstGeom>
          <a:solidFill>
            <a:srgbClr val="D8EAEE"/>
          </a:solidFill>
          <a:ln w="9525">
            <a:solidFill>
              <a:srgbClr val="D8EAEE"/>
            </a:solidFill>
            <a:prstDash val="solid"/>
          </a:ln>
        </p:spPr>
      </p:sp>
      <p:sp>
        <p:nvSpPr>
          <p:cNvPr id="23" name="Text 21"/>
          <p:cNvSpPr txBox="1"/>
          <p:nvPr/>
        </p:nvSpPr>
        <p:spPr>
          <a:xfrm>
            <a:off x="4594860"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112</a:t>
            </a:r>
            <a:endParaRPr lang="en-US" sz="1400" dirty="0"/>
          </a:p>
          <a:p>
            <a:pPr algn="ctr" indent="0" marL="0">
              <a:buNone/>
            </a:pPr>
            <a:r>
              <a:rPr lang="en-US" sz="1100" dirty="0">
                <a:solidFill>
                  <a:schemeClr val="accent6"/>
                </a:solidFill>
              </a:rPr>
              <a:t>×3</a:t>
            </a:r>
            <a:endParaRPr lang="en-US" sz="1400" dirty="0"/>
          </a:p>
        </p:txBody>
      </p:sp>
      <p:sp>
        <p:nvSpPr>
          <p:cNvPr id="24" name="Shape 22"/>
          <p:cNvSpPr/>
          <p:nvPr/>
        </p:nvSpPr>
        <p:spPr>
          <a:xfrm>
            <a:off x="5404104" y="2852928"/>
            <a:ext cx="731520" cy="566928"/>
          </a:xfrm>
          <a:prstGeom prst="roundRect">
            <a:avLst>
              <a:gd name="adj" fmla="val 12903"/>
            </a:avLst>
          </a:prstGeom>
          <a:solidFill>
            <a:srgbClr val="D8EAEE"/>
          </a:solidFill>
          <a:ln w="9525">
            <a:solidFill>
              <a:srgbClr val="D8EAEE"/>
            </a:solidFill>
            <a:prstDash val="solid"/>
          </a:ln>
        </p:spPr>
      </p:sp>
      <p:sp>
        <p:nvSpPr>
          <p:cNvPr id="25" name="Text 23"/>
          <p:cNvSpPr txBox="1"/>
          <p:nvPr/>
        </p:nvSpPr>
        <p:spPr>
          <a:xfrm>
            <a:off x="5404104"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192</a:t>
            </a:r>
            <a:endParaRPr lang="en-US" sz="1400" dirty="0"/>
          </a:p>
          <a:p>
            <a:pPr algn="ctr" indent="0" marL="0">
              <a:buNone/>
            </a:pPr>
            <a:r>
              <a:rPr lang="en-US" sz="1100" dirty="0">
                <a:solidFill>
                  <a:schemeClr val="accent6"/>
                </a:solidFill>
              </a:rPr>
              <a:t>×4</a:t>
            </a:r>
            <a:endParaRPr lang="en-US" sz="1400" dirty="0"/>
          </a:p>
        </p:txBody>
      </p:sp>
      <p:sp>
        <p:nvSpPr>
          <p:cNvPr id="26" name="Shape 24"/>
          <p:cNvSpPr/>
          <p:nvPr/>
        </p:nvSpPr>
        <p:spPr>
          <a:xfrm>
            <a:off x="6213348" y="2852928"/>
            <a:ext cx="731520" cy="566928"/>
          </a:xfrm>
          <a:prstGeom prst="roundRect">
            <a:avLst>
              <a:gd name="adj" fmla="val 12903"/>
            </a:avLst>
          </a:prstGeom>
          <a:solidFill>
            <a:srgbClr val="D8EAEE"/>
          </a:solidFill>
          <a:ln w="9525">
            <a:solidFill>
              <a:srgbClr val="D8EAEE"/>
            </a:solidFill>
            <a:prstDash val="solid"/>
          </a:ln>
        </p:spPr>
      </p:sp>
      <p:sp>
        <p:nvSpPr>
          <p:cNvPr id="27" name="Text 25"/>
          <p:cNvSpPr txBox="1"/>
          <p:nvPr/>
        </p:nvSpPr>
        <p:spPr>
          <a:xfrm>
            <a:off x="6213348"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320</a:t>
            </a:r>
            <a:endParaRPr lang="en-US" sz="1400" dirty="0"/>
          </a:p>
          <a:p>
            <a:pPr algn="ctr" indent="0" marL="0">
              <a:buNone/>
            </a:pPr>
            <a:r>
              <a:rPr lang="en-US" sz="1100" dirty="0">
                <a:solidFill>
                  <a:schemeClr val="accent6"/>
                </a:solidFill>
              </a:rPr>
              <a:t>×1</a:t>
            </a:r>
            <a:endParaRPr lang="en-US" sz="1400" dirty="0"/>
          </a:p>
        </p:txBody>
      </p:sp>
      <p:sp>
        <p:nvSpPr>
          <p:cNvPr id="28" name="Shape 26"/>
          <p:cNvSpPr/>
          <p:nvPr/>
        </p:nvSpPr>
        <p:spPr>
          <a:xfrm>
            <a:off x="7022592" y="2852928"/>
            <a:ext cx="731520" cy="566928"/>
          </a:xfrm>
          <a:prstGeom prst="roundRect">
            <a:avLst>
              <a:gd name="adj" fmla="val 12903"/>
            </a:avLst>
          </a:prstGeom>
          <a:solidFill>
            <a:srgbClr val="D8EAEE"/>
          </a:solidFill>
          <a:ln w="9525">
            <a:solidFill>
              <a:srgbClr val="D8EAEE"/>
            </a:solidFill>
            <a:prstDash val="solid"/>
          </a:ln>
        </p:spPr>
      </p:sp>
      <p:sp>
        <p:nvSpPr>
          <p:cNvPr id="29" name="Text 27"/>
          <p:cNvSpPr txBox="1"/>
          <p:nvPr/>
        </p:nvSpPr>
        <p:spPr>
          <a:xfrm>
            <a:off x="7022592"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1×1</a:t>
            </a:r>
            <a:endParaRPr lang="en-US" sz="1400" dirty="0"/>
          </a:p>
          <a:p>
            <a:pPr algn="ctr" indent="0" marL="0">
              <a:buNone/>
            </a:pPr>
            <a:r>
              <a:rPr lang="en-US" sz="1100" dirty="0">
                <a:solidFill>
                  <a:schemeClr val="accent6"/>
                </a:solidFill>
              </a:rPr>
              <a:t>1280</a:t>
            </a:r>
            <a:endParaRPr lang="en-US" sz="1400" dirty="0"/>
          </a:p>
        </p:txBody>
      </p:sp>
      <p:sp>
        <p:nvSpPr>
          <p:cNvPr id="30" name="Text 28"/>
          <p:cNvSpPr txBox="1"/>
          <p:nvPr/>
        </p:nvSpPr>
        <p:spPr>
          <a:xfrm>
            <a:off x="548640" y="3474720"/>
            <a:ext cx="7223760" cy="457200"/>
          </a:xfrm>
          <a:prstGeom prst="rect">
            <a:avLst/>
          </a:prstGeom>
          <a:noFill/>
          <a:ln/>
        </p:spPr>
        <p:txBody>
          <a:bodyPr wrap="square" lIns="0" tIns="0" rIns="0" bIns="0" rtlCol="0" anchor="t"/>
          <a:lstStyle/>
          <a:p>
            <a:pPr indent="0" marL="0">
              <a:buNone/>
            </a:pPr>
            <a:r>
              <a:rPr lang="en-US" sz="1200" dirty="0">
                <a:solidFill>
                  <a:schemeClr val="accent6"/>
                </a:solidFill>
              </a:rPr>
              <a:t>Inside the backbone: a stem convolution, 16 MBConv blocks in 7 stages (output channels, repeats), and a 1×1 convolution → 7 × 7 × 1280 features.</a:t>
            </a:r>
            <a:endParaRPr lang="en-US" sz="1200" dirty="0"/>
          </a:p>
        </p:txBody>
      </p:sp>
      <p:sp>
        <p:nvSpPr>
          <p:cNvPr id="31" name="Shape 29"/>
          <p:cNvSpPr/>
          <p:nvPr/>
        </p:nvSpPr>
        <p:spPr>
          <a:xfrm>
            <a:off x="548640" y="4114800"/>
            <a:ext cx="1298448" cy="914400"/>
          </a:xfrm>
          <a:prstGeom prst="roundRect">
            <a:avLst>
              <a:gd name="adj" fmla="val 8000"/>
            </a:avLst>
          </a:prstGeom>
          <a:solidFill>
            <a:schemeClr val="bg2"/>
          </a:solidFill>
          <a:ln w="9525">
            <a:solidFill>
              <a:schemeClr val="bg2"/>
            </a:solidFill>
            <a:prstDash val="solid"/>
          </a:ln>
        </p:spPr>
      </p:sp>
      <p:sp>
        <p:nvSpPr>
          <p:cNvPr id="32" name="Text 30"/>
          <p:cNvSpPr txBox="1"/>
          <p:nvPr/>
        </p:nvSpPr>
        <p:spPr>
          <a:xfrm>
            <a:off x="64008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Global avg pool</a:t>
            </a:r>
            <a:endParaRPr lang="en-US" sz="1400" dirty="0"/>
          </a:p>
          <a:p>
            <a:pPr algn="ctr" indent="0" marL="0">
              <a:buNone/>
            </a:pPr>
            <a:r>
              <a:rPr lang="en-US" sz="1200" dirty="0">
                <a:solidFill>
                  <a:schemeClr val="accent6"/>
                </a:solidFill>
              </a:rPr>
              <a:t>→ 1,280</a:t>
            </a:r>
            <a:endParaRPr lang="en-US" sz="1400" dirty="0"/>
          </a:p>
        </p:txBody>
      </p:sp>
      <p:sp>
        <p:nvSpPr>
          <p:cNvPr id="33" name="Shape 31"/>
          <p:cNvSpPr/>
          <p:nvPr/>
        </p:nvSpPr>
        <p:spPr>
          <a:xfrm>
            <a:off x="2057400" y="4114800"/>
            <a:ext cx="1298448" cy="914400"/>
          </a:xfrm>
          <a:prstGeom prst="roundRect">
            <a:avLst>
              <a:gd name="adj" fmla="val 8000"/>
            </a:avLst>
          </a:prstGeom>
          <a:solidFill>
            <a:schemeClr val="bg2"/>
          </a:solidFill>
          <a:ln w="9525">
            <a:solidFill>
              <a:schemeClr val="bg2"/>
            </a:solidFill>
            <a:prstDash val="solid"/>
          </a:ln>
        </p:spPr>
      </p:sp>
      <p:sp>
        <p:nvSpPr>
          <p:cNvPr id="34" name="Text 32"/>
          <p:cNvSpPr txBox="1"/>
          <p:nvPr/>
        </p:nvSpPr>
        <p:spPr>
          <a:xfrm>
            <a:off x="214884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128</a:t>
            </a:r>
            <a:endParaRPr lang="en-US" sz="1400" dirty="0"/>
          </a:p>
          <a:p>
            <a:pPr algn="ctr" indent="0" marL="0">
              <a:buNone/>
            </a:pPr>
            <a:r>
              <a:rPr lang="en-US" sz="1200" dirty="0">
                <a:solidFill>
                  <a:schemeClr val="accent6"/>
                </a:solidFill>
              </a:rPr>
              <a:t>ReLU, dropout 0.3</a:t>
            </a:r>
            <a:endParaRPr lang="en-US" sz="1400" dirty="0"/>
          </a:p>
        </p:txBody>
      </p:sp>
      <p:sp>
        <p:nvSpPr>
          <p:cNvPr id="35" name="Shape 33"/>
          <p:cNvSpPr/>
          <p:nvPr/>
        </p:nvSpPr>
        <p:spPr>
          <a:xfrm>
            <a:off x="3566160" y="4114800"/>
            <a:ext cx="1298448" cy="914400"/>
          </a:xfrm>
          <a:prstGeom prst="roundRect">
            <a:avLst>
              <a:gd name="adj" fmla="val 8000"/>
            </a:avLst>
          </a:prstGeom>
          <a:solidFill>
            <a:schemeClr val="bg2"/>
          </a:solidFill>
          <a:ln w="9525">
            <a:solidFill>
              <a:schemeClr val="bg2"/>
            </a:solidFill>
            <a:prstDash val="solid"/>
          </a:ln>
        </p:spPr>
      </p:sp>
      <p:sp>
        <p:nvSpPr>
          <p:cNvPr id="36" name="Text 34"/>
          <p:cNvSpPr txBox="1"/>
          <p:nvPr/>
        </p:nvSpPr>
        <p:spPr>
          <a:xfrm>
            <a:off x="365760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64</a:t>
            </a:r>
            <a:endParaRPr lang="en-US" sz="1400" dirty="0"/>
          </a:p>
          <a:p>
            <a:pPr algn="ctr" indent="0" marL="0">
              <a:buNone/>
            </a:pPr>
            <a:r>
              <a:rPr lang="en-US" sz="1200" dirty="0">
                <a:solidFill>
                  <a:schemeClr val="accent6"/>
                </a:solidFill>
              </a:rPr>
              <a:t>ReLU, dropout 0.3</a:t>
            </a:r>
            <a:endParaRPr lang="en-US" sz="1400" dirty="0"/>
          </a:p>
        </p:txBody>
      </p:sp>
      <p:sp>
        <p:nvSpPr>
          <p:cNvPr id="37" name="Shape 35"/>
          <p:cNvSpPr/>
          <p:nvPr/>
        </p:nvSpPr>
        <p:spPr>
          <a:xfrm>
            <a:off x="5074920" y="4114800"/>
            <a:ext cx="1298448" cy="914400"/>
          </a:xfrm>
          <a:prstGeom prst="roundRect">
            <a:avLst>
              <a:gd name="adj" fmla="val 8000"/>
            </a:avLst>
          </a:prstGeom>
          <a:solidFill>
            <a:schemeClr val="bg2"/>
          </a:solidFill>
          <a:ln w="9525">
            <a:solidFill>
              <a:schemeClr val="bg2"/>
            </a:solidFill>
            <a:prstDash val="solid"/>
          </a:ln>
        </p:spPr>
      </p:sp>
      <p:sp>
        <p:nvSpPr>
          <p:cNvPr id="38" name="Text 36"/>
          <p:cNvSpPr txBox="1"/>
          <p:nvPr/>
        </p:nvSpPr>
        <p:spPr>
          <a:xfrm>
            <a:off x="516636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32</a:t>
            </a:r>
            <a:endParaRPr lang="en-US" sz="1400" dirty="0"/>
          </a:p>
          <a:p>
            <a:pPr algn="ctr" indent="0" marL="0">
              <a:buNone/>
            </a:pPr>
            <a:r>
              <a:rPr lang="en-US" sz="1200" dirty="0">
                <a:solidFill>
                  <a:schemeClr val="accent6"/>
                </a:solidFill>
              </a:rPr>
              <a:t>ReLU, dropout 0.3</a:t>
            </a:r>
            <a:endParaRPr lang="en-US" sz="1400" dirty="0"/>
          </a:p>
        </p:txBody>
      </p:sp>
      <p:sp>
        <p:nvSpPr>
          <p:cNvPr id="39" name="Shape 37"/>
          <p:cNvSpPr/>
          <p:nvPr/>
        </p:nvSpPr>
        <p:spPr>
          <a:xfrm>
            <a:off x="6583680" y="4114800"/>
            <a:ext cx="1298448" cy="914400"/>
          </a:xfrm>
          <a:prstGeom prst="roundRect">
            <a:avLst>
              <a:gd name="adj" fmla="val 8000"/>
            </a:avLst>
          </a:prstGeom>
          <a:solidFill>
            <a:srgbClr val="7B4B94"/>
          </a:solidFill>
          <a:ln w="9525">
            <a:solidFill>
              <a:srgbClr val="7B4B94"/>
            </a:solidFill>
            <a:prstDash val="solid"/>
          </a:ln>
        </p:spPr>
      </p:sp>
      <p:sp>
        <p:nvSpPr>
          <p:cNvPr id="40" name="Text 38"/>
          <p:cNvSpPr txBox="1"/>
          <p:nvPr/>
        </p:nvSpPr>
        <p:spPr>
          <a:xfrm>
            <a:off x="6675120" y="4187952"/>
            <a:ext cx="1115568" cy="768096"/>
          </a:xfrm>
          <a:prstGeom prst="rect">
            <a:avLst/>
          </a:prstGeom>
          <a:noFill/>
          <a:ln/>
        </p:spPr>
        <p:txBody>
          <a:bodyPr wrap="square" lIns="0" tIns="0" rIns="0" bIns="0" rtlCol="0" anchor="ctr"/>
          <a:lstStyle/>
          <a:p>
            <a:pPr algn="ctr" indent="0" marL="0">
              <a:buNone/>
            </a:pPr>
            <a:r>
              <a:rPr lang="en-US" sz="1500" b="1" dirty="0">
                <a:solidFill>
                  <a:schemeClr val="bg1"/>
                </a:solidFill>
              </a:rPr>
              <a:t>Dense 2</a:t>
            </a:r>
            <a:endParaRPr lang="en-US" sz="1400" dirty="0"/>
          </a:p>
          <a:p>
            <a:pPr algn="ctr" indent="0" marL="0">
              <a:buNone/>
            </a:pPr>
            <a:r>
              <a:rPr lang="en-US" sz="1200" dirty="0">
                <a:solidFill>
                  <a:schemeClr val="bg1"/>
                </a:solidFill>
              </a:rPr>
              <a:t>softmax</a:t>
            </a:r>
            <a:endParaRPr lang="en-US" sz="1400" dirty="0"/>
          </a:p>
        </p:txBody>
      </p:sp>
      <p:sp>
        <p:nvSpPr>
          <p:cNvPr id="41" name="Shape 39"/>
          <p:cNvSpPr/>
          <p:nvPr/>
        </p:nvSpPr>
        <p:spPr>
          <a:xfrm>
            <a:off x="1874520" y="4572000"/>
            <a:ext cx="155448" cy="0"/>
          </a:xfrm>
          <a:prstGeom prst="line">
            <a:avLst/>
          </a:prstGeom>
          <a:noFill/>
          <a:ln w="19050">
            <a:solidFill>
              <a:srgbClr val="64748B"/>
            </a:solidFill>
            <a:prstDash val="solid"/>
            <a:tailEnd type="triangle"/>
          </a:ln>
        </p:spPr>
      </p:sp>
      <p:sp>
        <p:nvSpPr>
          <p:cNvPr id="42" name="Shape 40"/>
          <p:cNvSpPr/>
          <p:nvPr/>
        </p:nvSpPr>
        <p:spPr>
          <a:xfrm>
            <a:off x="3383280" y="4572000"/>
            <a:ext cx="155448" cy="0"/>
          </a:xfrm>
          <a:prstGeom prst="line">
            <a:avLst/>
          </a:prstGeom>
          <a:noFill/>
          <a:ln w="19050">
            <a:solidFill>
              <a:srgbClr val="64748B"/>
            </a:solidFill>
            <a:prstDash val="solid"/>
            <a:tailEnd type="triangle"/>
          </a:ln>
        </p:spPr>
      </p:sp>
      <p:sp>
        <p:nvSpPr>
          <p:cNvPr id="43" name="Shape 41"/>
          <p:cNvSpPr/>
          <p:nvPr/>
        </p:nvSpPr>
        <p:spPr>
          <a:xfrm>
            <a:off x="4892040" y="4572000"/>
            <a:ext cx="155448" cy="0"/>
          </a:xfrm>
          <a:prstGeom prst="line">
            <a:avLst/>
          </a:prstGeom>
          <a:noFill/>
          <a:ln w="19050">
            <a:solidFill>
              <a:srgbClr val="64748B"/>
            </a:solidFill>
            <a:prstDash val="solid"/>
            <a:tailEnd type="triangle"/>
          </a:ln>
        </p:spPr>
      </p:sp>
      <p:sp>
        <p:nvSpPr>
          <p:cNvPr id="44" name="Shape 42"/>
          <p:cNvSpPr/>
          <p:nvPr/>
        </p:nvSpPr>
        <p:spPr>
          <a:xfrm>
            <a:off x="6400800" y="4572000"/>
            <a:ext cx="155448" cy="0"/>
          </a:xfrm>
          <a:prstGeom prst="line">
            <a:avLst/>
          </a:prstGeom>
          <a:noFill/>
          <a:ln w="19050">
            <a:solidFill>
              <a:srgbClr val="64748B"/>
            </a:solidFill>
            <a:prstDash val="solid"/>
            <a:tailEnd type="triangle"/>
          </a:ln>
        </p:spPr>
      </p:sp>
      <p:sp>
        <p:nvSpPr>
          <p:cNvPr id="45" name="Text 43"/>
          <p:cNvSpPr txBox="1"/>
          <p:nvPr/>
        </p:nvSpPr>
        <p:spPr>
          <a:xfrm>
            <a:off x="548640" y="5166360"/>
            <a:ext cx="7223760" cy="365760"/>
          </a:xfrm>
          <a:prstGeom prst="rect">
            <a:avLst/>
          </a:prstGeom>
          <a:noFill/>
          <a:ln/>
        </p:spPr>
        <p:txBody>
          <a:bodyPr wrap="square" lIns="0" tIns="0" rIns="0" bIns="0" rtlCol="0" anchor="t"/>
          <a:lstStyle/>
          <a:p>
            <a:pPr indent="0" marL="0">
              <a:buNone/>
            </a:pPr>
            <a:r>
              <a:rPr lang="en-US" sz="1200" dirty="0">
                <a:solidFill>
                  <a:schemeClr val="accent6"/>
                </a:solidFill>
              </a:rPr>
              <a:t>Output: P(parasitized), P(uninfected). Loss: categorical cross-entropy with label smoothing 0.1.</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83880" y="1691640"/>
          <a:ext cx="3429000" cy="914400"/>
        </p:xfrm>
        <a:graphic>
          <a:graphicData uri="http://schemas.openxmlformats.org/drawingml/2006/table">
            <a:tbl>
              <a:tblPr/>
              <a:tblGrid>
                <a:gridCol w="2240280"/>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EfficientNet-B0 backbone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4,049,564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Dense head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174,370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b="1" dirty="0">
                          <a:solidFill>
                            <a:srgbClr val="1E293B"/>
                          </a:solidFill>
                          <a:latin typeface="Calibri" pitchFamily="34" charset="0"/>
                          <a:ea typeface="Calibri" pitchFamily="34" charset="-122"/>
                          <a:cs typeface="Calibri" pitchFamily="34" charset="-120"/>
                        </a:rPr>
                        <a:t>4,223,934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Trainable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4,181,918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Non-trainable (BatchNorm)</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42,016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bl>
          </a:graphicData>
        </a:graphic>
      </p:graphicFrame>
      <p:sp>
        <p:nvSpPr>
          <p:cNvPr id="47" name="Shape 44"/>
          <p:cNvSpPr/>
          <p:nvPr/>
        </p:nvSpPr>
        <p:spPr>
          <a:xfrm>
            <a:off x="8183880" y="4343400"/>
            <a:ext cx="3429000" cy="914400"/>
          </a:xfrm>
          <a:prstGeom prst="roundRect">
            <a:avLst>
              <a:gd name="adj" fmla="val 8000"/>
            </a:avLst>
          </a:prstGeom>
          <a:solidFill>
            <a:srgbClr val="E3F0F2"/>
          </a:solidFill>
          <a:ln w="9525">
            <a:solidFill>
              <a:srgbClr val="E3F0F2"/>
            </a:solidFill>
            <a:prstDash val="solid"/>
          </a:ln>
        </p:spPr>
      </p:sp>
      <p:sp>
        <p:nvSpPr>
          <p:cNvPr id="48" name="Shape 45"/>
          <p:cNvSpPr/>
          <p:nvPr/>
        </p:nvSpPr>
        <p:spPr>
          <a:xfrm>
            <a:off x="8385048" y="4572000"/>
            <a:ext cx="457200" cy="457200"/>
          </a:xfrm>
          <a:prstGeom prst="ellipse">
            <a:avLst/>
          </a:prstGeom>
          <a:solidFill>
            <a:schemeClr val="accent5"/>
          </a:solidFill>
          <a:ln w="6350">
            <a:solidFill>
              <a:schemeClr val="accent5"/>
            </a:solidFill>
            <a:prstDash val="solid"/>
          </a:ln>
        </p:spPr>
      </p:sp>
      <p:pic>
        <p:nvPicPr>
          <p:cNvPr id="49" name="Image 0" descr="preencoded.png">    </p:cNvPr>
          <p:cNvPicPr>
            <a:picLocks noChangeAspect="1"/>
          </p:cNvPicPr>
          <p:nvPr/>
        </p:nvPicPr>
        <p:blipFill>
          <a:blip r:embed="rId1"/>
          <a:stretch>
            <a:fillRect/>
          </a:stretch>
        </p:blipFill>
        <p:spPr>
          <a:xfrm>
            <a:off x="8481060" y="4668012"/>
            <a:ext cx="265176" cy="265176"/>
          </a:xfrm>
          <a:prstGeom prst="rect">
            <a:avLst/>
          </a:prstGeom>
        </p:spPr>
      </p:pic>
      <p:sp>
        <p:nvSpPr>
          <p:cNvPr id="50" name="Text 46"/>
          <p:cNvSpPr txBox="1"/>
          <p:nvPr/>
        </p:nvSpPr>
        <p:spPr>
          <a:xfrm>
            <a:off x="9025128" y="4416552"/>
            <a:ext cx="2377440" cy="768096"/>
          </a:xfrm>
          <a:prstGeom prst="rect">
            <a:avLst/>
          </a:prstGeom>
          <a:noFill/>
          <a:ln/>
        </p:spPr>
        <p:txBody>
          <a:bodyPr wrap="square" lIns="0" tIns="0" rIns="0" bIns="0" rtlCol="0" anchor="ctr"/>
          <a:lstStyle/>
          <a:p>
            <a:pPr indent="0" marL="0">
              <a:buNone/>
            </a:pPr>
            <a:r>
              <a:rPr lang="en-US" sz="1300" dirty="0">
                <a:solidFill>
                  <a:schemeClr val="tx1"/>
                </a:solidFill>
              </a:rPr>
              <a:t>Identical to the paper's Table 2, digit for digit, checked by an automated test.</a:t>
            </a:r>
            <a:endParaRPr lang="en-US" sz="1300" dirty="0"/>
          </a:p>
        </p:txBody>
      </p:sp>
      <p:sp>
        <p:nvSpPr>
          <p:cNvPr id="51" name="Shape 47"/>
          <p:cNvSpPr/>
          <p:nvPr/>
        </p:nvSpPr>
        <p:spPr>
          <a:xfrm>
            <a:off x="548640" y="5532120"/>
            <a:ext cx="11064240" cy="731520"/>
          </a:xfrm>
          <a:prstGeom prst="roundRect">
            <a:avLst>
              <a:gd name="adj" fmla="val 10000"/>
            </a:avLst>
          </a:prstGeom>
          <a:solidFill>
            <a:srgbClr val="E3F0F2"/>
          </a:solidFill>
          <a:ln w="9525">
            <a:solidFill>
              <a:srgbClr val="E3F0F2"/>
            </a:solidFill>
            <a:prstDash val="solid"/>
          </a:ln>
        </p:spPr>
      </p:sp>
      <p:sp>
        <p:nvSpPr>
          <p:cNvPr id="52" name="Shape 48"/>
          <p:cNvSpPr/>
          <p:nvPr/>
        </p:nvSpPr>
        <p:spPr>
          <a:xfrm>
            <a:off x="749808" y="5669280"/>
            <a:ext cx="457200" cy="457200"/>
          </a:xfrm>
          <a:prstGeom prst="ellipse">
            <a:avLst/>
          </a:prstGeom>
          <a:solidFill>
            <a:schemeClr val="accent1"/>
          </a:solidFill>
          <a:ln w="6350">
            <a:solidFill>
              <a:schemeClr val="accent1"/>
            </a:solidFill>
            <a:prstDash val="solid"/>
          </a:ln>
        </p:spPr>
      </p:sp>
      <p:pic>
        <p:nvPicPr>
          <p:cNvPr id="53" name="Image 1" descr="preencoded.png">    </p:cNvPr>
          <p:cNvPicPr>
            <a:picLocks noChangeAspect="1"/>
          </p:cNvPicPr>
          <p:nvPr/>
        </p:nvPicPr>
        <p:blipFill>
          <a:blip r:embed="rId2"/>
          <a:stretch>
            <a:fillRect/>
          </a:stretch>
        </p:blipFill>
        <p:spPr>
          <a:xfrm>
            <a:off x="845820" y="5765292"/>
            <a:ext cx="265176" cy="265176"/>
          </a:xfrm>
          <a:prstGeom prst="rect">
            <a:avLst/>
          </a:prstGeom>
        </p:spPr>
      </p:pic>
      <p:sp>
        <p:nvSpPr>
          <p:cNvPr id="54" name="Text 49"/>
          <p:cNvSpPr txBox="1"/>
          <p:nvPr/>
        </p:nvSpPr>
        <p:spPr>
          <a:xfrm>
            <a:off x="1389888" y="5605272"/>
            <a:ext cx="10012680" cy="585216"/>
          </a:xfrm>
          <a:prstGeom prst="rect">
            <a:avLst/>
          </a:prstGeom>
          <a:noFill/>
          <a:ln/>
        </p:spPr>
        <p:txBody>
          <a:bodyPr wrap="square" lIns="0" tIns="0" rIns="0" bIns="0" rtlCol="0" anchor="ctr"/>
          <a:lstStyle/>
          <a:p>
            <a:pPr indent="0" marL="0">
              <a:buNone/>
            </a:pPr>
            <a:r>
              <a:rPr lang="en-US" sz="1300" dirty="0">
                <a:solidFill>
                  <a:schemeClr val="tx1"/>
                </a:solidFill>
              </a:rPr>
              <a:t>Noisy-student weights: EfficientNet-B0 pre-trained on ImageNet plus self-training on unlabelled images (Xie et al., 2020). The paper loads them from the efficientnet package; so do we.</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TRAINING RECIPE</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Trained exactly as the authors did</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669280" cy="914400"/>
        </p:xfrm>
        <a:graphic>
          <a:graphicData uri="http://schemas.openxmlformats.org/drawingml/2006/table">
            <a:tbl>
              <a:tblPr/>
              <a:tblGrid>
                <a:gridCol w="1463040"/>
                <a:gridCol w="42062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Optimiser</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Adam, learning rate 1e-4</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Schedule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halve the LR after 6 epochs without val_loss gain, floor 1e-6</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Length</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33 epochs × 1,240 steps × 16 images, no early stopping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Checkpoint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keep the weights with the lowest val_loss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float32 as in the paper (no mixed precision)</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bl>
          </a:graphicData>
        </a:graphic>
      </p:graphicFrame>
      <p:sp>
        <p:nvSpPr>
          <p:cNvPr id="5" name="Shape 2"/>
          <p:cNvSpPr/>
          <p:nvPr/>
        </p:nvSpPr>
        <p:spPr>
          <a:xfrm>
            <a:off x="6492240" y="1645920"/>
            <a:ext cx="5120640" cy="2743200"/>
          </a:xfrm>
          <a:prstGeom prst="roundRect">
            <a:avLst>
              <a:gd name="adj" fmla="val 2667"/>
            </a:avLst>
          </a:prstGeom>
          <a:solidFill>
            <a:srgbClr val="E3F0F2"/>
          </a:solidFill>
          <a:ln w="9525">
            <a:solidFill>
              <a:srgbClr val="E3F0F2"/>
            </a:solidFill>
            <a:prstDash val="solid"/>
          </a:ln>
        </p:spPr>
      </p:sp>
      <p:sp>
        <p:nvSpPr>
          <p:cNvPr id="6" name="Text 3"/>
          <p:cNvSpPr txBox="1"/>
          <p:nvPr/>
        </p:nvSpPr>
        <p:spPr>
          <a:xfrm>
            <a:off x="6720840" y="1755648"/>
            <a:ext cx="4663440" cy="502920"/>
          </a:xfrm>
          <a:prstGeom prst="rect">
            <a:avLst/>
          </a:prstGeom>
          <a:noFill/>
          <a:ln/>
        </p:spPr>
        <p:txBody>
          <a:bodyPr wrap="square" lIns="0" tIns="0" rIns="0" bIns="0" rtlCol="0" anchor="t"/>
          <a:lstStyle/>
          <a:p>
            <a:pPr indent="0" marL="0">
              <a:buNone/>
            </a:pPr>
            <a:r>
              <a:rPr lang="en-US" sz="1200" b="1" spc="100" kern="0" dirty="0">
                <a:solidFill>
                  <a:schemeClr val="accent1"/>
                </a:solidFill>
              </a:rPr>
              <a:t>AUGMENTATION · a new random version of every image, every epoch</a:t>
            </a:r>
            <a:endParaRPr lang="en-US" sz="1200" dirty="0"/>
          </a:p>
        </p:txBody>
      </p:sp>
      <p:sp>
        <p:nvSpPr>
          <p:cNvPr id="7" name="Text 4"/>
          <p:cNvSpPr txBox="1"/>
          <p:nvPr/>
        </p:nvSpPr>
        <p:spPr>
          <a:xfrm>
            <a:off x="6720840" y="2286000"/>
            <a:ext cx="4663440" cy="20116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Always:</a:t>
            </a:r>
            <a:pPr indent="0" marL="0">
              <a:spcAft>
                <a:spcPts val="400"/>
              </a:spcAft>
              <a:buNone/>
            </a:pPr>
            <a:r>
              <a:rPr lang="en-US" sz="1400" dirty="0">
                <a:solidFill>
                  <a:schemeClr val="tx1"/>
                </a:solidFill>
              </a:rPr>
              <a:t> random 90° rotation, flip, transpose</a:t>
            </a:r>
            <a:endParaRPr lang="en-US" sz="1400" dirty="0"/>
          </a:p>
          <a:p>
            <a:pPr indent="0" marL="0">
              <a:spcAft>
                <a:spcPts val="400"/>
              </a:spcAft>
              <a:buNone/>
            </a:pPr>
            <a:r>
              <a:rPr lang="en-US" sz="1400" b="1" dirty="0">
                <a:solidFill>
                  <a:schemeClr val="tx1"/>
                </a:solidFill>
              </a:rPr>
              <a:t>Sometimes:</a:t>
            </a:r>
            <a:pPr indent="0" marL="0">
              <a:spcAft>
                <a:spcPts val="400"/>
              </a:spcAft>
              <a:buNone/>
            </a:pPr>
            <a:r>
              <a:rPr lang="en-US" sz="1400" dirty="0">
                <a:solidFill>
                  <a:schemeClr val="tx1"/>
                </a:solidFill>
              </a:rPr>
              <a:t> Gaussian noise · motion/median blur · shift-scale-rotate · optical / grid / piecewise-affine distortion · CLAHE, sharpen, emboss, contrast, brightness</a:t>
            </a:r>
            <a:endParaRPr lang="en-US" sz="1400" dirty="0"/>
          </a:p>
        </p:txBody>
      </p:sp>
      <p:pic>
        <p:nvPicPr>
          <p:cNvPr id="8" name="Image 0" descr="/Users/madhav/malaria-detection/slides/figures/augmentation_examples.png">    </p:cNvPr>
          <p:cNvPicPr>
            <a:picLocks noChangeAspect="1"/>
          </p:cNvPicPr>
          <p:nvPr/>
        </p:nvPicPr>
        <p:blipFill>
          <a:blip r:embed="rId1"/>
          <a:stretch>
            <a:fillRect/>
          </a:stretch>
        </p:blipFill>
        <p:spPr>
          <a:xfrm>
            <a:off x="1959276" y="4553712"/>
            <a:ext cx="8273143" cy="1737360"/>
          </a:xfrm>
          <a:prstGeom prst="rect">
            <a:avLst/>
          </a:prstGeom>
        </p:spPr>
      </p:pic>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A faithful reproduction: within 1 pp of the paper on every metric</a:t>
            </a:r>
            <a:endParaRPr lang="en-US" sz="3200" dirty="0"/>
          </a:p>
        </p:txBody>
      </p:sp>
      <p:sp>
        <p:nvSpPr>
          <p:cNvPr id="4" name="Shape 2"/>
          <p:cNvSpPr/>
          <p:nvPr/>
        </p:nvSpPr>
        <p:spPr>
          <a:xfrm>
            <a:off x="548640" y="1783080"/>
            <a:ext cx="2615184" cy="2240280"/>
          </a:xfrm>
          <a:prstGeom prst="roundRect">
            <a:avLst>
              <a:gd name="adj" fmla="val 3265"/>
            </a:avLst>
          </a:prstGeom>
          <a:solidFill>
            <a:schemeClr val="bg2"/>
          </a:solidFill>
          <a:ln w="9525">
            <a:solidFill>
              <a:schemeClr val="bg2"/>
            </a:solidFill>
            <a:prstDash val="solid"/>
          </a:ln>
        </p:spPr>
      </p:sp>
      <p:sp>
        <p:nvSpPr>
          <p:cNvPr id="5" name="Text 3"/>
          <p:cNvSpPr txBox="1"/>
          <p:nvPr/>
        </p:nvSpPr>
        <p:spPr>
          <a:xfrm>
            <a:off x="777240" y="2252218"/>
            <a:ext cx="2157984" cy="698500"/>
          </a:xfrm>
          <a:prstGeom prst="rect">
            <a:avLst/>
          </a:prstGeom>
          <a:noFill/>
          <a:ln/>
        </p:spPr>
        <p:txBody>
          <a:bodyPr wrap="square" lIns="0" tIns="0" rIns="0" bIns="0" rtlCol="0" anchor="ctr"/>
          <a:lstStyle/>
          <a:p>
            <a:pPr indent="0" marL="0">
              <a:buNone/>
            </a:pPr>
            <a:r>
              <a:rPr lang="en-US" sz="4400" b="1" dirty="0">
                <a:solidFill>
                  <a:schemeClr val="accent1"/>
                </a:solidFill>
              </a:rPr>
              <a:t>97.55 %</a:t>
            </a:r>
            <a:endParaRPr lang="en-US" sz="4400" dirty="0"/>
          </a:p>
        </p:txBody>
      </p:sp>
      <p:sp>
        <p:nvSpPr>
          <p:cNvPr id="6" name="Text 4"/>
          <p:cNvSpPr txBox="1"/>
          <p:nvPr/>
        </p:nvSpPr>
        <p:spPr>
          <a:xfrm>
            <a:off x="777240" y="295071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mean fold accuracy</a:t>
            </a:r>
            <a:endParaRPr lang="en-US" sz="1400" dirty="0"/>
          </a:p>
        </p:txBody>
      </p:sp>
      <p:sp>
        <p:nvSpPr>
          <p:cNvPr id="7" name="Text 5"/>
          <p:cNvSpPr txBox="1"/>
          <p:nvPr/>
        </p:nvSpPr>
        <p:spPr>
          <a:xfrm>
            <a:off x="777240" y="326161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97.56 % · Δ −0.01 pp</a:t>
            </a:r>
            <a:endParaRPr lang="en-US" sz="1200" dirty="0"/>
          </a:p>
        </p:txBody>
      </p:sp>
      <p:sp>
        <p:nvSpPr>
          <p:cNvPr id="8" name="Shape 6"/>
          <p:cNvSpPr/>
          <p:nvPr/>
        </p:nvSpPr>
        <p:spPr>
          <a:xfrm>
            <a:off x="3346704" y="1783080"/>
            <a:ext cx="2615184" cy="2240280"/>
          </a:xfrm>
          <a:prstGeom prst="roundRect">
            <a:avLst>
              <a:gd name="adj" fmla="val 3265"/>
            </a:avLst>
          </a:prstGeom>
          <a:solidFill>
            <a:schemeClr val="bg2"/>
          </a:solidFill>
          <a:ln w="9525">
            <a:solidFill>
              <a:schemeClr val="bg2"/>
            </a:solidFill>
            <a:prstDash val="solid"/>
          </a:ln>
        </p:spPr>
      </p:sp>
      <p:sp>
        <p:nvSpPr>
          <p:cNvPr id="9" name="Text 7"/>
          <p:cNvSpPr txBox="1"/>
          <p:nvPr/>
        </p:nvSpPr>
        <p:spPr>
          <a:xfrm>
            <a:off x="3575304" y="2252218"/>
            <a:ext cx="2157984" cy="698500"/>
          </a:xfrm>
          <a:prstGeom prst="rect">
            <a:avLst/>
          </a:prstGeom>
          <a:noFill/>
          <a:ln/>
        </p:spPr>
        <p:txBody>
          <a:bodyPr wrap="square" lIns="0" tIns="0" rIns="0" bIns="0" rtlCol="0" anchor="ctr"/>
          <a:lstStyle/>
          <a:p>
            <a:pPr indent="0" marL="0">
              <a:buNone/>
            </a:pPr>
            <a:r>
              <a:rPr lang="en-US" sz="4400" b="1" dirty="0">
                <a:solidFill>
                  <a:schemeClr val="accent1"/>
                </a:solidFill>
              </a:rPr>
              <a:t>97.37 %</a:t>
            </a:r>
            <a:endParaRPr lang="en-US" sz="4400" dirty="0"/>
          </a:p>
        </p:txBody>
      </p:sp>
      <p:sp>
        <p:nvSpPr>
          <p:cNvPr id="10" name="Text 8"/>
          <p:cNvSpPr txBox="1"/>
          <p:nvPr/>
        </p:nvSpPr>
        <p:spPr>
          <a:xfrm>
            <a:off x="3575304" y="295071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single model, hold-out</a:t>
            </a:r>
            <a:endParaRPr lang="en-US" sz="1400" dirty="0"/>
          </a:p>
        </p:txBody>
      </p:sp>
      <p:sp>
        <p:nvSpPr>
          <p:cNvPr id="11" name="Text 9"/>
          <p:cNvSpPr txBox="1"/>
          <p:nvPr/>
        </p:nvSpPr>
        <p:spPr>
          <a:xfrm>
            <a:off x="3575304" y="326161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97.69 % · Δ −0.32 pp</a:t>
            </a:r>
            <a:endParaRPr lang="en-US" sz="1200" dirty="0"/>
          </a:p>
        </p:txBody>
      </p:sp>
      <p:sp>
        <p:nvSpPr>
          <p:cNvPr id="12" name="Shape 10"/>
          <p:cNvSpPr/>
          <p:nvPr/>
        </p:nvSpPr>
        <p:spPr>
          <a:xfrm>
            <a:off x="6144768" y="1783080"/>
            <a:ext cx="2615184" cy="2240280"/>
          </a:xfrm>
          <a:prstGeom prst="roundRect">
            <a:avLst>
              <a:gd name="adj" fmla="val 3265"/>
            </a:avLst>
          </a:prstGeom>
          <a:solidFill>
            <a:schemeClr val="bg2"/>
          </a:solidFill>
          <a:ln w="9525">
            <a:solidFill>
              <a:schemeClr val="bg2"/>
            </a:solidFill>
            <a:prstDash val="solid"/>
          </a:ln>
        </p:spPr>
      </p:sp>
      <p:sp>
        <p:nvSpPr>
          <p:cNvPr id="13" name="Text 11"/>
          <p:cNvSpPr txBox="1"/>
          <p:nvPr/>
        </p:nvSpPr>
        <p:spPr>
          <a:xfrm>
            <a:off x="6373368" y="2252218"/>
            <a:ext cx="2157984" cy="698500"/>
          </a:xfrm>
          <a:prstGeom prst="rect">
            <a:avLst/>
          </a:prstGeom>
          <a:noFill/>
          <a:ln/>
        </p:spPr>
        <p:txBody>
          <a:bodyPr wrap="square" lIns="0" tIns="0" rIns="0" bIns="0" rtlCol="0" anchor="ctr"/>
          <a:lstStyle/>
          <a:p>
            <a:pPr indent="0" marL="0">
              <a:buNone/>
            </a:pPr>
            <a:r>
              <a:rPr lang="en-US" sz="4400" b="1" dirty="0">
                <a:solidFill>
                  <a:schemeClr val="accent1"/>
                </a:solidFill>
              </a:rPr>
              <a:t>97.62 %</a:t>
            </a:r>
            <a:endParaRPr lang="en-US" sz="4400" dirty="0"/>
          </a:p>
        </p:txBody>
      </p:sp>
      <p:sp>
        <p:nvSpPr>
          <p:cNvPr id="14" name="Text 12"/>
          <p:cNvSpPr txBox="1"/>
          <p:nvPr/>
        </p:nvSpPr>
        <p:spPr>
          <a:xfrm>
            <a:off x="6373368" y="295071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10-model ensemble</a:t>
            </a:r>
            <a:endParaRPr lang="en-US" sz="1400" dirty="0"/>
          </a:p>
        </p:txBody>
      </p:sp>
      <p:sp>
        <p:nvSpPr>
          <p:cNvPr id="15" name="Text 13"/>
          <p:cNvSpPr txBox="1"/>
          <p:nvPr/>
        </p:nvSpPr>
        <p:spPr>
          <a:xfrm>
            <a:off x="6373368" y="326161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98.29 % · Δ −0.67 pp</a:t>
            </a:r>
            <a:endParaRPr lang="en-US" sz="1200" dirty="0"/>
          </a:p>
        </p:txBody>
      </p:sp>
      <p:sp>
        <p:nvSpPr>
          <p:cNvPr id="16" name="Shape 14"/>
          <p:cNvSpPr/>
          <p:nvPr/>
        </p:nvSpPr>
        <p:spPr>
          <a:xfrm>
            <a:off x="8942832" y="1783080"/>
            <a:ext cx="2615184" cy="2240280"/>
          </a:xfrm>
          <a:prstGeom prst="roundRect">
            <a:avLst>
              <a:gd name="adj" fmla="val 3265"/>
            </a:avLst>
          </a:prstGeom>
          <a:solidFill>
            <a:schemeClr val="bg2"/>
          </a:solidFill>
          <a:ln w="9525">
            <a:solidFill>
              <a:schemeClr val="bg2"/>
            </a:solidFill>
            <a:prstDash val="solid"/>
          </a:ln>
        </p:spPr>
      </p:sp>
      <p:sp>
        <p:nvSpPr>
          <p:cNvPr id="17" name="Text 15"/>
          <p:cNvSpPr txBox="1"/>
          <p:nvPr/>
        </p:nvSpPr>
        <p:spPr>
          <a:xfrm>
            <a:off x="9171432" y="2252218"/>
            <a:ext cx="2157984" cy="698500"/>
          </a:xfrm>
          <a:prstGeom prst="rect">
            <a:avLst/>
          </a:prstGeom>
          <a:noFill/>
          <a:ln/>
        </p:spPr>
        <p:txBody>
          <a:bodyPr wrap="square" lIns="0" tIns="0" rIns="0" bIns="0" rtlCol="0" anchor="ctr"/>
          <a:lstStyle/>
          <a:p>
            <a:pPr indent="0" marL="0">
              <a:buNone/>
            </a:pPr>
            <a:r>
              <a:rPr lang="en-US" sz="4400" b="1" dirty="0">
                <a:solidFill>
                  <a:schemeClr val="accent1"/>
                </a:solidFill>
              </a:rPr>
              <a:t>99.73 %</a:t>
            </a:r>
            <a:endParaRPr lang="en-US" sz="4400" dirty="0"/>
          </a:p>
        </p:txBody>
      </p:sp>
      <p:sp>
        <p:nvSpPr>
          <p:cNvPr id="18" name="Text 16"/>
          <p:cNvSpPr txBox="1"/>
          <p:nvPr/>
        </p:nvSpPr>
        <p:spPr>
          <a:xfrm>
            <a:off x="9171432" y="295071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ensemble ROC-AUC</a:t>
            </a:r>
            <a:endParaRPr lang="en-US" sz="1400" dirty="0"/>
          </a:p>
        </p:txBody>
      </p:sp>
      <p:sp>
        <p:nvSpPr>
          <p:cNvPr id="19" name="Text 17"/>
          <p:cNvSpPr txBox="1"/>
          <p:nvPr/>
        </p:nvSpPr>
        <p:spPr>
          <a:xfrm>
            <a:off x="9171432" y="326161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99.76 % · Δ −0.03 pp</a:t>
            </a:r>
            <a:endParaRPr lang="en-US" sz="1200" dirty="0"/>
          </a:p>
        </p:txBody>
      </p:sp>
      <p:sp>
        <p:nvSpPr>
          <p:cNvPr id="20" name="Shape 18"/>
          <p:cNvSpPr/>
          <p:nvPr/>
        </p:nvSpPr>
        <p:spPr>
          <a:xfrm>
            <a:off x="548640" y="4297680"/>
            <a:ext cx="11064240" cy="960120"/>
          </a:xfrm>
          <a:prstGeom prst="roundRect">
            <a:avLst>
              <a:gd name="adj" fmla="val 7619"/>
            </a:avLst>
          </a:prstGeom>
          <a:solidFill>
            <a:srgbClr val="E3F0F2"/>
          </a:solidFill>
          <a:ln w="9525">
            <a:solidFill>
              <a:srgbClr val="E3F0F2"/>
            </a:solidFill>
            <a:prstDash val="solid"/>
          </a:ln>
        </p:spPr>
      </p:sp>
      <p:sp>
        <p:nvSpPr>
          <p:cNvPr id="21" name="Shape 19"/>
          <p:cNvSpPr/>
          <p:nvPr/>
        </p:nvSpPr>
        <p:spPr>
          <a:xfrm>
            <a:off x="749808" y="4549140"/>
            <a:ext cx="457200" cy="457200"/>
          </a:xfrm>
          <a:prstGeom prst="ellipse">
            <a:avLst/>
          </a:prstGeom>
          <a:solidFill>
            <a:schemeClr val="accent5"/>
          </a:solidFill>
          <a:ln w="6350">
            <a:solidFill>
              <a:schemeClr val="accent5"/>
            </a:solidFill>
            <a:prstDash val="solid"/>
          </a:ln>
        </p:spPr>
      </p:sp>
      <p:pic>
        <p:nvPicPr>
          <p:cNvPr id="22" name="Image 0" descr="preencoded.png">    </p:cNvPr>
          <p:cNvPicPr>
            <a:picLocks noChangeAspect="1"/>
          </p:cNvPicPr>
          <p:nvPr/>
        </p:nvPicPr>
        <p:blipFill>
          <a:blip r:embed="rId1"/>
          <a:stretch>
            <a:fillRect/>
          </a:stretch>
        </p:blipFill>
        <p:spPr>
          <a:xfrm>
            <a:off x="845820" y="4645152"/>
            <a:ext cx="265176" cy="265176"/>
          </a:xfrm>
          <a:prstGeom prst="rect">
            <a:avLst/>
          </a:prstGeom>
        </p:spPr>
      </p:pic>
      <p:sp>
        <p:nvSpPr>
          <p:cNvPr id="23" name="Text 20"/>
          <p:cNvSpPr txBox="1"/>
          <p:nvPr/>
        </p:nvSpPr>
        <p:spPr>
          <a:xfrm>
            <a:off x="1389888" y="4370832"/>
            <a:ext cx="10012680" cy="813816"/>
          </a:xfrm>
          <a:prstGeom prst="rect">
            <a:avLst/>
          </a:prstGeom>
          <a:noFill/>
          <a:ln/>
        </p:spPr>
        <p:txBody>
          <a:bodyPr wrap="square" lIns="0" tIns="0" rIns="0" bIns="0" rtlCol="0" anchor="ctr"/>
          <a:lstStyle/>
          <a:p>
            <a:pPr indent="0" marL="0">
              <a:buNone/>
            </a:pPr>
            <a:r>
              <a:rPr lang="en-US" sz="1400" dirty="0">
                <a:solidFill>
                  <a:schemeClr val="tx1"/>
                </a:solidFill>
              </a:rPr>
              <a:t>src/check_results.py on results/A0_10fold_paper: "within 1 pp of the paper". Mean fold accuracy matches to 0.01 pp; the ensemble gains a little less from averaging than the paper's did (+0.25 vs +0.60 pp).</a:t>
            </a:r>
            <a:endParaRPr lang="en-US" sz="1400" dirty="0"/>
          </a:p>
        </p:txBody>
      </p:sp>
      <p:sp>
        <p:nvSpPr>
          <p:cNvPr id="24" name="Text 21"/>
          <p:cNvSpPr txBox="1"/>
          <p:nvPr/>
        </p:nvSpPr>
        <p:spPr>
          <a:xfrm>
            <a:off x="548640" y="5440680"/>
            <a:ext cx="11064240" cy="777240"/>
          </a:xfrm>
          <a:prstGeom prst="rect">
            <a:avLst/>
          </a:prstGeom>
          <a:noFill/>
          <a:ln/>
        </p:spPr>
        <p:txBody>
          <a:bodyPr wrap="square" lIns="0" tIns="0" rIns="0" bIns="0" rtlCol="0" anchor="t"/>
          <a:lstStyle/>
          <a:p>
            <a:pPr indent="0" marL="0">
              <a:buNone/>
            </a:pPr>
            <a:r>
              <a:rPr lang="en-US" sz="1400" b="1" dirty="0">
                <a:solidFill>
                  <a:schemeClr val="tx1"/>
                </a:solidFill>
              </a:rPr>
              <a:t>Paper protocol</a:t>
            </a:r>
            <a:pPr indent="0" marL="0">
              <a:buNone/>
            </a:pPr>
            <a:r>
              <a:rPr lang="en-US" sz="1400" dirty="0">
                <a:solidFill>
                  <a:schemeClr val="tx1"/>
                </a:solidFill>
              </a:rPr>
              <a:t> = predictions on augmented images, exactly as the paper's code made them. </a:t>
            </a:r>
            <a:pPr indent="0" marL="0">
              <a:buNone/>
            </a:pPr>
            <a:r>
              <a:rPr lang="en-US" sz="1400" b="1" dirty="0">
                <a:solidFill>
                  <a:schemeClr val="tx1"/>
                </a:solidFill>
              </a:rPr>
              <a:t>Clean</a:t>
            </a:r>
            <a:pPr indent="0" marL="0">
              <a:buNone/>
            </a:pPr>
            <a:r>
              <a:rPr lang="en-US" sz="1400" dirty="0">
                <a:solidFill>
                  <a:schemeClr val="tx1"/>
                </a:solidFill>
              </a:rPr>
              <a:t> = the same models on original images: ensemble 97.64 %, mean fold 97.78 %, so the augmented evaluation is not what drives the paper's numbers.</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METRIC BY METRIC</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Paper vs. ours on the 5,512-image hold-out set</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680960" cy="914400"/>
        </p:xfrm>
        <a:graphic>
          <a:graphicData uri="http://schemas.openxmlformats.org/drawingml/2006/table">
            <a:tbl>
              <a:tblPr/>
              <a:tblGrid>
                <a:gridCol w="3108960"/>
                <a:gridCol w="914400"/>
                <a:gridCol w="1508760"/>
                <a:gridCol w="1371600"/>
                <a:gridCol w="7772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 (%)</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Ours · paper protocol</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Ours · clean images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Δ (pp)</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Mean CV-fold accuracy (Table 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97.56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97.55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97.78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Mean single-model hold-out accuracy (Table 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97.69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97.37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97.48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-0.32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Mean single-model hold-out ROC-AUC (Table 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99.65</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99.52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99.52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-0.13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accuracy</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98.29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97.62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97.64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recall, parasitized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97.74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97.07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97.18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precision, parasitized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98.82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98.11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98.04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-0.71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F1, parasitized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98.28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97.59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97.61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-0.69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specificity (uninfected recall)</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98.84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98.17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98.09</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Ensemble ROC-AUC</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99.76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137C8E"/>
                          </a:solidFill>
                          <a:latin typeface="Calibri" pitchFamily="34" charset="0"/>
                          <a:ea typeface="Calibri" pitchFamily="34" charset="-122"/>
                          <a:cs typeface="Calibri" pitchFamily="34" charset="-120"/>
                        </a:rPr>
                        <a:t>99.73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99.68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ctr" indent="0" marL="0">
                        <a:buNone/>
                      </a:pPr>
                      <a:r>
                        <a:rPr lang="en-US" sz="1300" b="1" dirty="0">
                          <a:solidFill>
                            <a:srgbClr val="2E8B6E"/>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bl>
          </a:graphicData>
        </a:graphic>
      </p:graphicFrame>
      <p:sp>
        <p:nvSpPr>
          <p:cNvPr id="5" name="Shape 2"/>
          <p:cNvSpPr/>
          <p:nvPr/>
        </p:nvSpPr>
        <p:spPr>
          <a:xfrm>
            <a:off x="8458200" y="1645920"/>
            <a:ext cx="3154680" cy="4114800"/>
          </a:xfrm>
          <a:prstGeom prst="roundRect">
            <a:avLst>
              <a:gd name="adj" fmla="val 2319"/>
            </a:avLst>
          </a:prstGeom>
          <a:solidFill>
            <a:srgbClr val="E3F0F2"/>
          </a:solidFill>
          <a:ln w="9525">
            <a:solidFill>
              <a:srgbClr val="E3F0F2"/>
            </a:solidFill>
            <a:prstDash val="solid"/>
          </a:ln>
        </p:spPr>
      </p:sp>
      <p:sp>
        <p:nvSpPr>
          <p:cNvPr id="6" name="Text 3"/>
          <p:cNvSpPr txBox="1"/>
          <p:nvPr/>
        </p:nvSpPr>
        <p:spPr>
          <a:xfrm>
            <a:off x="8686800" y="1783080"/>
            <a:ext cx="2743200" cy="3886200"/>
          </a:xfrm>
          <a:prstGeom prst="rect">
            <a:avLst/>
          </a:prstGeom>
          <a:noFill/>
          <a:ln/>
        </p:spPr>
        <p:txBody>
          <a:bodyPr wrap="square" lIns="0" tIns="0" rIns="0" bIns="0" rtlCol="0" anchor="t"/>
          <a:lstStyle/>
          <a:p>
            <a:pPr indent="0" marL="0">
              <a:buNone/>
            </a:pPr>
            <a:r>
              <a:rPr lang="en-US" sz="1600" b="1" dirty="0">
                <a:solidFill>
                  <a:schemeClr val="accent1"/>
                </a:solidFill>
              </a:rPr>
              <a:t>How to read it</a:t>
            </a:r>
            <a:endParaRPr lang="en-US" sz="1300" dirty="0"/>
          </a:p>
          <a:p>
            <a:pPr indent="0" marL="0">
              <a:buNone/>
            </a:pPr>
            <a:r>
              <a:rPr lang="en-US" sz="1300" dirty="0">
                <a:solidFill>
                  <a:schemeClr val="tx1"/>
                </a:solidFill>
              </a:rPr>
              <a:t>Green Δ = within our 1 pp success criterion: all nine metrics.</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The ensemble gap (−0.67 pp) is about 3 standard errors of a 5,512-image test set, so not all of it is noise: the paper's unseeded split and TensorFlow 2.3 vs 2.15 remain different.</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Clean vs. augmented evaluation changes little.</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TEN FOLDS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Ten folds, one consistent model</a:t>
            </a:r>
            <a:endParaRPr lang="en-US" sz="3200" dirty="0"/>
          </a:p>
        </p:txBody>
      </p:sp>
      <p:graphicFrame>
        <p:nvGraphicFramePr>
          <p:cNvPr id="4" name="Chart 0" descr=""/>
          <p:cNvGraphicFramePr/>
          <p:nvPr/>
        </p:nvGraphicFramePr>
        <p:xfrm>
          <a:off x="548640" y="1600200"/>
          <a:ext cx="78638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86800" y="1645920"/>
            <a:ext cx="2926080" cy="1325880"/>
          </a:xfrm>
          <a:prstGeom prst="roundRect">
            <a:avLst>
              <a:gd name="adj" fmla="val 5517"/>
            </a:avLst>
          </a:prstGeom>
          <a:solidFill>
            <a:schemeClr val="bg2"/>
          </a:solidFill>
          <a:ln w="9525">
            <a:solidFill>
              <a:schemeClr val="bg2"/>
            </a:solidFill>
            <a:prstDash val="solid"/>
          </a:ln>
        </p:spPr>
      </p:sp>
      <p:sp>
        <p:nvSpPr>
          <p:cNvPr id="6" name="Text 3"/>
          <p:cNvSpPr txBox="1"/>
          <p:nvPr/>
        </p:nvSpPr>
        <p:spPr>
          <a:xfrm>
            <a:off x="8915400" y="1784858"/>
            <a:ext cx="2468880" cy="444500"/>
          </a:xfrm>
          <a:prstGeom prst="rect">
            <a:avLst/>
          </a:prstGeom>
          <a:noFill/>
          <a:ln/>
        </p:spPr>
        <p:txBody>
          <a:bodyPr wrap="square" lIns="0" tIns="0" rIns="0" bIns="0" rtlCol="0" anchor="ctr"/>
          <a:lstStyle/>
          <a:p>
            <a:pPr indent="0" marL="0">
              <a:buNone/>
            </a:pPr>
            <a:r>
              <a:rPr lang="en-US" sz="2800" b="1" dirty="0">
                <a:solidFill>
                  <a:schemeClr val="accent1"/>
                </a:solidFill>
              </a:rPr>
              <a:t>± 0.30 pp</a:t>
            </a:r>
            <a:endParaRPr lang="en-US" sz="2800" dirty="0"/>
          </a:p>
        </p:txBody>
      </p:sp>
      <p:sp>
        <p:nvSpPr>
          <p:cNvPr id="7" name="Text 4"/>
          <p:cNvSpPr txBox="1"/>
          <p:nvPr/>
        </p:nvSpPr>
        <p:spPr>
          <a:xfrm>
            <a:off x="8915400" y="2229358"/>
            <a:ext cx="2468880" cy="310896"/>
          </a:xfrm>
          <a:prstGeom prst="rect">
            <a:avLst/>
          </a:prstGeom>
          <a:noFill/>
          <a:ln/>
        </p:spPr>
        <p:txBody>
          <a:bodyPr wrap="square" lIns="0" tIns="0" rIns="0" bIns="0" rtlCol="0" anchor="ctr"/>
          <a:lstStyle/>
          <a:p>
            <a:pPr indent="0" marL="0">
              <a:buNone/>
            </a:pPr>
            <a:r>
              <a:rPr lang="en-US" sz="1400" b="1" dirty="0">
                <a:solidFill>
                  <a:schemeClr val="tx1"/>
                </a:solidFill>
              </a:rPr>
              <a:t>spread across folds (SD)</a:t>
            </a:r>
            <a:endParaRPr lang="en-US" sz="1400" dirty="0"/>
          </a:p>
        </p:txBody>
      </p:sp>
      <p:sp>
        <p:nvSpPr>
          <p:cNvPr id="8" name="Text 5"/>
          <p:cNvSpPr txBox="1"/>
          <p:nvPr/>
        </p:nvSpPr>
        <p:spPr>
          <a:xfrm>
            <a:off x="8915400" y="2540254"/>
            <a:ext cx="2468880" cy="274320"/>
          </a:xfrm>
          <a:prstGeom prst="rect">
            <a:avLst/>
          </a:prstGeom>
          <a:noFill/>
          <a:ln/>
        </p:spPr>
        <p:txBody>
          <a:bodyPr wrap="square" lIns="0" tIns="0" rIns="0" bIns="0" rtlCol="0" anchor="ctr"/>
          <a:lstStyle/>
          <a:p>
            <a:pPr indent="0" marL="0">
              <a:buNone/>
            </a:pPr>
            <a:r>
              <a:rPr lang="en-US" sz="1200" dirty="0">
                <a:solidFill>
                  <a:schemeClr val="accent6"/>
                </a:solidFill>
              </a:rPr>
              <a:t>first 3-fold run: ± 0.74 pp</a:t>
            </a:r>
            <a:endParaRPr lang="en-US" sz="1200" dirty="0"/>
          </a:p>
        </p:txBody>
      </p:sp>
      <p:sp>
        <p:nvSpPr>
          <p:cNvPr id="9" name="Shape 6"/>
          <p:cNvSpPr/>
          <p:nvPr/>
        </p:nvSpPr>
        <p:spPr>
          <a:xfrm>
            <a:off x="8686800" y="3108960"/>
            <a:ext cx="2926080" cy="1325880"/>
          </a:xfrm>
          <a:prstGeom prst="roundRect">
            <a:avLst>
              <a:gd name="adj" fmla="val 5517"/>
            </a:avLst>
          </a:prstGeom>
          <a:solidFill>
            <a:schemeClr val="bg2"/>
          </a:solidFill>
          <a:ln w="9525">
            <a:solidFill>
              <a:schemeClr val="bg2"/>
            </a:solidFill>
            <a:prstDash val="solid"/>
          </a:ln>
        </p:spPr>
      </p:sp>
      <p:sp>
        <p:nvSpPr>
          <p:cNvPr id="10" name="Text 7"/>
          <p:cNvSpPr txBox="1"/>
          <p:nvPr/>
        </p:nvSpPr>
        <p:spPr>
          <a:xfrm>
            <a:off x="8915400" y="3247898"/>
            <a:ext cx="2468880" cy="444500"/>
          </a:xfrm>
          <a:prstGeom prst="rect">
            <a:avLst/>
          </a:prstGeom>
          <a:noFill/>
          <a:ln/>
        </p:spPr>
        <p:txBody>
          <a:bodyPr wrap="square" lIns="0" tIns="0" rIns="0" bIns="0" rtlCol="0" anchor="ctr"/>
          <a:lstStyle/>
          <a:p>
            <a:pPr indent="0" marL="0">
              <a:buNone/>
            </a:pPr>
            <a:r>
              <a:rPr lang="en-US" sz="2800" b="1" dirty="0">
                <a:solidFill>
                  <a:schemeClr val="accent1"/>
                </a:solidFill>
              </a:rPr>
              <a:t>16 – 33</a:t>
            </a:r>
            <a:endParaRPr lang="en-US" sz="2800" dirty="0"/>
          </a:p>
        </p:txBody>
      </p:sp>
      <p:sp>
        <p:nvSpPr>
          <p:cNvPr id="11" name="Text 8"/>
          <p:cNvSpPr txBox="1"/>
          <p:nvPr/>
        </p:nvSpPr>
        <p:spPr>
          <a:xfrm>
            <a:off x="8915400" y="3692398"/>
            <a:ext cx="2468880" cy="310896"/>
          </a:xfrm>
          <a:prstGeom prst="rect">
            <a:avLst/>
          </a:prstGeom>
          <a:noFill/>
          <a:ln/>
        </p:spPr>
        <p:txBody>
          <a:bodyPr wrap="square" lIns="0" tIns="0" rIns="0" bIns="0" rtlCol="0" anchor="ctr"/>
          <a:lstStyle/>
          <a:p>
            <a:pPr indent="0" marL="0">
              <a:buNone/>
            </a:pPr>
            <a:r>
              <a:rPr lang="en-US" sz="1400" b="1" dirty="0">
                <a:solidFill>
                  <a:schemeClr val="tx1"/>
                </a:solidFill>
              </a:rPr>
              <a:t>best epoch per fold</a:t>
            </a:r>
            <a:endParaRPr lang="en-US" sz="1400" dirty="0"/>
          </a:p>
        </p:txBody>
      </p:sp>
      <p:sp>
        <p:nvSpPr>
          <p:cNvPr id="12" name="Text 9"/>
          <p:cNvSpPr txBox="1"/>
          <p:nvPr/>
        </p:nvSpPr>
        <p:spPr>
          <a:xfrm>
            <a:off x="8915400" y="4003294"/>
            <a:ext cx="2468880" cy="274320"/>
          </a:xfrm>
          <a:prstGeom prst="rect">
            <a:avLst/>
          </a:prstGeom>
          <a:noFill/>
          <a:ln/>
        </p:spPr>
        <p:txBody>
          <a:bodyPr wrap="square" lIns="0" tIns="0" rIns="0" bIns="0" rtlCol="0" anchor="ctr"/>
          <a:lstStyle/>
          <a:p>
            <a:pPr indent="0" marL="0">
              <a:buNone/>
            </a:pPr>
            <a:r>
              <a:rPr lang="en-US" sz="1200" dirty="0">
                <a:solidFill>
                  <a:schemeClr val="accent6"/>
                </a:solidFill>
              </a:rPr>
              <a:t>checkpoint = lowest val_loss</a:t>
            </a:r>
            <a:endParaRPr lang="en-US" sz="1200" dirty="0"/>
          </a:p>
        </p:txBody>
      </p:sp>
      <p:sp>
        <p:nvSpPr>
          <p:cNvPr id="13" name="Shape 10"/>
          <p:cNvSpPr/>
          <p:nvPr/>
        </p:nvSpPr>
        <p:spPr>
          <a:xfrm>
            <a:off x="8686800" y="4572000"/>
            <a:ext cx="2926080" cy="1325880"/>
          </a:xfrm>
          <a:prstGeom prst="roundRect">
            <a:avLst>
              <a:gd name="adj" fmla="val 5517"/>
            </a:avLst>
          </a:prstGeom>
          <a:solidFill>
            <a:schemeClr val="bg2"/>
          </a:solidFill>
          <a:ln w="9525">
            <a:solidFill>
              <a:schemeClr val="bg2"/>
            </a:solidFill>
            <a:prstDash val="solid"/>
          </a:ln>
        </p:spPr>
      </p:sp>
      <p:sp>
        <p:nvSpPr>
          <p:cNvPr id="14" name="Text 11"/>
          <p:cNvSpPr txBox="1"/>
          <p:nvPr/>
        </p:nvSpPr>
        <p:spPr>
          <a:xfrm>
            <a:off x="8915400" y="4710938"/>
            <a:ext cx="2468880" cy="444500"/>
          </a:xfrm>
          <a:prstGeom prst="rect">
            <a:avLst/>
          </a:prstGeom>
          <a:noFill/>
          <a:ln/>
        </p:spPr>
        <p:txBody>
          <a:bodyPr wrap="square" lIns="0" tIns="0" rIns="0" bIns="0" rtlCol="0" anchor="ctr"/>
          <a:lstStyle/>
          <a:p>
            <a:pPr indent="0" marL="0">
              <a:buNone/>
            </a:pPr>
            <a:r>
              <a:rPr lang="en-US" sz="2800" b="1" dirty="0">
                <a:solidFill>
                  <a:schemeClr val="accent1"/>
                </a:solidFill>
              </a:rPr>
              <a:t>33 × 1,240</a:t>
            </a:r>
            <a:endParaRPr lang="en-US" sz="2800" dirty="0"/>
          </a:p>
        </p:txBody>
      </p:sp>
      <p:sp>
        <p:nvSpPr>
          <p:cNvPr id="15" name="Text 12"/>
          <p:cNvSpPr txBox="1"/>
          <p:nvPr/>
        </p:nvSpPr>
        <p:spPr>
          <a:xfrm>
            <a:off x="8915400" y="5155438"/>
            <a:ext cx="2468880" cy="310896"/>
          </a:xfrm>
          <a:prstGeom prst="rect">
            <a:avLst/>
          </a:prstGeom>
          <a:noFill/>
          <a:ln/>
        </p:spPr>
        <p:txBody>
          <a:bodyPr wrap="square" lIns="0" tIns="0" rIns="0" bIns="0" rtlCol="0" anchor="ctr"/>
          <a:lstStyle/>
          <a:p>
            <a:pPr indent="0" marL="0">
              <a:buNone/>
            </a:pPr>
            <a:r>
              <a:rPr lang="en-US" sz="1400" b="1" dirty="0">
                <a:solidFill>
                  <a:schemeClr val="tx1"/>
                </a:solidFill>
              </a:rPr>
              <a:t>epochs × steps, every fold</a:t>
            </a:r>
            <a:endParaRPr lang="en-US" sz="1400" dirty="0"/>
          </a:p>
        </p:txBody>
      </p:sp>
      <p:sp>
        <p:nvSpPr>
          <p:cNvPr id="16" name="Text 13"/>
          <p:cNvSpPr txBox="1"/>
          <p:nvPr/>
        </p:nvSpPr>
        <p:spPr>
          <a:xfrm>
            <a:off x="8915400" y="5466334"/>
            <a:ext cx="2468880" cy="274320"/>
          </a:xfrm>
          <a:prstGeom prst="rect">
            <a:avLst/>
          </a:prstGeom>
          <a:noFill/>
          <a:ln/>
        </p:spPr>
        <p:txBody>
          <a:bodyPr wrap="square" lIns="0" tIns="0" rIns="0" bIns="0" rtlCol="0" anchor="ctr"/>
          <a:lstStyle/>
          <a:p>
            <a:pPr indent="0" marL="0">
              <a:buNone/>
            </a:pPr>
            <a:r>
              <a:rPr lang="en-US" sz="1200" dirty="0">
                <a:solidFill>
                  <a:schemeClr val="accent6"/>
                </a:solidFill>
              </a:rPr>
              <a:t>batch 16, as in the paper</a:t>
            </a:r>
            <a:endParaRPr lang="en-US" sz="12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TRAINING</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Training behaved like the paper's</a:t>
            </a:r>
            <a:endParaRPr lang="en-US" sz="3200" dirty="0"/>
          </a:p>
        </p:txBody>
      </p:sp>
      <p:pic>
        <p:nvPicPr>
          <p:cNvPr id="4" name="Image 0" descr="/Users/madhav/malaria-detection/slides/figures/training_curves.png">    </p:cNvPr>
          <p:cNvPicPr>
            <a:picLocks noChangeAspect="1"/>
          </p:cNvPicPr>
          <p:nvPr/>
        </p:nvPicPr>
        <p:blipFill>
          <a:blip r:embed="rId1"/>
          <a:stretch>
            <a:fillRect/>
          </a:stretch>
        </p:blipFill>
        <p:spPr>
          <a:xfrm>
            <a:off x="548640" y="1554480"/>
            <a:ext cx="11064240" cy="3793454"/>
          </a:xfrm>
          <a:prstGeom prst="rect">
            <a:avLst/>
          </a:prstGeom>
        </p:spPr>
      </p:pic>
      <p:sp>
        <p:nvSpPr>
          <p:cNvPr id="5" name="Shape 2"/>
          <p:cNvSpPr/>
          <p:nvPr/>
        </p:nvSpPr>
        <p:spPr>
          <a:xfrm>
            <a:off x="548640" y="5486400"/>
            <a:ext cx="11064240" cy="777240"/>
          </a:xfrm>
          <a:prstGeom prst="roundRect">
            <a:avLst>
              <a:gd name="adj" fmla="val 9412"/>
            </a:avLst>
          </a:prstGeom>
          <a:solidFill>
            <a:srgbClr val="E3F0F2"/>
          </a:solidFill>
          <a:ln w="9525">
            <a:solidFill>
              <a:srgbClr val="E3F0F2"/>
            </a:solidFill>
            <a:prstDash val="solid"/>
          </a:ln>
        </p:spPr>
      </p:sp>
      <p:sp>
        <p:nvSpPr>
          <p:cNvPr id="6" name="Text 3"/>
          <p:cNvSpPr txBox="1"/>
          <p:nvPr/>
        </p:nvSpPr>
        <p:spPr>
          <a:xfrm>
            <a:off x="822960" y="5559552"/>
            <a:ext cx="10515600" cy="630936"/>
          </a:xfrm>
          <a:prstGeom prst="rect">
            <a:avLst/>
          </a:prstGeom>
          <a:noFill/>
          <a:ln/>
        </p:spPr>
        <p:txBody>
          <a:bodyPr wrap="square" lIns="0" tIns="0" rIns="0" bIns="0" rtlCol="0" anchor="ctr"/>
          <a:lstStyle/>
          <a:p>
            <a:pPr indent="0" marL="0">
              <a:buNone/>
            </a:pPr>
            <a:r>
              <a:rPr lang="en-US" sz="1300" dirty="0">
                <a:solidFill>
                  <a:schemeClr val="tx1"/>
                </a:solidFill>
              </a:rPr>
              <a:t>Validation = each fold's own CV test part (2,204–2,205 augmented cells). The learning rate halves when val_loss stalls for 6 epochs, and the weights with the lowest val_loss are kept, exactly as in the paper.</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THE ENSEMBLE</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Where the 10-model ensemble still errs</a:t>
            </a:r>
            <a:endParaRPr lang="en-US" sz="3200" dirty="0"/>
          </a:p>
        </p:txBody>
      </p:sp>
      <p:sp>
        <p:nvSpPr>
          <p:cNvPr id="4" name="Text 2"/>
          <p:cNvSpPr txBox="1"/>
          <p:nvPr/>
        </p:nvSpPr>
        <p:spPr>
          <a:xfrm>
            <a:off x="548640" y="1645920"/>
            <a:ext cx="3291840" cy="320040"/>
          </a:xfrm>
          <a:prstGeom prst="rect">
            <a:avLst/>
          </a:prstGeom>
          <a:noFill/>
          <a:ln/>
        </p:spPr>
        <p:txBody>
          <a:bodyPr wrap="square" lIns="0" tIns="0" rIns="0" bIns="0" rtlCol="0" anchor="t"/>
          <a:lstStyle/>
          <a:p>
            <a:pPr indent="0" marL="0">
              <a:buNone/>
            </a:pPr>
            <a:r>
              <a:rPr lang="en-US" sz="1400" b="1" dirty="0">
                <a:solidFill>
                  <a:schemeClr val="tx1"/>
                </a:solidFill>
              </a:rPr>
              <a:t>Ours (paper protocol)</a:t>
            </a:r>
            <a:endParaRPr lang="en-US" sz="1400" dirty="0"/>
          </a:p>
        </p:txBody>
      </p:sp>
      <p:sp>
        <p:nvSpPr>
          <p:cNvPr id="5" name="Text 3"/>
          <p:cNvSpPr txBox="1"/>
          <p:nvPr/>
        </p:nvSpPr>
        <p:spPr>
          <a:xfrm>
            <a:off x="1737360" y="2029968"/>
            <a:ext cx="1051560" cy="274320"/>
          </a:xfrm>
          <a:prstGeom prst="rect">
            <a:avLst/>
          </a:prstGeom>
          <a:noFill/>
          <a:ln/>
        </p:spPr>
        <p:txBody>
          <a:bodyPr wrap="square" lIns="0" tIns="0" rIns="0" bIns="0" rtlCol="0" anchor="t"/>
          <a:lstStyle/>
          <a:p>
            <a:pPr algn="ctr" indent="0" marL="0">
              <a:buNone/>
            </a:pPr>
            <a:r>
              <a:rPr lang="en-US" sz="1100" dirty="0">
                <a:solidFill>
                  <a:schemeClr val="accent6"/>
                </a:solidFill>
              </a:rPr>
              <a:t>Pred. parasitized</a:t>
            </a:r>
            <a:endParaRPr lang="en-US" sz="1100" dirty="0"/>
          </a:p>
        </p:txBody>
      </p:sp>
      <p:sp>
        <p:nvSpPr>
          <p:cNvPr id="6" name="Text 4"/>
          <p:cNvSpPr txBox="1"/>
          <p:nvPr/>
        </p:nvSpPr>
        <p:spPr>
          <a:xfrm>
            <a:off x="2788920" y="2029968"/>
            <a:ext cx="1051560" cy="274320"/>
          </a:xfrm>
          <a:prstGeom prst="rect">
            <a:avLst/>
          </a:prstGeom>
          <a:noFill/>
          <a:ln/>
        </p:spPr>
        <p:txBody>
          <a:bodyPr wrap="square" lIns="0" tIns="0" rIns="0" bIns="0" rtlCol="0" anchor="t"/>
          <a:lstStyle/>
          <a:p>
            <a:pPr algn="ctr" indent="0" marL="0">
              <a:buNone/>
            </a:pPr>
            <a:r>
              <a:rPr lang="en-US" sz="1100" dirty="0">
                <a:solidFill>
                  <a:schemeClr val="accent6"/>
                </a:solidFill>
              </a:rPr>
              <a:t>Pred. uninfected</a:t>
            </a:r>
            <a:endParaRPr lang="en-US" sz="1100" dirty="0"/>
          </a:p>
        </p:txBody>
      </p:sp>
      <p:sp>
        <p:nvSpPr>
          <p:cNvPr id="7" name="Text 5"/>
          <p:cNvSpPr txBox="1"/>
          <p:nvPr/>
        </p:nvSpPr>
        <p:spPr>
          <a:xfrm>
            <a:off x="548640" y="233172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Parasitized</a:t>
            </a:r>
            <a:endParaRPr lang="en-US" sz="1200" dirty="0"/>
          </a:p>
        </p:txBody>
      </p:sp>
      <p:sp>
        <p:nvSpPr>
          <p:cNvPr id="8" name="Shape 6"/>
          <p:cNvSpPr/>
          <p:nvPr/>
        </p:nvSpPr>
        <p:spPr>
          <a:xfrm>
            <a:off x="1773936" y="2331720"/>
            <a:ext cx="978408" cy="804672"/>
          </a:xfrm>
          <a:prstGeom prst="roundRect">
            <a:avLst>
              <a:gd name="adj" fmla="val 6818"/>
            </a:avLst>
          </a:prstGeom>
          <a:solidFill>
            <a:srgbClr val="137C8E"/>
          </a:solidFill>
          <a:ln w="9525">
            <a:solidFill>
              <a:srgbClr val="137C8E"/>
            </a:solidFill>
            <a:prstDash val="solid"/>
          </a:ln>
        </p:spPr>
      </p:sp>
      <p:sp>
        <p:nvSpPr>
          <p:cNvPr id="9" name="Text 7"/>
          <p:cNvSpPr txBox="1"/>
          <p:nvPr/>
        </p:nvSpPr>
        <p:spPr>
          <a:xfrm>
            <a:off x="1773936" y="2331720"/>
            <a:ext cx="978408" cy="804672"/>
          </a:xfrm>
          <a:prstGeom prst="rect">
            <a:avLst/>
          </a:prstGeom>
          <a:noFill/>
          <a:ln/>
        </p:spPr>
        <p:txBody>
          <a:bodyPr wrap="square" lIns="0" tIns="0" rIns="0" bIns="0" rtlCol="0" anchor="ctr"/>
          <a:lstStyle/>
          <a:p>
            <a:pPr algn="ctr" indent="0" marL="0">
              <a:buNone/>
            </a:pPr>
            <a:r>
              <a:rPr lang="en-US" sz="2200" b="1" dirty="0">
                <a:solidFill>
                  <a:schemeClr val="bg1"/>
                </a:solidFill>
              </a:rPr>
              <a:t>2,650</a:t>
            </a:r>
            <a:endParaRPr lang="en-US" sz="2200" dirty="0"/>
          </a:p>
        </p:txBody>
      </p:sp>
      <p:sp>
        <p:nvSpPr>
          <p:cNvPr id="10" name="Shape 8"/>
          <p:cNvSpPr/>
          <p:nvPr/>
        </p:nvSpPr>
        <p:spPr>
          <a:xfrm>
            <a:off x="2825496" y="2331720"/>
            <a:ext cx="978408" cy="804672"/>
          </a:xfrm>
          <a:prstGeom prst="roundRect">
            <a:avLst>
              <a:gd name="adj" fmla="val 6818"/>
            </a:avLst>
          </a:prstGeom>
          <a:solidFill>
            <a:srgbClr val="FBF1E4"/>
          </a:solidFill>
          <a:ln w="9525">
            <a:solidFill>
              <a:srgbClr val="F3D9B5"/>
            </a:solidFill>
            <a:prstDash val="solid"/>
          </a:ln>
        </p:spPr>
      </p:sp>
      <p:sp>
        <p:nvSpPr>
          <p:cNvPr id="11" name="Text 9"/>
          <p:cNvSpPr txBox="1"/>
          <p:nvPr/>
        </p:nvSpPr>
        <p:spPr>
          <a:xfrm>
            <a:off x="2825496" y="2331720"/>
            <a:ext cx="978408" cy="804672"/>
          </a:xfrm>
          <a:prstGeom prst="rect">
            <a:avLst/>
          </a:prstGeom>
          <a:noFill/>
          <a:ln/>
        </p:spPr>
        <p:txBody>
          <a:bodyPr wrap="square" lIns="0" tIns="0" rIns="0" bIns="0" rtlCol="0" anchor="ctr"/>
          <a:lstStyle/>
          <a:p>
            <a:pPr algn="ctr" indent="0" marL="0">
              <a:buNone/>
            </a:pPr>
            <a:r>
              <a:rPr lang="en-US" sz="2200" b="1" dirty="0">
                <a:solidFill>
                  <a:schemeClr val="accent4"/>
                </a:solidFill>
              </a:rPr>
              <a:t>80</a:t>
            </a:r>
            <a:endParaRPr lang="en-US" sz="2200" dirty="0"/>
          </a:p>
        </p:txBody>
      </p:sp>
      <p:sp>
        <p:nvSpPr>
          <p:cNvPr id="12" name="Text 10"/>
          <p:cNvSpPr txBox="1"/>
          <p:nvPr/>
        </p:nvSpPr>
        <p:spPr>
          <a:xfrm>
            <a:off x="548640" y="320040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Uninfected</a:t>
            </a:r>
            <a:endParaRPr lang="en-US" sz="1200" dirty="0"/>
          </a:p>
        </p:txBody>
      </p:sp>
      <p:sp>
        <p:nvSpPr>
          <p:cNvPr id="13" name="Shape 11"/>
          <p:cNvSpPr/>
          <p:nvPr/>
        </p:nvSpPr>
        <p:spPr>
          <a:xfrm>
            <a:off x="1773936" y="3200400"/>
            <a:ext cx="978408" cy="804672"/>
          </a:xfrm>
          <a:prstGeom prst="roundRect">
            <a:avLst>
              <a:gd name="adj" fmla="val 6818"/>
            </a:avLst>
          </a:prstGeom>
          <a:solidFill>
            <a:srgbClr val="FBF1E4"/>
          </a:solidFill>
          <a:ln w="9525">
            <a:solidFill>
              <a:srgbClr val="F3D9B5"/>
            </a:solidFill>
            <a:prstDash val="solid"/>
          </a:ln>
        </p:spPr>
      </p:sp>
      <p:sp>
        <p:nvSpPr>
          <p:cNvPr id="14" name="Text 12"/>
          <p:cNvSpPr txBox="1"/>
          <p:nvPr/>
        </p:nvSpPr>
        <p:spPr>
          <a:xfrm>
            <a:off x="1773936" y="3200400"/>
            <a:ext cx="978408" cy="804672"/>
          </a:xfrm>
          <a:prstGeom prst="rect">
            <a:avLst/>
          </a:prstGeom>
          <a:noFill/>
          <a:ln/>
        </p:spPr>
        <p:txBody>
          <a:bodyPr wrap="square" lIns="0" tIns="0" rIns="0" bIns="0" rtlCol="0" anchor="ctr"/>
          <a:lstStyle/>
          <a:p>
            <a:pPr algn="ctr" indent="0" marL="0">
              <a:buNone/>
            </a:pPr>
            <a:r>
              <a:rPr lang="en-US" sz="2200" b="1" dirty="0">
                <a:solidFill>
                  <a:schemeClr val="accent4"/>
                </a:solidFill>
              </a:rPr>
              <a:t>51</a:t>
            </a:r>
            <a:endParaRPr lang="en-US" sz="2200" dirty="0"/>
          </a:p>
        </p:txBody>
      </p:sp>
      <p:sp>
        <p:nvSpPr>
          <p:cNvPr id="15" name="Shape 13"/>
          <p:cNvSpPr/>
          <p:nvPr/>
        </p:nvSpPr>
        <p:spPr>
          <a:xfrm>
            <a:off x="2825496" y="3200400"/>
            <a:ext cx="978408" cy="804672"/>
          </a:xfrm>
          <a:prstGeom prst="roundRect">
            <a:avLst>
              <a:gd name="adj" fmla="val 6818"/>
            </a:avLst>
          </a:prstGeom>
          <a:solidFill>
            <a:srgbClr val="137C8E"/>
          </a:solidFill>
          <a:ln w="9525">
            <a:solidFill>
              <a:srgbClr val="137C8E"/>
            </a:solidFill>
            <a:prstDash val="solid"/>
          </a:ln>
        </p:spPr>
      </p:sp>
      <p:sp>
        <p:nvSpPr>
          <p:cNvPr id="16" name="Text 14"/>
          <p:cNvSpPr txBox="1"/>
          <p:nvPr/>
        </p:nvSpPr>
        <p:spPr>
          <a:xfrm>
            <a:off x="2825496" y="3200400"/>
            <a:ext cx="978408" cy="804672"/>
          </a:xfrm>
          <a:prstGeom prst="rect">
            <a:avLst/>
          </a:prstGeom>
          <a:noFill/>
          <a:ln/>
        </p:spPr>
        <p:txBody>
          <a:bodyPr wrap="square" lIns="0" tIns="0" rIns="0" bIns="0" rtlCol="0" anchor="ctr"/>
          <a:lstStyle/>
          <a:p>
            <a:pPr algn="ctr" indent="0" marL="0">
              <a:buNone/>
            </a:pPr>
            <a:r>
              <a:rPr lang="en-US" sz="2200" b="1" dirty="0">
                <a:solidFill>
                  <a:schemeClr val="bg1"/>
                </a:solidFill>
              </a:rPr>
              <a:t>2,731</a:t>
            </a:r>
            <a:endParaRPr lang="en-US" sz="2200" dirty="0"/>
          </a:p>
        </p:txBody>
      </p:sp>
      <p:sp>
        <p:nvSpPr>
          <p:cNvPr id="17" name="Text 15"/>
          <p:cNvSpPr txBox="1"/>
          <p:nvPr/>
        </p:nvSpPr>
        <p:spPr>
          <a:xfrm>
            <a:off x="4069080" y="1645920"/>
            <a:ext cx="3291840" cy="320040"/>
          </a:xfrm>
          <a:prstGeom prst="rect">
            <a:avLst/>
          </a:prstGeom>
          <a:noFill/>
          <a:ln/>
        </p:spPr>
        <p:txBody>
          <a:bodyPr wrap="square" lIns="0" tIns="0" rIns="0" bIns="0" rtlCol="0" anchor="t"/>
          <a:lstStyle/>
          <a:p>
            <a:pPr indent="0" marL="0">
              <a:buNone/>
            </a:pPr>
            <a:r>
              <a:rPr lang="en-US" sz="1400" b="1" dirty="0">
                <a:solidFill>
                  <a:schemeClr val="tx1"/>
                </a:solidFill>
              </a:rPr>
              <a:t>Paper (its printed report)</a:t>
            </a:r>
            <a:endParaRPr lang="en-US" sz="1400" dirty="0"/>
          </a:p>
        </p:txBody>
      </p:sp>
      <p:sp>
        <p:nvSpPr>
          <p:cNvPr id="18" name="Text 16"/>
          <p:cNvSpPr txBox="1"/>
          <p:nvPr/>
        </p:nvSpPr>
        <p:spPr>
          <a:xfrm>
            <a:off x="5257800" y="2029968"/>
            <a:ext cx="1051560" cy="274320"/>
          </a:xfrm>
          <a:prstGeom prst="rect">
            <a:avLst/>
          </a:prstGeom>
          <a:noFill/>
          <a:ln/>
        </p:spPr>
        <p:txBody>
          <a:bodyPr wrap="square" lIns="0" tIns="0" rIns="0" bIns="0" rtlCol="0" anchor="t"/>
          <a:lstStyle/>
          <a:p>
            <a:pPr algn="ctr" indent="0" marL="0">
              <a:buNone/>
            </a:pPr>
            <a:r>
              <a:rPr lang="en-US" sz="1100" dirty="0">
                <a:solidFill>
                  <a:schemeClr val="accent6"/>
                </a:solidFill>
              </a:rPr>
              <a:t>Pred. parasitized</a:t>
            </a:r>
            <a:endParaRPr lang="en-US" sz="1100" dirty="0"/>
          </a:p>
        </p:txBody>
      </p:sp>
      <p:sp>
        <p:nvSpPr>
          <p:cNvPr id="19" name="Text 17"/>
          <p:cNvSpPr txBox="1"/>
          <p:nvPr/>
        </p:nvSpPr>
        <p:spPr>
          <a:xfrm>
            <a:off x="6309360" y="2029968"/>
            <a:ext cx="1051560" cy="274320"/>
          </a:xfrm>
          <a:prstGeom prst="rect">
            <a:avLst/>
          </a:prstGeom>
          <a:noFill/>
          <a:ln/>
        </p:spPr>
        <p:txBody>
          <a:bodyPr wrap="square" lIns="0" tIns="0" rIns="0" bIns="0" rtlCol="0" anchor="t"/>
          <a:lstStyle/>
          <a:p>
            <a:pPr algn="ctr" indent="0" marL="0">
              <a:buNone/>
            </a:pPr>
            <a:r>
              <a:rPr lang="en-US" sz="1100" dirty="0">
                <a:solidFill>
                  <a:schemeClr val="accent6"/>
                </a:solidFill>
              </a:rPr>
              <a:t>Pred. uninfected</a:t>
            </a:r>
            <a:endParaRPr lang="en-US" sz="1100" dirty="0"/>
          </a:p>
        </p:txBody>
      </p:sp>
      <p:sp>
        <p:nvSpPr>
          <p:cNvPr id="20" name="Text 18"/>
          <p:cNvSpPr txBox="1"/>
          <p:nvPr/>
        </p:nvSpPr>
        <p:spPr>
          <a:xfrm>
            <a:off x="4069080" y="233172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Parasitized</a:t>
            </a:r>
            <a:endParaRPr lang="en-US" sz="1200" dirty="0"/>
          </a:p>
        </p:txBody>
      </p:sp>
      <p:sp>
        <p:nvSpPr>
          <p:cNvPr id="21" name="Shape 19"/>
          <p:cNvSpPr/>
          <p:nvPr/>
        </p:nvSpPr>
        <p:spPr>
          <a:xfrm>
            <a:off x="5294376" y="2331720"/>
            <a:ext cx="978408" cy="804672"/>
          </a:xfrm>
          <a:prstGeom prst="roundRect">
            <a:avLst>
              <a:gd name="adj" fmla="val 6818"/>
            </a:avLst>
          </a:prstGeom>
          <a:solidFill>
            <a:srgbClr val="137C8E"/>
          </a:solidFill>
          <a:ln w="9525">
            <a:solidFill>
              <a:srgbClr val="137C8E"/>
            </a:solidFill>
            <a:prstDash val="solid"/>
          </a:ln>
        </p:spPr>
      </p:sp>
      <p:sp>
        <p:nvSpPr>
          <p:cNvPr id="22" name="Text 20"/>
          <p:cNvSpPr txBox="1"/>
          <p:nvPr/>
        </p:nvSpPr>
        <p:spPr>
          <a:xfrm>
            <a:off x="5294376" y="2331720"/>
            <a:ext cx="978408" cy="804672"/>
          </a:xfrm>
          <a:prstGeom prst="rect">
            <a:avLst/>
          </a:prstGeom>
          <a:noFill/>
          <a:ln/>
        </p:spPr>
        <p:txBody>
          <a:bodyPr wrap="square" lIns="0" tIns="0" rIns="0" bIns="0" rtlCol="0" anchor="ctr"/>
          <a:lstStyle/>
          <a:p>
            <a:pPr algn="ctr" indent="0" marL="0">
              <a:buNone/>
            </a:pPr>
            <a:r>
              <a:rPr lang="en-US" sz="2200" b="1" dirty="0">
                <a:solidFill>
                  <a:schemeClr val="bg1"/>
                </a:solidFill>
              </a:rPr>
              <a:t>2,682</a:t>
            </a:r>
            <a:endParaRPr lang="en-US" sz="2200" dirty="0"/>
          </a:p>
        </p:txBody>
      </p:sp>
      <p:sp>
        <p:nvSpPr>
          <p:cNvPr id="23" name="Shape 21"/>
          <p:cNvSpPr/>
          <p:nvPr/>
        </p:nvSpPr>
        <p:spPr>
          <a:xfrm>
            <a:off x="6345936" y="2331720"/>
            <a:ext cx="978408" cy="804672"/>
          </a:xfrm>
          <a:prstGeom prst="roundRect">
            <a:avLst>
              <a:gd name="adj" fmla="val 6818"/>
            </a:avLst>
          </a:prstGeom>
          <a:solidFill>
            <a:srgbClr val="FBF1E4"/>
          </a:solidFill>
          <a:ln w="9525">
            <a:solidFill>
              <a:srgbClr val="F3D9B5"/>
            </a:solidFill>
            <a:prstDash val="solid"/>
          </a:ln>
        </p:spPr>
      </p:sp>
      <p:sp>
        <p:nvSpPr>
          <p:cNvPr id="24" name="Text 22"/>
          <p:cNvSpPr txBox="1"/>
          <p:nvPr/>
        </p:nvSpPr>
        <p:spPr>
          <a:xfrm>
            <a:off x="6345936" y="2331720"/>
            <a:ext cx="978408" cy="804672"/>
          </a:xfrm>
          <a:prstGeom prst="rect">
            <a:avLst/>
          </a:prstGeom>
          <a:noFill/>
          <a:ln/>
        </p:spPr>
        <p:txBody>
          <a:bodyPr wrap="square" lIns="0" tIns="0" rIns="0" bIns="0" rtlCol="0" anchor="ctr"/>
          <a:lstStyle/>
          <a:p>
            <a:pPr algn="ctr" indent="0" marL="0">
              <a:buNone/>
            </a:pPr>
            <a:r>
              <a:rPr lang="en-US" sz="2200" b="1" dirty="0">
                <a:solidFill>
                  <a:schemeClr val="accent4"/>
                </a:solidFill>
              </a:rPr>
              <a:t>62</a:t>
            </a:r>
            <a:endParaRPr lang="en-US" sz="2200" dirty="0"/>
          </a:p>
        </p:txBody>
      </p:sp>
      <p:sp>
        <p:nvSpPr>
          <p:cNvPr id="25" name="Text 23"/>
          <p:cNvSpPr txBox="1"/>
          <p:nvPr/>
        </p:nvSpPr>
        <p:spPr>
          <a:xfrm>
            <a:off x="4069080" y="320040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Uninfected</a:t>
            </a:r>
            <a:endParaRPr lang="en-US" sz="1200" dirty="0"/>
          </a:p>
        </p:txBody>
      </p:sp>
      <p:sp>
        <p:nvSpPr>
          <p:cNvPr id="26" name="Shape 24"/>
          <p:cNvSpPr/>
          <p:nvPr/>
        </p:nvSpPr>
        <p:spPr>
          <a:xfrm>
            <a:off x="5294376" y="3200400"/>
            <a:ext cx="978408" cy="804672"/>
          </a:xfrm>
          <a:prstGeom prst="roundRect">
            <a:avLst>
              <a:gd name="adj" fmla="val 6818"/>
            </a:avLst>
          </a:prstGeom>
          <a:solidFill>
            <a:srgbClr val="FBF1E4"/>
          </a:solidFill>
          <a:ln w="9525">
            <a:solidFill>
              <a:srgbClr val="F3D9B5"/>
            </a:solidFill>
            <a:prstDash val="solid"/>
          </a:ln>
        </p:spPr>
      </p:sp>
      <p:sp>
        <p:nvSpPr>
          <p:cNvPr id="27" name="Text 25"/>
          <p:cNvSpPr txBox="1"/>
          <p:nvPr/>
        </p:nvSpPr>
        <p:spPr>
          <a:xfrm>
            <a:off x="5294376" y="3200400"/>
            <a:ext cx="978408" cy="804672"/>
          </a:xfrm>
          <a:prstGeom prst="rect">
            <a:avLst/>
          </a:prstGeom>
          <a:noFill/>
          <a:ln/>
        </p:spPr>
        <p:txBody>
          <a:bodyPr wrap="square" lIns="0" tIns="0" rIns="0" bIns="0" rtlCol="0" anchor="ctr"/>
          <a:lstStyle/>
          <a:p>
            <a:pPr algn="ctr" indent="0" marL="0">
              <a:buNone/>
            </a:pPr>
            <a:r>
              <a:rPr lang="en-US" sz="2200" b="1" dirty="0">
                <a:solidFill>
                  <a:schemeClr val="accent4"/>
                </a:solidFill>
              </a:rPr>
              <a:t>32</a:t>
            </a:r>
            <a:endParaRPr lang="en-US" sz="2200" dirty="0"/>
          </a:p>
        </p:txBody>
      </p:sp>
      <p:sp>
        <p:nvSpPr>
          <p:cNvPr id="28" name="Shape 26"/>
          <p:cNvSpPr/>
          <p:nvPr/>
        </p:nvSpPr>
        <p:spPr>
          <a:xfrm>
            <a:off x="6345936" y="3200400"/>
            <a:ext cx="978408" cy="804672"/>
          </a:xfrm>
          <a:prstGeom prst="roundRect">
            <a:avLst>
              <a:gd name="adj" fmla="val 6818"/>
            </a:avLst>
          </a:prstGeom>
          <a:solidFill>
            <a:srgbClr val="137C8E"/>
          </a:solidFill>
          <a:ln w="9525">
            <a:solidFill>
              <a:srgbClr val="137C8E"/>
            </a:solidFill>
            <a:prstDash val="solid"/>
          </a:ln>
        </p:spPr>
      </p:sp>
      <p:sp>
        <p:nvSpPr>
          <p:cNvPr id="29" name="Text 27"/>
          <p:cNvSpPr txBox="1"/>
          <p:nvPr/>
        </p:nvSpPr>
        <p:spPr>
          <a:xfrm>
            <a:off x="6345936" y="3200400"/>
            <a:ext cx="978408" cy="804672"/>
          </a:xfrm>
          <a:prstGeom prst="rect">
            <a:avLst/>
          </a:prstGeom>
          <a:noFill/>
          <a:ln/>
        </p:spPr>
        <p:txBody>
          <a:bodyPr wrap="square" lIns="0" tIns="0" rIns="0" bIns="0" rtlCol="0" anchor="ctr"/>
          <a:lstStyle/>
          <a:p>
            <a:pPr algn="ctr" indent="0" marL="0">
              <a:buNone/>
            </a:pPr>
            <a:r>
              <a:rPr lang="en-US" sz="2200" b="1" dirty="0">
                <a:solidFill>
                  <a:schemeClr val="bg1"/>
                </a:solidFill>
              </a:rPr>
              <a:t>2,736</a:t>
            </a:r>
            <a:endParaRPr lang="en-US" sz="2200" dirty="0"/>
          </a:p>
        </p:txBody>
      </p:sp>
      <p:pic>
        <p:nvPicPr>
          <p:cNvPr id="30" name="Image 0" descr="/Users/madhav/malaria-detection/slides/figures/roc_holdout.png">    </p:cNvPr>
          <p:cNvPicPr>
            <a:picLocks noChangeAspect="1"/>
          </p:cNvPicPr>
          <p:nvPr/>
        </p:nvPicPr>
        <p:blipFill>
          <a:blip r:embed="rId1"/>
          <a:stretch>
            <a:fillRect/>
          </a:stretch>
        </p:blipFill>
        <p:spPr>
          <a:xfrm>
            <a:off x="7680960" y="1554480"/>
            <a:ext cx="3931920" cy="3251395"/>
          </a:xfrm>
          <a:prstGeom prst="rect">
            <a:avLst/>
          </a:prstGeom>
        </p:spPr>
      </p:pic>
      <p:sp>
        <p:nvSpPr>
          <p:cNvPr id="31" name="Shape 28"/>
          <p:cNvSpPr/>
          <p:nvPr/>
        </p:nvSpPr>
        <p:spPr>
          <a:xfrm>
            <a:off x="548640" y="4526280"/>
            <a:ext cx="6812280" cy="1508760"/>
          </a:xfrm>
          <a:prstGeom prst="roundRect">
            <a:avLst>
              <a:gd name="adj" fmla="val 4848"/>
            </a:avLst>
          </a:prstGeom>
          <a:solidFill>
            <a:srgbClr val="E3F0F2"/>
          </a:solidFill>
          <a:ln w="9525">
            <a:solidFill>
              <a:srgbClr val="E3F0F2"/>
            </a:solidFill>
            <a:prstDash val="solid"/>
          </a:ln>
        </p:spPr>
      </p:sp>
      <p:sp>
        <p:nvSpPr>
          <p:cNvPr id="32" name="Shape 29"/>
          <p:cNvSpPr/>
          <p:nvPr/>
        </p:nvSpPr>
        <p:spPr>
          <a:xfrm>
            <a:off x="749808" y="5052060"/>
            <a:ext cx="457200" cy="457200"/>
          </a:xfrm>
          <a:prstGeom prst="ellipse">
            <a:avLst/>
          </a:prstGeom>
          <a:solidFill>
            <a:schemeClr val="accent1"/>
          </a:solidFill>
          <a:ln w="6350">
            <a:solidFill>
              <a:schemeClr val="accent1"/>
            </a:solidFill>
            <a:prstDash val="solid"/>
          </a:ln>
        </p:spPr>
      </p:sp>
      <p:pic>
        <p:nvPicPr>
          <p:cNvPr id="33" name="Image 1" descr="preencoded.png">    </p:cNvPr>
          <p:cNvPicPr>
            <a:picLocks noChangeAspect="1"/>
          </p:cNvPicPr>
          <p:nvPr/>
        </p:nvPicPr>
        <p:blipFill>
          <a:blip r:embed="rId2"/>
          <a:stretch>
            <a:fillRect/>
          </a:stretch>
        </p:blipFill>
        <p:spPr>
          <a:xfrm>
            <a:off x="845820" y="5148072"/>
            <a:ext cx="265176" cy="265176"/>
          </a:xfrm>
          <a:prstGeom prst="rect">
            <a:avLst/>
          </a:prstGeom>
        </p:spPr>
      </p:pic>
      <p:sp>
        <p:nvSpPr>
          <p:cNvPr id="34" name="Text 30"/>
          <p:cNvSpPr txBox="1"/>
          <p:nvPr/>
        </p:nvSpPr>
        <p:spPr>
          <a:xfrm>
            <a:off x="1389888" y="4599432"/>
            <a:ext cx="5760720" cy="1362456"/>
          </a:xfrm>
          <a:prstGeom prst="rect">
            <a:avLst/>
          </a:prstGeom>
          <a:noFill/>
          <a:ln/>
        </p:spPr>
        <p:txBody>
          <a:bodyPr wrap="square" lIns="0" tIns="0" rIns="0" bIns="0" rtlCol="0" anchor="ctr"/>
          <a:lstStyle/>
          <a:p>
            <a:pPr indent="0" marL="0">
              <a:buNone/>
            </a:pPr>
            <a:r>
              <a:rPr lang="en-US" sz="1400" dirty="0">
                <a:solidFill>
                  <a:schemeClr val="tx1"/>
                </a:solidFill>
              </a:rPr>
              <a:t>Out of 5,512 hold-out cells: 80 infected cells missed and 51 healthy cells flagged (paper: 62 and 32). For diagnosis a miss costs more than a false alarm, so recall comes first.</a:t>
            </a:r>
            <a:endParaRPr lang="en-US" sz="1400" dirty="0"/>
          </a:p>
        </p:txBody>
      </p:sp>
      <p:sp>
        <p:nvSpPr>
          <p:cNvPr id="35" name="Text 31"/>
          <p:cNvSpPr txBox="1"/>
          <p:nvPr/>
        </p:nvSpPr>
        <p:spPr>
          <a:xfrm>
            <a:off x="7680960" y="4937760"/>
            <a:ext cx="3931920" cy="548640"/>
          </a:xfrm>
          <a:prstGeom prst="rect">
            <a:avLst/>
          </a:prstGeom>
          <a:noFill/>
          <a:ln/>
        </p:spPr>
        <p:txBody>
          <a:bodyPr wrap="square" lIns="0" tIns="0" rIns="0" bIns="0" rtlCol="0" anchor="t"/>
          <a:lstStyle/>
          <a:p>
            <a:pPr indent="0" marL="0">
              <a:buNone/>
            </a:pPr>
            <a:r>
              <a:rPr lang="en-US" sz="1200" dirty="0">
                <a:solidFill>
                  <a:schemeClr val="accent6"/>
                </a:solidFill>
              </a:rPr>
              <a:t>ROC zoomed to the top-left corner: ensemble AUC 99.73 % (paper 99.76 %).</a:t>
            </a:r>
            <a:endParaRPr lang="en-US" sz="12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ENGINEERING</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Ten GPUs in parallel: about 11 minutes per fold</a:t>
            </a:r>
            <a:endParaRPr lang="en-US" sz="3200" dirty="0"/>
          </a:p>
        </p:txBody>
      </p:sp>
      <p:sp>
        <p:nvSpPr>
          <p:cNvPr id="4" name="Shape 2"/>
          <p:cNvSpPr/>
          <p:nvPr/>
        </p:nvSpPr>
        <p:spPr>
          <a:xfrm>
            <a:off x="548640" y="1691640"/>
            <a:ext cx="1133856" cy="1078992"/>
          </a:xfrm>
          <a:prstGeom prst="roundRect">
            <a:avLst>
              <a:gd name="adj" fmla="val 6780"/>
            </a:avLst>
          </a:prstGeom>
          <a:solidFill>
            <a:srgbClr val="E3F0F2"/>
          </a:solidFill>
          <a:ln w="9525">
            <a:solidFill>
              <a:srgbClr val="E3F0F2"/>
            </a:solidFill>
            <a:prstDash val="solid"/>
          </a:ln>
        </p:spPr>
      </p:sp>
      <p:sp>
        <p:nvSpPr>
          <p:cNvPr id="5" name="Text 3"/>
          <p:cNvSpPr txBox="1"/>
          <p:nvPr/>
        </p:nvSpPr>
        <p:spPr>
          <a:xfrm>
            <a:off x="548640" y="1764792"/>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0</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10.9 min</a:t>
            </a:r>
            <a:endParaRPr lang="en-US" sz="1400" dirty="0"/>
          </a:p>
        </p:txBody>
      </p:sp>
      <p:sp>
        <p:nvSpPr>
          <p:cNvPr id="6" name="Shape 4"/>
          <p:cNvSpPr/>
          <p:nvPr/>
        </p:nvSpPr>
        <p:spPr>
          <a:xfrm>
            <a:off x="1792224" y="1691640"/>
            <a:ext cx="1133856" cy="1078992"/>
          </a:xfrm>
          <a:prstGeom prst="roundRect">
            <a:avLst>
              <a:gd name="adj" fmla="val 6780"/>
            </a:avLst>
          </a:prstGeom>
          <a:solidFill>
            <a:srgbClr val="E3F0F2"/>
          </a:solidFill>
          <a:ln w="9525">
            <a:solidFill>
              <a:srgbClr val="E3F0F2"/>
            </a:solidFill>
            <a:prstDash val="solid"/>
          </a:ln>
        </p:spPr>
      </p:sp>
      <p:sp>
        <p:nvSpPr>
          <p:cNvPr id="7" name="Text 5"/>
          <p:cNvSpPr txBox="1"/>
          <p:nvPr/>
        </p:nvSpPr>
        <p:spPr>
          <a:xfrm>
            <a:off x="1792224" y="1764792"/>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1</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10.5 min</a:t>
            </a:r>
            <a:endParaRPr lang="en-US" sz="1400" dirty="0"/>
          </a:p>
        </p:txBody>
      </p:sp>
      <p:sp>
        <p:nvSpPr>
          <p:cNvPr id="8" name="Shape 6"/>
          <p:cNvSpPr/>
          <p:nvPr/>
        </p:nvSpPr>
        <p:spPr>
          <a:xfrm>
            <a:off x="3035808" y="1691640"/>
            <a:ext cx="1133856" cy="1078992"/>
          </a:xfrm>
          <a:prstGeom prst="roundRect">
            <a:avLst>
              <a:gd name="adj" fmla="val 6780"/>
            </a:avLst>
          </a:prstGeom>
          <a:solidFill>
            <a:srgbClr val="E3F0F2"/>
          </a:solidFill>
          <a:ln w="9525">
            <a:solidFill>
              <a:srgbClr val="E3F0F2"/>
            </a:solidFill>
            <a:prstDash val="solid"/>
          </a:ln>
        </p:spPr>
      </p:sp>
      <p:sp>
        <p:nvSpPr>
          <p:cNvPr id="9" name="Text 7"/>
          <p:cNvSpPr txBox="1"/>
          <p:nvPr/>
        </p:nvSpPr>
        <p:spPr>
          <a:xfrm>
            <a:off x="3035808" y="1764792"/>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2</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11.1 min</a:t>
            </a:r>
            <a:endParaRPr lang="en-US" sz="1400" dirty="0"/>
          </a:p>
        </p:txBody>
      </p:sp>
      <p:sp>
        <p:nvSpPr>
          <p:cNvPr id="10" name="Shape 8"/>
          <p:cNvSpPr/>
          <p:nvPr/>
        </p:nvSpPr>
        <p:spPr>
          <a:xfrm>
            <a:off x="4279392" y="1691640"/>
            <a:ext cx="1133856" cy="1078992"/>
          </a:xfrm>
          <a:prstGeom prst="roundRect">
            <a:avLst>
              <a:gd name="adj" fmla="val 6780"/>
            </a:avLst>
          </a:prstGeom>
          <a:solidFill>
            <a:srgbClr val="E3F0F2"/>
          </a:solidFill>
          <a:ln w="9525">
            <a:solidFill>
              <a:srgbClr val="E3F0F2"/>
            </a:solidFill>
            <a:prstDash val="solid"/>
          </a:ln>
        </p:spPr>
      </p:sp>
      <p:sp>
        <p:nvSpPr>
          <p:cNvPr id="11" name="Text 9"/>
          <p:cNvSpPr txBox="1"/>
          <p:nvPr/>
        </p:nvSpPr>
        <p:spPr>
          <a:xfrm>
            <a:off x="4279392" y="1764792"/>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3</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16.6 min</a:t>
            </a:r>
            <a:endParaRPr lang="en-US" sz="1400" dirty="0"/>
          </a:p>
        </p:txBody>
      </p:sp>
      <p:sp>
        <p:nvSpPr>
          <p:cNvPr id="12" name="Shape 10"/>
          <p:cNvSpPr/>
          <p:nvPr/>
        </p:nvSpPr>
        <p:spPr>
          <a:xfrm>
            <a:off x="5522976" y="1691640"/>
            <a:ext cx="1133856" cy="1078992"/>
          </a:xfrm>
          <a:prstGeom prst="roundRect">
            <a:avLst>
              <a:gd name="adj" fmla="val 6780"/>
            </a:avLst>
          </a:prstGeom>
          <a:solidFill>
            <a:srgbClr val="E3F0F2"/>
          </a:solidFill>
          <a:ln w="9525">
            <a:solidFill>
              <a:srgbClr val="E3F0F2"/>
            </a:solidFill>
            <a:prstDash val="solid"/>
          </a:ln>
        </p:spPr>
      </p:sp>
      <p:sp>
        <p:nvSpPr>
          <p:cNvPr id="13" name="Text 11"/>
          <p:cNvSpPr txBox="1"/>
          <p:nvPr/>
        </p:nvSpPr>
        <p:spPr>
          <a:xfrm>
            <a:off x="5522976" y="1764792"/>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4</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10.6 min</a:t>
            </a:r>
            <a:endParaRPr lang="en-US" sz="1400" dirty="0"/>
          </a:p>
        </p:txBody>
      </p:sp>
      <p:sp>
        <p:nvSpPr>
          <p:cNvPr id="14" name="Shape 12"/>
          <p:cNvSpPr/>
          <p:nvPr/>
        </p:nvSpPr>
        <p:spPr>
          <a:xfrm>
            <a:off x="548640" y="2898648"/>
            <a:ext cx="1133856" cy="1078992"/>
          </a:xfrm>
          <a:prstGeom prst="roundRect">
            <a:avLst>
              <a:gd name="adj" fmla="val 6780"/>
            </a:avLst>
          </a:prstGeom>
          <a:solidFill>
            <a:srgbClr val="E3F0F2"/>
          </a:solidFill>
          <a:ln w="9525">
            <a:solidFill>
              <a:srgbClr val="E3F0F2"/>
            </a:solidFill>
            <a:prstDash val="solid"/>
          </a:ln>
        </p:spPr>
      </p:sp>
      <p:sp>
        <p:nvSpPr>
          <p:cNvPr id="15" name="Text 13"/>
          <p:cNvSpPr txBox="1"/>
          <p:nvPr/>
        </p:nvSpPr>
        <p:spPr>
          <a:xfrm>
            <a:off x="548640" y="2971800"/>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5</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10.8 min</a:t>
            </a:r>
            <a:endParaRPr lang="en-US" sz="1400" dirty="0"/>
          </a:p>
        </p:txBody>
      </p:sp>
      <p:sp>
        <p:nvSpPr>
          <p:cNvPr id="16" name="Shape 14"/>
          <p:cNvSpPr/>
          <p:nvPr/>
        </p:nvSpPr>
        <p:spPr>
          <a:xfrm>
            <a:off x="1792224" y="2898648"/>
            <a:ext cx="1133856" cy="1078992"/>
          </a:xfrm>
          <a:prstGeom prst="roundRect">
            <a:avLst>
              <a:gd name="adj" fmla="val 6780"/>
            </a:avLst>
          </a:prstGeom>
          <a:solidFill>
            <a:srgbClr val="E3F0F2"/>
          </a:solidFill>
          <a:ln w="9525">
            <a:solidFill>
              <a:srgbClr val="E3F0F2"/>
            </a:solidFill>
            <a:prstDash val="solid"/>
          </a:ln>
        </p:spPr>
      </p:sp>
      <p:sp>
        <p:nvSpPr>
          <p:cNvPr id="17" name="Text 15"/>
          <p:cNvSpPr txBox="1"/>
          <p:nvPr/>
        </p:nvSpPr>
        <p:spPr>
          <a:xfrm>
            <a:off x="1792224" y="2971800"/>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6</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10.7 min</a:t>
            </a:r>
            <a:endParaRPr lang="en-US" sz="1400" dirty="0"/>
          </a:p>
        </p:txBody>
      </p:sp>
      <p:sp>
        <p:nvSpPr>
          <p:cNvPr id="18" name="Shape 16"/>
          <p:cNvSpPr/>
          <p:nvPr/>
        </p:nvSpPr>
        <p:spPr>
          <a:xfrm>
            <a:off x="3035808" y="2898648"/>
            <a:ext cx="1133856" cy="1078992"/>
          </a:xfrm>
          <a:prstGeom prst="roundRect">
            <a:avLst>
              <a:gd name="adj" fmla="val 6780"/>
            </a:avLst>
          </a:prstGeom>
          <a:solidFill>
            <a:srgbClr val="E3F0F2"/>
          </a:solidFill>
          <a:ln w="9525">
            <a:solidFill>
              <a:srgbClr val="E3F0F2"/>
            </a:solidFill>
            <a:prstDash val="solid"/>
          </a:ln>
        </p:spPr>
      </p:sp>
      <p:sp>
        <p:nvSpPr>
          <p:cNvPr id="19" name="Text 17"/>
          <p:cNvSpPr txBox="1"/>
          <p:nvPr/>
        </p:nvSpPr>
        <p:spPr>
          <a:xfrm>
            <a:off x="3035808" y="2971800"/>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7</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10.9 min</a:t>
            </a:r>
            <a:endParaRPr lang="en-US" sz="1400" dirty="0"/>
          </a:p>
        </p:txBody>
      </p:sp>
      <p:sp>
        <p:nvSpPr>
          <p:cNvPr id="20" name="Shape 18"/>
          <p:cNvSpPr/>
          <p:nvPr/>
        </p:nvSpPr>
        <p:spPr>
          <a:xfrm>
            <a:off x="4279392" y="2898648"/>
            <a:ext cx="1133856" cy="1078992"/>
          </a:xfrm>
          <a:prstGeom prst="roundRect">
            <a:avLst>
              <a:gd name="adj" fmla="val 6780"/>
            </a:avLst>
          </a:prstGeom>
          <a:solidFill>
            <a:srgbClr val="E3F0F2"/>
          </a:solidFill>
          <a:ln w="9525">
            <a:solidFill>
              <a:srgbClr val="E3F0F2"/>
            </a:solidFill>
            <a:prstDash val="solid"/>
          </a:ln>
        </p:spPr>
      </p:sp>
      <p:sp>
        <p:nvSpPr>
          <p:cNvPr id="21" name="Text 19"/>
          <p:cNvSpPr txBox="1"/>
          <p:nvPr/>
        </p:nvSpPr>
        <p:spPr>
          <a:xfrm>
            <a:off x="4279392" y="2971800"/>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8</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10.6 min</a:t>
            </a:r>
            <a:endParaRPr lang="en-US" sz="1400" dirty="0"/>
          </a:p>
        </p:txBody>
      </p:sp>
      <p:sp>
        <p:nvSpPr>
          <p:cNvPr id="22" name="Shape 20"/>
          <p:cNvSpPr/>
          <p:nvPr/>
        </p:nvSpPr>
        <p:spPr>
          <a:xfrm>
            <a:off x="5522976" y="2898648"/>
            <a:ext cx="1133856" cy="1078992"/>
          </a:xfrm>
          <a:prstGeom prst="roundRect">
            <a:avLst>
              <a:gd name="adj" fmla="val 6780"/>
            </a:avLst>
          </a:prstGeom>
          <a:solidFill>
            <a:srgbClr val="E3F0F2"/>
          </a:solidFill>
          <a:ln w="9525">
            <a:solidFill>
              <a:srgbClr val="E3F0F2"/>
            </a:solidFill>
            <a:prstDash val="solid"/>
          </a:ln>
        </p:spPr>
      </p:sp>
      <p:sp>
        <p:nvSpPr>
          <p:cNvPr id="23" name="Text 21"/>
          <p:cNvSpPr txBox="1"/>
          <p:nvPr/>
        </p:nvSpPr>
        <p:spPr>
          <a:xfrm>
            <a:off x="5522976" y="2971800"/>
            <a:ext cx="1133856" cy="932688"/>
          </a:xfrm>
          <a:prstGeom prst="rect">
            <a:avLst/>
          </a:prstGeom>
          <a:noFill/>
          <a:ln/>
        </p:spPr>
        <p:txBody>
          <a:bodyPr wrap="square" lIns="0" tIns="0" rIns="0" bIns="0" rtlCol="0" anchor="ctr"/>
          <a:lstStyle/>
          <a:p>
            <a:pPr algn="ctr" indent="0" marL="0">
              <a:buNone/>
            </a:pPr>
            <a:r>
              <a:rPr lang="en-US" sz="1500" b="1" dirty="0">
                <a:solidFill>
                  <a:schemeClr val="tx1"/>
                </a:solidFill>
              </a:rPr>
              <a:t>Fold 9</a:t>
            </a:r>
            <a:endParaRPr lang="en-US" sz="1400" dirty="0"/>
          </a:p>
          <a:p>
            <a:pPr algn="ctr" indent="0" marL="0">
              <a:buNone/>
            </a:pPr>
            <a:r>
              <a:rPr lang="en-US" sz="1100" dirty="0">
                <a:solidFill>
                  <a:schemeClr val="accent6"/>
                </a:solidFill>
              </a:rPr>
              <a:t>RTX 4090</a:t>
            </a:r>
            <a:endParaRPr lang="en-US" sz="1400" dirty="0"/>
          </a:p>
          <a:p>
            <a:pPr algn="ctr" indent="0" marL="0">
              <a:buNone/>
            </a:pPr>
            <a:r>
              <a:rPr lang="en-US" sz="1400" b="1" dirty="0">
                <a:solidFill>
                  <a:schemeClr val="accent1"/>
                </a:solidFill>
              </a:rPr>
              <a:t>10.5 min</a:t>
            </a:r>
            <a:endParaRPr lang="en-US" sz="1400" dirty="0"/>
          </a:p>
        </p:txBody>
      </p:sp>
      <p:graphicFrame>
        <p:nvGraphicFramePr>
          <p:cNvPr id="24" name="Chart 0" descr=""/>
          <p:cNvGraphicFramePr/>
          <p:nvPr/>
        </p:nvGraphicFramePr>
        <p:xfrm>
          <a:off x="6949440" y="1600200"/>
          <a:ext cx="4663440" cy="265176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txBox="1"/>
          <p:nvPr/>
        </p:nvSpPr>
        <p:spPr>
          <a:xfrm>
            <a:off x="708660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 25×</a:t>
            </a:r>
            <a:endParaRPr lang="en-US" sz="1400" dirty="0"/>
          </a:p>
          <a:p>
            <a:pPr indent="0" marL="0">
              <a:buNone/>
            </a:pPr>
            <a:r>
              <a:rPr lang="en-US" sz="1200" dirty="0">
                <a:solidFill>
                  <a:schemeClr val="accent6"/>
                </a:solidFill>
              </a:rPr>
              <a:t>faster per fold</a:t>
            </a:r>
            <a:endParaRPr lang="en-US" sz="1400" dirty="0"/>
          </a:p>
        </p:txBody>
      </p:sp>
      <p:sp>
        <p:nvSpPr>
          <p:cNvPr id="26" name="Text 23"/>
          <p:cNvSpPr txBox="1"/>
          <p:nvPr/>
        </p:nvSpPr>
        <p:spPr>
          <a:xfrm>
            <a:off x="864108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 $4.8</a:t>
            </a:r>
            <a:endParaRPr lang="en-US" sz="1400" dirty="0"/>
          </a:p>
          <a:p>
            <a:pPr indent="0" marL="0">
              <a:buNone/>
            </a:pPr>
            <a:r>
              <a:rPr lang="en-US" sz="1200" dirty="0">
                <a:solidFill>
                  <a:schemeClr val="accent6"/>
                </a:solidFill>
              </a:rPr>
              <a:t>total cloud cost</a:t>
            </a:r>
            <a:endParaRPr lang="en-US" sz="1400" dirty="0"/>
          </a:p>
        </p:txBody>
      </p:sp>
      <p:sp>
        <p:nvSpPr>
          <p:cNvPr id="27" name="Text 24"/>
          <p:cNvSpPr txBox="1"/>
          <p:nvPr/>
        </p:nvSpPr>
        <p:spPr>
          <a:xfrm>
            <a:off x="1019556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1 d 23 h</a:t>
            </a:r>
            <a:endParaRPr lang="en-US" sz="1400" dirty="0"/>
          </a:p>
          <a:p>
            <a:pPr indent="0" marL="0">
              <a:buNone/>
            </a:pPr>
            <a:r>
              <a:rPr lang="en-US" sz="1200" dirty="0">
                <a:solidFill>
                  <a:schemeClr val="accent6"/>
                </a:solidFill>
              </a:rPr>
              <a:t>the paper's full run</a:t>
            </a:r>
            <a:endParaRPr lang="en-US" sz="1400" dirty="0"/>
          </a:p>
        </p:txBody>
      </p:sp>
      <p:sp>
        <p:nvSpPr>
          <p:cNvPr id="28" name="Text 25"/>
          <p:cNvSpPr txBox="1"/>
          <p:nvPr/>
        </p:nvSpPr>
        <p:spPr>
          <a:xfrm>
            <a:off x="548640" y="4206240"/>
            <a:ext cx="6126480" cy="822960"/>
          </a:xfrm>
          <a:prstGeom prst="rect">
            <a:avLst/>
          </a:prstGeom>
          <a:noFill/>
          <a:ln/>
        </p:spPr>
        <p:txBody>
          <a:bodyPr wrap="square" lIns="0" tIns="0" rIns="0" bIns="0" rtlCol="0" anchor="t"/>
          <a:lstStyle/>
          <a:p>
            <a:pPr indent="0" marL="0">
              <a:buNone/>
            </a:pPr>
            <a:r>
              <a:rPr lang="en-US" sz="1300" dirty="0">
                <a:solidFill>
                  <a:schemeClr val="accent6"/>
                </a:solidFill>
              </a:rPr>
              <a:t>10 RunPod pods (Secure Cloud, RTX 4090, 16 vCPU each), one fold per pod, all training at the same time. Fold 3 landed on a slower host (16.6 min).</a:t>
            </a:r>
            <a:endParaRPr lang="en-US" sz="1300" dirty="0"/>
          </a:p>
        </p:txBody>
      </p:sp>
      <p:sp>
        <p:nvSpPr>
          <p:cNvPr id="29" name="Shape 26"/>
          <p:cNvSpPr/>
          <p:nvPr/>
        </p:nvSpPr>
        <p:spPr>
          <a:xfrm>
            <a:off x="548640" y="5257800"/>
            <a:ext cx="11064240" cy="731520"/>
          </a:xfrm>
          <a:prstGeom prst="roundRect">
            <a:avLst>
              <a:gd name="adj" fmla="val 10000"/>
            </a:avLst>
          </a:prstGeom>
          <a:solidFill>
            <a:srgbClr val="E3F0F2"/>
          </a:solidFill>
          <a:ln w="9525">
            <a:solidFill>
              <a:srgbClr val="E3F0F2"/>
            </a:solidFill>
            <a:prstDash val="solid"/>
          </a:ln>
        </p:spPr>
      </p:sp>
      <p:sp>
        <p:nvSpPr>
          <p:cNvPr id="30" name="Shape 27"/>
          <p:cNvSpPr/>
          <p:nvPr/>
        </p:nvSpPr>
        <p:spPr>
          <a:xfrm>
            <a:off x="749808" y="5394960"/>
            <a:ext cx="457200" cy="457200"/>
          </a:xfrm>
          <a:prstGeom prst="ellipse">
            <a:avLst/>
          </a:prstGeom>
          <a:solidFill>
            <a:schemeClr val="accent1"/>
          </a:solidFill>
          <a:ln w="6350">
            <a:solidFill>
              <a:schemeClr val="accent1"/>
            </a:solidFill>
            <a:prstDash val="solid"/>
          </a:ln>
        </p:spPr>
      </p:sp>
      <p:pic>
        <p:nvPicPr>
          <p:cNvPr id="31" name="Image 0" descr="preencoded.png">    </p:cNvPr>
          <p:cNvPicPr>
            <a:picLocks noChangeAspect="1"/>
          </p:cNvPicPr>
          <p:nvPr/>
        </p:nvPicPr>
        <p:blipFill>
          <a:blip r:embed="rId2"/>
          <a:stretch>
            <a:fillRect/>
          </a:stretch>
        </p:blipFill>
        <p:spPr>
          <a:xfrm>
            <a:off x="845820" y="5490972"/>
            <a:ext cx="265176" cy="265176"/>
          </a:xfrm>
          <a:prstGeom prst="rect">
            <a:avLst/>
          </a:prstGeom>
        </p:spPr>
      </p:pic>
      <p:sp>
        <p:nvSpPr>
          <p:cNvPr id="32" name="Text 28"/>
          <p:cNvSpPr txBox="1"/>
          <p:nvPr/>
        </p:nvSpPr>
        <p:spPr>
          <a:xfrm>
            <a:off x="1389888" y="5330952"/>
            <a:ext cx="10012680" cy="585216"/>
          </a:xfrm>
          <a:prstGeom prst="rect">
            <a:avLst/>
          </a:prstGeom>
          <a:noFill/>
          <a:ln/>
        </p:spPr>
        <p:txBody>
          <a:bodyPr wrap="square" lIns="0" tIns="0" rIns="0" bIns="0" rtlCol="0" anchor="ctr"/>
          <a:lstStyle/>
          <a:p>
            <a:pPr indent="0" marL="0">
              <a:buNone/>
            </a:pPr>
            <a:r>
              <a:rPr lang="en-US" sz="1400" dirty="0">
                <a:solidFill>
                  <a:schemeClr val="tx1"/>
                </a:solidFill>
              </a:rPr>
              <a:t>The 10 trained models are published as a GitHub release, so nobody has to retrain to use or evaluate them.</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ENGINEERING · SPEED WITHOUT CHANGING THE MATHS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Five speed-ups, same maths</a:t>
            </a:r>
            <a:endParaRPr lang="en-US" sz="3200" dirty="0"/>
          </a:p>
        </p:txBody>
      </p:sp>
      <p:sp>
        <p:nvSpPr>
          <p:cNvPr id="4" name="Shape 2"/>
          <p:cNvSpPr/>
          <p:nvPr/>
        </p:nvSpPr>
        <p:spPr>
          <a:xfrm>
            <a:off x="548640" y="1645920"/>
            <a:ext cx="3520440" cy="2057400"/>
          </a:xfrm>
          <a:prstGeom prst="roundRect">
            <a:avLst>
              <a:gd name="adj" fmla="val 3556"/>
            </a:avLst>
          </a:prstGeom>
          <a:solidFill>
            <a:schemeClr val="bg2"/>
          </a:solidFill>
          <a:ln w="9525">
            <a:solidFill>
              <a:schemeClr val="bg2"/>
            </a:solidFill>
            <a:prstDash val="solid"/>
          </a:ln>
        </p:spPr>
      </p:sp>
      <p:sp>
        <p:nvSpPr>
          <p:cNvPr id="5" name="Shape 3"/>
          <p:cNvSpPr/>
          <p:nvPr/>
        </p:nvSpPr>
        <p:spPr>
          <a:xfrm>
            <a:off x="777240" y="1874520"/>
            <a:ext cx="548640" cy="54864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92454" y="1989734"/>
            <a:ext cx="318211" cy="318211"/>
          </a:xfrm>
          <a:prstGeom prst="rect">
            <a:avLst/>
          </a:prstGeom>
        </p:spPr>
      </p:pic>
      <p:sp>
        <p:nvSpPr>
          <p:cNvPr id="7" name="Text 4"/>
          <p:cNvSpPr txBox="1"/>
          <p:nvPr/>
        </p:nvSpPr>
        <p:spPr>
          <a:xfrm>
            <a:off x="1463040" y="18745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Decode once</a:t>
            </a:r>
            <a:endParaRPr lang="en-US" sz="1600" dirty="0"/>
          </a:p>
        </p:txBody>
      </p:sp>
      <p:sp>
        <p:nvSpPr>
          <p:cNvPr id="8" name="Text 5"/>
          <p:cNvSpPr txBox="1"/>
          <p:nvPr/>
        </p:nvSpPr>
        <p:spPr>
          <a:xfrm>
            <a:off x="777240" y="2514600"/>
            <a:ext cx="3108960" cy="1143000"/>
          </a:xfrm>
          <a:prstGeom prst="rect">
            <a:avLst/>
          </a:prstGeom>
          <a:noFill/>
          <a:ln/>
        </p:spPr>
        <p:txBody>
          <a:bodyPr wrap="square" lIns="0" tIns="0" rIns="0" bIns="0" rtlCol="0" anchor="t"/>
          <a:lstStyle/>
          <a:p>
            <a:pPr indent="0" marL="0">
              <a:buNone/>
            </a:pPr>
            <a:r>
              <a:rPr lang="en-US" sz="1300" dirty="0">
                <a:solidFill>
                  <a:schemeClr val="tx1"/>
                </a:solidFill>
              </a:rPr>
              <a:t>All 27,558 images are resized once into a 4.1 GB uint8 cache that every process shares. The paper re-read every PNG every epoch.</a:t>
            </a:r>
            <a:endParaRPr lang="en-US" sz="1300" dirty="0"/>
          </a:p>
        </p:txBody>
      </p:sp>
      <p:sp>
        <p:nvSpPr>
          <p:cNvPr id="9" name="Shape 6"/>
          <p:cNvSpPr/>
          <p:nvPr/>
        </p:nvSpPr>
        <p:spPr>
          <a:xfrm>
            <a:off x="4297680" y="1645920"/>
            <a:ext cx="3520440" cy="2057400"/>
          </a:xfrm>
          <a:prstGeom prst="roundRect">
            <a:avLst>
              <a:gd name="adj" fmla="val 3556"/>
            </a:avLst>
          </a:prstGeom>
          <a:solidFill>
            <a:schemeClr val="bg2"/>
          </a:solidFill>
          <a:ln w="9525">
            <a:solidFill>
              <a:schemeClr val="bg2"/>
            </a:solidFill>
            <a:prstDash val="solid"/>
          </a:ln>
        </p:spPr>
      </p:sp>
      <p:sp>
        <p:nvSpPr>
          <p:cNvPr id="10" name="Shape 7"/>
          <p:cNvSpPr/>
          <p:nvPr/>
        </p:nvSpPr>
        <p:spPr>
          <a:xfrm>
            <a:off x="4526280" y="1874520"/>
            <a:ext cx="548640" cy="54864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41494" y="1989734"/>
            <a:ext cx="318211" cy="318211"/>
          </a:xfrm>
          <a:prstGeom prst="rect">
            <a:avLst/>
          </a:prstGeom>
        </p:spPr>
      </p:pic>
      <p:sp>
        <p:nvSpPr>
          <p:cNvPr id="12" name="Text 8"/>
          <p:cNvSpPr txBox="1"/>
          <p:nvPr/>
        </p:nvSpPr>
        <p:spPr>
          <a:xfrm>
            <a:off x="5212080" y="18745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Parallel, seeded augmentation</a:t>
            </a:r>
            <a:endParaRPr lang="en-US" sz="1600" dirty="0"/>
          </a:p>
        </p:txBody>
      </p:sp>
      <p:sp>
        <p:nvSpPr>
          <p:cNvPr id="13" name="Text 9"/>
          <p:cNvSpPr txBox="1"/>
          <p:nvPr/>
        </p:nvSpPr>
        <p:spPr>
          <a:xfrm>
            <a:off x="4526280" y="2514600"/>
            <a:ext cx="3108960" cy="1143000"/>
          </a:xfrm>
          <a:prstGeom prst="rect">
            <a:avLst/>
          </a:prstGeom>
          <a:noFill/>
          <a:ln/>
        </p:spPr>
        <p:txBody>
          <a:bodyPr wrap="square" lIns="0" tIns="0" rIns="0" bIns="0" rtlCol="0" anchor="t"/>
          <a:lstStyle/>
          <a:p>
            <a:pPr indent="0" marL="0">
              <a:buNone/>
            </a:pPr>
            <a:r>
              <a:rPr lang="en-US" sz="1300" dirty="0">
                <a:solidFill>
                  <a:schemeClr val="tx1"/>
                </a:solidFill>
              </a:rPr>
              <a:t>11 worker processes; each batch is seeded, so results are identical for any number of workers. One BLAS thread per worker: 957 → 2,884 images/s (3×).</a:t>
            </a:r>
            <a:endParaRPr lang="en-US" sz="1300" dirty="0"/>
          </a:p>
        </p:txBody>
      </p:sp>
      <p:sp>
        <p:nvSpPr>
          <p:cNvPr id="14" name="Shape 10"/>
          <p:cNvSpPr/>
          <p:nvPr/>
        </p:nvSpPr>
        <p:spPr>
          <a:xfrm>
            <a:off x="8046720" y="1645920"/>
            <a:ext cx="3520440" cy="2057400"/>
          </a:xfrm>
          <a:prstGeom prst="roundRect">
            <a:avLst>
              <a:gd name="adj" fmla="val 3556"/>
            </a:avLst>
          </a:prstGeom>
          <a:solidFill>
            <a:schemeClr val="bg2"/>
          </a:solidFill>
          <a:ln w="9525">
            <a:solidFill>
              <a:schemeClr val="bg2"/>
            </a:solidFill>
            <a:prstDash val="solid"/>
          </a:ln>
        </p:spPr>
      </p:sp>
      <p:sp>
        <p:nvSpPr>
          <p:cNvPr id="15" name="Shape 11"/>
          <p:cNvSpPr/>
          <p:nvPr/>
        </p:nvSpPr>
        <p:spPr>
          <a:xfrm>
            <a:off x="8275320" y="1874520"/>
            <a:ext cx="548640" cy="548640"/>
          </a:xfrm>
          <a:prstGeom prst="ellipse">
            <a:avLst/>
          </a:prstGeom>
          <a:solidFill>
            <a:schemeClr val="accent1"/>
          </a:solidFill>
          <a:ln w="63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390534" y="1989734"/>
            <a:ext cx="318211" cy="318211"/>
          </a:xfrm>
          <a:prstGeom prst="rect">
            <a:avLst/>
          </a:prstGeom>
        </p:spPr>
      </p:pic>
      <p:sp>
        <p:nvSpPr>
          <p:cNvPr id="17" name="Text 12"/>
          <p:cNvSpPr txBox="1"/>
          <p:nvPr/>
        </p:nvSpPr>
        <p:spPr>
          <a:xfrm>
            <a:off x="8961120" y="18745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Bytes to the GPU</a:t>
            </a:r>
            <a:endParaRPr lang="en-US" sz="1600" dirty="0"/>
          </a:p>
        </p:txBody>
      </p:sp>
      <p:sp>
        <p:nvSpPr>
          <p:cNvPr id="18" name="Text 13"/>
          <p:cNvSpPr txBox="1"/>
          <p:nvPr/>
        </p:nvSpPr>
        <p:spPr>
          <a:xfrm>
            <a:off x="8275320" y="2514600"/>
            <a:ext cx="3108960" cy="1143000"/>
          </a:xfrm>
          <a:prstGeom prst="rect">
            <a:avLst/>
          </a:prstGeom>
          <a:noFill/>
          <a:ln/>
        </p:spPr>
        <p:txBody>
          <a:bodyPr wrap="square" lIns="0" tIns="0" rIns="0" bIns="0" rtlCol="0" anchor="t"/>
          <a:lstStyle/>
          <a:p>
            <a:pPr indent="0" marL="0">
              <a:buNone/>
            </a:pPr>
            <a:r>
              <a:rPr lang="en-US" sz="1300" dirty="0">
                <a:solidFill>
                  <a:schemeClr val="tx1"/>
                </a:solidFill>
              </a:rPr>
              <a:t>Batches cross PCIe as uint8, 4× less data than float32, and are divided by 255 inside the model.</a:t>
            </a:r>
            <a:endParaRPr lang="en-US" sz="1300" dirty="0"/>
          </a:p>
        </p:txBody>
      </p:sp>
      <p:sp>
        <p:nvSpPr>
          <p:cNvPr id="19" name="Shape 14"/>
          <p:cNvSpPr/>
          <p:nvPr/>
        </p:nvSpPr>
        <p:spPr>
          <a:xfrm>
            <a:off x="2423160" y="3886200"/>
            <a:ext cx="3520440" cy="2057400"/>
          </a:xfrm>
          <a:prstGeom prst="roundRect">
            <a:avLst>
              <a:gd name="adj" fmla="val 3556"/>
            </a:avLst>
          </a:prstGeom>
          <a:solidFill>
            <a:schemeClr val="bg2"/>
          </a:solidFill>
          <a:ln w="9525">
            <a:solidFill>
              <a:schemeClr val="bg2"/>
            </a:solidFill>
            <a:prstDash val="solid"/>
          </a:ln>
        </p:spPr>
      </p:sp>
      <p:sp>
        <p:nvSpPr>
          <p:cNvPr id="20" name="Shape 15"/>
          <p:cNvSpPr/>
          <p:nvPr/>
        </p:nvSpPr>
        <p:spPr>
          <a:xfrm>
            <a:off x="2651760" y="4114800"/>
            <a:ext cx="548640" cy="548640"/>
          </a:xfrm>
          <a:prstGeom prst="ellipse">
            <a:avLst/>
          </a:prstGeom>
          <a:solidFill>
            <a:schemeClr val="accent1"/>
          </a:solidFill>
          <a:ln w="635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2766974" y="4230014"/>
            <a:ext cx="318211" cy="318211"/>
          </a:xfrm>
          <a:prstGeom prst="rect">
            <a:avLst/>
          </a:prstGeom>
        </p:spPr>
      </p:pic>
      <p:sp>
        <p:nvSpPr>
          <p:cNvPr id="22" name="Text 16"/>
          <p:cNvSpPr txBox="1"/>
          <p:nvPr/>
        </p:nvSpPr>
        <p:spPr>
          <a:xfrm>
            <a:off x="3337560" y="4114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XLA on the training step</a:t>
            </a:r>
            <a:endParaRPr lang="en-US" sz="1600" dirty="0"/>
          </a:p>
        </p:txBody>
      </p:sp>
      <p:sp>
        <p:nvSpPr>
          <p:cNvPr id="23" name="Text 17"/>
          <p:cNvSpPr txBox="1"/>
          <p:nvPr/>
        </p:nvSpPr>
        <p:spPr>
          <a:xfrm>
            <a:off x="2651760" y="4754880"/>
            <a:ext cx="3108960" cy="1143000"/>
          </a:xfrm>
          <a:prstGeom prst="rect">
            <a:avLst/>
          </a:prstGeom>
          <a:noFill/>
          <a:ln/>
        </p:spPr>
        <p:txBody>
          <a:bodyPr wrap="square" lIns="0" tIns="0" rIns="0" bIns="0" rtlCol="0" anchor="t"/>
          <a:lstStyle/>
          <a:p>
            <a:pPr indent="0" marL="0">
              <a:buNone/>
            </a:pPr>
            <a:r>
              <a:rPr lang="en-US" sz="1300" dirty="0">
                <a:solidFill>
                  <a:schemeClr val="tx1"/>
                </a:solidFill>
              </a:rPr>
              <a:t>Fused GPU kernels: 21.2 → 12.5 ms per step (1.7×). Evaluation stays uncompiled, so its smaller last batch never triggers a recompile.</a:t>
            </a:r>
            <a:endParaRPr lang="en-US" sz="1300" dirty="0"/>
          </a:p>
        </p:txBody>
      </p:sp>
      <p:sp>
        <p:nvSpPr>
          <p:cNvPr id="24" name="Shape 18"/>
          <p:cNvSpPr/>
          <p:nvPr/>
        </p:nvSpPr>
        <p:spPr>
          <a:xfrm>
            <a:off x="6172200" y="3886200"/>
            <a:ext cx="3520440" cy="2057400"/>
          </a:xfrm>
          <a:prstGeom prst="roundRect">
            <a:avLst>
              <a:gd name="adj" fmla="val 3556"/>
            </a:avLst>
          </a:prstGeom>
          <a:solidFill>
            <a:schemeClr val="bg2"/>
          </a:solidFill>
          <a:ln w="9525">
            <a:solidFill>
              <a:schemeClr val="bg2"/>
            </a:solidFill>
            <a:prstDash val="solid"/>
          </a:ln>
        </p:spPr>
      </p:sp>
      <p:sp>
        <p:nvSpPr>
          <p:cNvPr id="25" name="Shape 19"/>
          <p:cNvSpPr/>
          <p:nvPr/>
        </p:nvSpPr>
        <p:spPr>
          <a:xfrm>
            <a:off x="6400800" y="4114800"/>
            <a:ext cx="548640" cy="548640"/>
          </a:xfrm>
          <a:prstGeom prst="ellipse">
            <a:avLst/>
          </a:prstGeom>
          <a:solidFill>
            <a:schemeClr val="accent1"/>
          </a:solidFill>
          <a:ln w="635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6516014" y="4230014"/>
            <a:ext cx="318211" cy="318211"/>
          </a:xfrm>
          <a:prstGeom prst="rect">
            <a:avLst/>
          </a:prstGeom>
        </p:spPr>
      </p:pic>
      <p:sp>
        <p:nvSpPr>
          <p:cNvPr id="27" name="Text 20"/>
          <p:cNvSpPr txBox="1"/>
          <p:nvPr/>
        </p:nvSpPr>
        <p:spPr>
          <a:xfrm>
            <a:off x="7086600" y="41148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Same numerics, tested</a:t>
            </a:r>
            <a:endParaRPr lang="en-US" sz="1600" dirty="0"/>
          </a:p>
        </p:txBody>
      </p:sp>
      <p:sp>
        <p:nvSpPr>
          <p:cNvPr id="28" name="Text 21"/>
          <p:cNvSpPr txBox="1"/>
          <p:nvPr/>
        </p:nvSpPr>
        <p:spPr>
          <a:xfrm>
            <a:off x="6400800" y="4754880"/>
            <a:ext cx="3108960" cy="1143000"/>
          </a:xfrm>
          <a:prstGeom prst="rect">
            <a:avLst/>
          </a:prstGeom>
          <a:noFill/>
          <a:ln/>
        </p:spPr>
        <p:txBody>
          <a:bodyPr wrap="square" lIns="0" tIns="0" rIns="0" bIns="0" rtlCol="0" anchor="t"/>
          <a:lstStyle/>
          <a:p>
            <a:pPr indent="0" marL="0">
              <a:buNone/>
            </a:pPr>
            <a:r>
              <a:rPr lang="en-US" sz="1300" dirty="0">
                <a:solidFill>
                  <a:schemeClr val="tx1"/>
                </a:solidFill>
              </a:rPr>
              <a:t>float32 as in the paper (no mixed precision). 32 automated tests pin the recipe, e.g. the 4,223,934 parameters of Table 2.</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 OUR HYPOTHESIS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Two proposed changes, one variable at a time</a:t>
            </a:r>
            <a:endParaRPr lang="en-US" sz="3200" dirty="0"/>
          </a:p>
        </p:txBody>
      </p:sp>
      <p:sp>
        <p:nvSpPr>
          <p:cNvPr id="4" name="Shape 2"/>
          <p:cNvSpPr/>
          <p:nvPr/>
        </p:nvSpPr>
        <p:spPr>
          <a:xfrm>
            <a:off x="548640" y="1645920"/>
            <a:ext cx="5440680" cy="3657600"/>
          </a:xfrm>
          <a:prstGeom prst="roundRect">
            <a:avLst>
              <a:gd name="adj" fmla="val 2000"/>
            </a:avLst>
          </a:prstGeom>
          <a:solidFill>
            <a:schemeClr val="bg2"/>
          </a:solidFill>
          <a:ln w="9525">
            <a:solidFill>
              <a:schemeClr val="bg2"/>
            </a:solidFill>
            <a:prstDash val="solid"/>
          </a:ln>
        </p:spPr>
      </p:sp>
      <p:sp>
        <p:nvSpPr>
          <p:cNvPr id="5" name="Shape 3"/>
          <p:cNvSpPr/>
          <p:nvPr/>
        </p:nvSpPr>
        <p:spPr>
          <a:xfrm>
            <a:off x="777240" y="1828800"/>
            <a:ext cx="594360" cy="59436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02056" y="1953616"/>
            <a:ext cx="344729" cy="344729"/>
          </a:xfrm>
          <a:prstGeom prst="rect">
            <a:avLst/>
          </a:prstGeom>
        </p:spPr>
      </p:pic>
      <p:sp>
        <p:nvSpPr>
          <p:cNvPr id="7" name="Text 4"/>
          <p:cNvSpPr txBox="1"/>
          <p:nvPr/>
        </p:nvSpPr>
        <p:spPr>
          <a:xfrm>
            <a:off x="1554480" y="1783080"/>
            <a:ext cx="4297680" cy="731520"/>
          </a:xfrm>
          <a:prstGeom prst="rect">
            <a:avLst/>
          </a:prstGeom>
          <a:noFill/>
          <a:ln/>
        </p:spPr>
        <p:txBody>
          <a:bodyPr wrap="square" lIns="0" tIns="0" rIns="0" bIns="0" rtlCol="0" anchor="ctr"/>
          <a:lstStyle/>
          <a:p>
            <a:pPr indent="0" marL="0">
              <a:buNone/>
            </a:pPr>
            <a:r>
              <a:rPr lang="en-US" sz="1200" b="1" spc="100" kern="0" dirty="0">
                <a:solidFill>
                  <a:schemeClr val="accent1"/>
                </a:solidFill>
              </a:rPr>
              <a:t>H1 · VALIDATION</a:t>
            </a:r>
            <a:endParaRPr lang="en-US" sz="1400" dirty="0"/>
          </a:p>
          <a:p>
            <a:pPr indent="0" marL="0">
              <a:buNone/>
            </a:pPr>
            <a:r>
              <a:rPr lang="en-US" sz="1800" b="1" dirty="0">
                <a:solidFill>
                  <a:schemeClr val="tx1"/>
                </a:solidFill>
              </a:rPr>
              <a:t>Leakage-free, slide-grouped split</a:t>
            </a:r>
            <a:endParaRPr lang="en-US" sz="1400" dirty="0"/>
          </a:p>
        </p:txBody>
      </p:sp>
      <p:sp>
        <p:nvSpPr>
          <p:cNvPr id="8" name="Text 5"/>
          <p:cNvSpPr txBox="1"/>
          <p:nvPr/>
        </p:nvSpPr>
        <p:spPr>
          <a:xfrm>
            <a:off x="822960" y="2651760"/>
            <a:ext cx="4937760" cy="2560320"/>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6"/>
                </a:solidFill>
              </a:rPr>
              <a:t>CHANGE</a:t>
            </a:r>
            <a:endParaRPr lang="en-US" sz="1400" dirty="0"/>
          </a:p>
          <a:p>
            <a:pPr indent="0" marL="0">
              <a:spcAft>
                <a:spcPts val="400"/>
              </a:spcAft>
              <a:buNone/>
            </a:pPr>
            <a:r>
              <a:rPr lang="en-US" sz="1400" dirty="0">
                <a:solidFill>
                  <a:schemeClr val="tx1"/>
                </a:solidFill>
              </a:rPr>
              <a:t>Split by slide/patient (StratifiedGroupKFold) instead of random images. Model unchanged.</a:t>
            </a:r>
            <a:endParaRPr lang="en-US" sz="1400" dirty="0"/>
          </a:p>
          <a:p>
            <a:pPr indent="0" marL="0">
              <a:spcAft>
                <a:spcPts val="400"/>
              </a:spcAft>
              <a:buNone/>
            </a:pPr>
            <a:r>
              <a:rPr lang="en-US" sz="1100" b="1" spc="100" kern="0" dirty="0">
                <a:solidFill>
                  <a:schemeClr val="accent6"/>
                </a:solidFill>
              </a:rPr>
              <a:t>WE EXPECT</a:t>
            </a:r>
            <a:endParaRPr lang="en-US" sz="1400" dirty="0"/>
          </a:p>
          <a:p>
            <a:pPr indent="0" marL="0">
              <a:spcAft>
                <a:spcPts val="400"/>
              </a:spcAft>
              <a:buNone/>
            </a:pPr>
            <a:r>
              <a:rPr lang="en-US" sz="1400" dirty="0">
                <a:solidFill>
                  <a:schemeClr val="tx1"/>
                </a:solidFill>
              </a:rPr>
              <a:t>Accuracy and MCC fall below the image-split baseline, and fold-to-fold spread widens.</a:t>
            </a:r>
            <a:endParaRPr lang="en-US" sz="1400" dirty="0"/>
          </a:p>
          <a:p>
            <a:pPr indent="0" marL="0">
              <a:spcAft>
                <a:spcPts val="400"/>
              </a:spcAft>
              <a:buNone/>
            </a:pPr>
            <a:r>
              <a:rPr lang="en-US" sz="1100" b="1" spc="100" kern="0" dirty="0">
                <a:solidFill>
                  <a:schemeClr val="accent6"/>
                </a:solidFill>
              </a:rPr>
              <a:t>BECAUSE</a:t>
            </a:r>
            <a:endParaRPr lang="en-US" sz="1400" dirty="0"/>
          </a:p>
          <a:p>
            <a:pPr indent="0" marL="0">
              <a:spcAft>
                <a:spcPts val="400"/>
              </a:spcAft>
              <a:buNone/>
            </a:pPr>
            <a:r>
              <a:rPr lang="en-US" sz="1400" dirty="0">
                <a:solidFill>
                  <a:schemeClr val="tx1"/>
                </a:solidFill>
              </a:rPr>
              <a:t>Cells from one slide share stain, lighting and the patient's cell shape: a random split lets the model recognise the slide instead of the parasite.</a:t>
            </a:r>
            <a:endParaRPr lang="en-US" sz="1400" dirty="0"/>
          </a:p>
        </p:txBody>
      </p:sp>
      <p:sp>
        <p:nvSpPr>
          <p:cNvPr id="9" name="Shape 6"/>
          <p:cNvSpPr/>
          <p:nvPr/>
        </p:nvSpPr>
        <p:spPr>
          <a:xfrm>
            <a:off x="6172200" y="1645920"/>
            <a:ext cx="5440680" cy="3657600"/>
          </a:xfrm>
          <a:prstGeom prst="roundRect">
            <a:avLst>
              <a:gd name="adj" fmla="val 2000"/>
            </a:avLst>
          </a:prstGeom>
          <a:solidFill>
            <a:schemeClr val="bg2"/>
          </a:solidFill>
          <a:ln w="9525">
            <a:solidFill>
              <a:schemeClr val="bg2"/>
            </a:solidFill>
            <a:prstDash val="solid"/>
          </a:ln>
        </p:spPr>
      </p:sp>
      <p:sp>
        <p:nvSpPr>
          <p:cNvPr id="10" name="Shape 7"/>
          <p:cNvSpPr/>
          <p:nvPr/>
        </p:nvSpPr>
        <p:spPr>
          <a:xfrm>
            <a:off x="6400800" y="1828800"/>
            <a:ext cx="594360" cy="59436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525616" y="1953616"/>
            <a:ext cx="344729" cy="344729"/>
          </a:xfrm>
          <a:prstGeom prst="rect">
            <a:avLst/>
          </a:prstGeom>
        </p:spPr>
      </p:pic>
      <p:sp>
        <p:nvSpPr>
          <p:cNvPr id="12" name="Text 8"/>
          <p:cNvSpPr txBox="1"/>
          <p:nvPr/>
        </p:nvSpPr>
        <p:spPr>
          <a:xfrm>
            <a:off x="7178040" y="1783080"/>
            <a:ext cx="4297680" cy="731520"/>
          </a:xfrm>
          <a:prstGeom prst="rect">
            <a:avLst/>
          </a:prstGeom>
          <a:noFill/>
          <a:ln/>
        </p:spPr>
        <p:txBody>
          <a:bodyPr wrap="square" lIns="0" tIns="0" rIns="0" bIns="0" rtlCol="0" anchor="ctr"/>
          <a:lstStyle/>
          <a:p>
            <a:pPr indent="0" marL="0">
              <a:buNone/>
            </a:pPr>
            <a:r>
              <a:rPr lang="en-US" sz="1200" b="1" spc="100" kern="0" dirty="0">
                <a:solidFill>
                  <a:schemeClr val="accent1"/>
                </a:solidFill>
              </a:rPr>
              <a:t>H2 · PREPROCESSING</a:t>
            </a:r>
            <a:endParaRPr lang="en-US" sz="1400" dirty="0"/>
          </a:p>
          <a:p>
            <a:pPr indent="0" marL="0">
              <a:buNone/>
            </a:pPr>
            <a:r>
              <a:rPr lang="en-US" sz="1800" b="1" dirty="0">
                <a:solidFill>
                  <a:schemeClr val="tx1"/>
                </a:solidFill>
              </a:rPr>
              <a:t>YUV stain normalisation (Umer [4])</a:t>
            </a:r>
            <a:endParaRPr lang="en-US" sz="1400" dirty="0"/>
          </a:p>
        </p:txBody>
      </p:sp>
      <p:sp>
        <p:nvSpPr>
          <p:cNvPr id="13" name="Text 9"/>
          <p:cNvSpPr txBox="1"/>
          <p:nvPr/>
        </p:nvSpPr>
        <p:spPr>
          <a:xfrm>
            <a:off x="6446520" y="2651760"/>
            <a:ext cx="4937760" cy="2560320"/>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6"/>
                </a:solidFill>
              </a:rPr>
              <a:t>CHANGE</a:t>
            </a:r>
            <a:endParaRPr lang="en-US" sz="1400" dirty="0"/>
          </a:p>
          <a:p>
            <a:pPr indent="0" marL="0">
              <a:spcAft>
                <a:spcPts val="400"/>
              </a:spcAft>
              <a:buNone/>
            </a:pPr>
            <a:r>
              <a:rPr lang="en-US" sz="1400" dirty="0">
                <a:solidFill>
                  <a:schemeClr val="tx1"/>
                </a:solidFill>
              </a:rPr>
              <a:t>RGB → YUV → histogram-equalise Y → RGB before EfficientNet-B0. Grouped split kept fixed.</a:t>
            </a:r>
            <a:endParaRPr lang="en-US" sz="1400" dirty="0"/>
          </a:p>
          <a:p>
            <a:pPr indent="0" marL="0">
              <a:spcAft>
                <a:spcPts val="400"/>
              </a:spcAft>
              <a:buNone/>
            </a:pPr>
            <a:r>
              <a:rPr lang="en-US" sz="1100" b="1" spc="100" kern="0" dirty="0">
                <a:solidFill>
                  <a:schemeClr val="accent6"/>
                </a:solidFill>
              </a:rPr>
              <a:t>WE EXPECT</a:t>
            </a:r>
            <a:endParaRPr lang="en-US" sz="1400" dirty="0"/>
          </a:p>
          <a:p>
            <a:pPr indent="0" marL="0">
              <a:spcAft>
                <a:spcPts val="400"/>
              </a:spcAft>
              <a:buNone/>
            </a:pPr>
            <a:r>
              <a:rPr lang="en-US" sz="1400" dirty="0">
                <a:solidFill>
                  <a:schemeClr val="tx1"/>
                </a:solidFill>
              </a:rPr>
              <a:t>Higher recall and MCC than the H1 model on unseen slides; little change on the random split.</a:t>
            </a:r>
            <a:endParaRPr lang="en-US" sz="1400" dirty="0"/>
          </a:p>
          <a:p>
            <a:pPr indent="0" marL="0">
              <a:spcAft>
                <a:spcPts val="400"/>
              </a:spcAft>
              <a:buNone/>
            </a:pPr>
            <a:r>
              <a:rPr lang="en-US" sz="1100" b="1" spc="100" kern="0" dirty="0">
                <a:solidFill>
                  <a:schemeClr val="accent6"/>
                </a:solidFill>
              </a:rPr>
              <a:t>BECAUSE</a:t>
            </a:r>
            <a:endParaRPr lang="en-US" sz="1400" dirty="0"/>
          </a:p>
          <a:p>
            <a:pPr indent="0" marL="0">
              <a:spcAft>
                <a:spcPts val="400"/>
              </a:spcAft>
              <a:buNone/>
            </a:pPr>
            <a:r>
              <a:rPr lang="en-US" sz="1400" dirty="0">
                <a:solidFill>
                  <a:schemeClr val="tx1"/>
                </a:solidFill>
              </a:rPr>
              <a:t>Equalising brightness strips slide-specific colour cues, so the network has to rely on parasite shape, the signal that carries across labs.</a:t>
            </a:r>
            <a:endParaRPr lang="en-US" sz="1400" dirty="0"/>
          </a:p>
        </p:txBody>
      </p:sp>
      <p:sp>
        <p:nvSpPr>
          <p:cNvPr id="14" name="Shape 10"/>
          <p:cNvSpPr/>
          <p:nvPr/>
        </p:nvSpPr>
        <p:spPr>
          <a:xfrm>
            <a:off x="548640" y="5486400"/>
            <a:ext cx="11064240" cy="777240"/>
          </a:xfrm>
          <a:prstGeom prst="roundRect">
            <a:avLst>
              <a:gd name="adj" fmla="val 9412"/>
            </a:avLst>
          </a:prstGeom>
          <a:solidFill>
            <a:srgbClr val="E3F0F2"/>
          </a:solidFill>
          <a:ln w="9525">
            <a:solidFill>
              <a:srgbClr val="E3F0F2"/>
            </a:solidFill>
            <a:prstDash val="solid"/>
          </a:ln>
        </p:spPr>
      </p:sp>
      <p:sp>
        <p:nvSpPr>
          <p:cNvPr id="15" name="Shape 11"/>
          <p:cNvSpPr/>
          <p:nvPr/>
        </p:nvSpPr>
        <p:spPr>
          <a:xfrm>
            <a:off x="749808" y="5646420"/>
            <a:ext cx="457200" cy="457200"/>
          </a:xfrm>
          <a:prstGeom prst="ellipse">
            <a:avLst/>
          </a:prstGeom>
          <a:solidFill>
            <a:schemeClr val="accent1"/>
          </a:solidFill>
          <a:ln w="63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45820" y="5742432"/>
            <a:ext cx="265176" cy="265176"/>
          </a:xfrm>
          <a:prstGeom prst="rect">
            <a:avLst/>
          </a:prstGeom>
        </p:spPr>
      </p:pic>
      <p:sp>
        <p:nvSpPr>
          <p:cNvPr id="17" name="Text 12"/>
          <p:cNvSpPr txBox="1"/>
          <p:nvPr/>
        </p:nvSpPr>
        <p:spPr>
          <a:xfrm>
            <a:off x="1389888" y="5559552"/>
            <a:ext cx="10012680" cy="630936"/>
          </a:xfrm>
          <a:prstGeom prst="rect">
            <a:avLst/>
          </a:prstGeom>
          <a:noFill/>
          <a:ln/>
        </p:spPr>
        <p:txBody>
          <a:bodyPr wrap="square" lIns="0" tIns="0" rIns="0" bIns="0" rtlCol="0" anchor="ctr"/>
          <a:lstStyle/>
          <a:p>
            <a:pPr indent="0" marL="0">
              <a:buNone/>
            </a:pPr>
            <a:r>
              <a:rPr lang="en-US" sz="1300" dirty="0">
                <a:solidFill>
                  <a:schemeClr val="tx1"/>
                </a:solidFill>
              </a:rPr>
              <a:t>Falsifiable: if H2's gain over H1 is smaller than the fold-to-fold SD, we reject H2. If grouped and random splits score the same, H1 is rejected and leakage is not a real issue on this dataset.</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HOW WE WILL TEST IT</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Ablation plan and success criteria</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640080"/>
                <a:gridCol w="2011680"/>
                <a:gridCol w="1737360"/>
                <a:gridCol w="4572000"/>
                <a:gridCol w="2103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Preprocessing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answers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A0</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image-level (paper)</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Baseline: does our reproduction match the paper?</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b="1" dirty="0">
                          <a:solidFill>
                            <a:srgbClr val="2E8B6E"/>
                          </a:solidFill>
                          <a:latin typeface="Calibri" pitchFamily="34" charset="0"/>
                          <a:ea typeface="Calibri" pitchFamily="34" charset="-122"/>
                          <a:cs typeface="Calibri" pitchFamily="34" charset="-120"/>
                        </a:rPr>
                        <a:t>done ✓ · paper-exact, 10 folds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A1</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slide-grouped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H1: how big is the leakage gap (A0 − A1)?</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next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A2</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slide-grouped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YUV + hist-eq</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H2: does stain normalisation help on unseen slides (A2 − A1)?</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next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57200">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image-level</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YUV + hist-eq</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Control: is H2's gain specific to new slides (A3 − A0 ≈ 0)?</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next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251960"/>
            <a:ext cx="3520440" cy="1783080"/>
          </a:xfrm>
          <a:prstGeom prst="roundRect">
            <a:avLst>
              <a:gd name="adj" fmla="val 4103"/>
            </a:avLst>
          </a:prstGeom>
          <a:solidFill>
            <a:schemeClr val="bg2"/>
          </a:solidFill>
          <a:ln w="9525">
            <a:solidFill>
              <a:schemeClr val="bg2"/>
            </a:solidFill>
            <a:prstDash val="solid"/>
          </a:ln>
        </p:spPr>
      </p:sp>
      <p:sp>
        <p:nvSpPr>
          <p:cNvPr id="6" name="Shape 3"/>
          <p:cNvSpPr/>
          <p:nvPr/>
        </p:nvSpPr>
        <p:spPr>
          <a:xfrm>
            <a:off x="777240" y="4434840"/>
            <a:ext cx="502920" cy="502920"/>
          </a:xfrm>
          <a:prstGeom prst="ellipse">
            <a:avLst/>
          </a:prstGeom>
          <a:solidFill>
            <a:schemeClr val="accent1"/>
          </a:solidFill>
          <a:ln w="635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882853" y="4540453"/>
            <a:ext cx="291694" cy="291694"/>
          </a:xfrm>
          <a:prstGeom prst="rect">
            <a:avLst/>
          </a:prstGeom>
        </p:spPr>
      </p:pic>
      <p:sp>
        <p:nvSpPr>
          <p:cNvPr id="8" name="Text 4"/>
          <p:cNvSpPr txBox="1"/>
          <p:nvPr/>
        </p:nvSpPr>
        <p:spPr>
          <a:xfrm>
            <a:off x="1508760" y="4398264"/>
            <a:ext cx="2468880" cy="14630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Metrics</a:t>
            </a:r>
            <a:endParaRPr lang="en-US" sz="1400" dirty="0"/>
          </a:p>
          <a:p>
            <a:pPr indent="0" marL="0">
              <a:spcAft>
                <a:spcPts val="300"/>
              </a:spcAft>
              <a:buNone/>
            </a:pPr>
            <a:r>
              <a:rPr lang="en-US" sz="1300" dirty="0">
                <a:solidFill>
                  <a:schemeClr val="tx1"/>
                </a:solidFill>
              </a:rPr>
              <a:t>Accuracy, recall, MCC and ROC-AUC: mean ± SD over the 10 folds plus the hold-out ensemble.</a:t>
            </a:r>
            <a:endParaRPr lang="en-US" sz="1400" dirty="0"/>
          </a:p>
        </p:txBody>
      </p:sp>
      <p:sp>
        <p:nvSpPr>
          <p:cNvPr id="9" name="Shape 5"/>
          <p:cNvSpPr/>
          <p:nvPr/>
        </p:nvSpPr>
        <p:spPr>
          <a:xfrm>
            <a:off x="4297680" y="4251960"/>
            <a:ext cx="3520440" cy="1783080"/>
          </a:xfrm>
          <a:prstGeom prst="roundRect">
            <a:avLst>
              <a:gd name="adj" fmla="val 4103"/>
            </a:avLst>
          </a:prstGeom>
          <a:solidFill>
            <a:schemeClr val="bg2"/>
          </a:solidFill>
          <a:ln w="9525">
            <a:solidFill>
              <a:schemeClr val="bg2"/>
            </a:solidFill>
            <a:prstDash val="solid"/>
          </a:ln>
        </p:spPr>
      </p:sp>
      <p:sp>
        <p:nvSpPr>
          <p:cNvPr id="10" name="Shape 6"/>
          <p:cNvSpPr/>
          <p:nvPr/>
        </p:nvSpPr>
        <p:spPr>
          <a:xfrm>
            <a:off x="4526280" y="4434840"/>
            <a:ext cx="502920" cy="50292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31893" y="4540453"/>
            <a:ext cx="291694" cy="291694"/>
          </a:xfrm>
          <a:prstGeom prst="rect">
            <a:avLst/>
          </a:prstGeom>
        </p:spPr>
      </p:pic>
      <p:sp>
        <p:nvSpPr>
          <p:cNvPr id="12" name="Text 7"/>
          <p:cNvSpPr txBox="1"/>
          <p:nvPr/>
        </p:nvSpPr>
        <p:spPr>
          <a:xfrm>
            <a:off x="5257800" y="4398264"/>
            <a:ext cx="2468880" cy="14630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Clinical priority</a:t>
            </a:r>
            <a:endParaRPr lang="en-US" sz="1400" dirty="0"/>
          </a:p>
          <a:p>
            <a:pPr indent="0" marL="0">
              <a:spcAft>
                <a:spcPts val="300"/>
              </a:spcAft>
              <a:buNone/>
            </a:pPr>
            <a:r>
              <a:rPr lang="en-US" sz="1300" dirty="0">
                <a:solidFill>
                  <a:schemeClr val="tx1"/>
                </a:solidFill>
              </a:rPr>
              <a:t>Recall first: a missed parasitized cell costs more than a false alarm.</a:t>
            </a:r>
            <a:endParaRPr lang="en-US" sz="1400" dirty="0"/>
          </a:p>
        </p:txBody>
      </p:sp>
      <p:sp>
        <p:nvSpPr>
          <p:cNvPr id="13" name="Shape 8"/>
          <p:cNvSpPr/>
          <p:nvPr/>
        </p:nvSpPr>
        <p:spPr>
          <a:xfrm>
            <a:off x="8046720" y="4251960"/>
            <a:ext cx="3520440" cy="1783080"/>
          </a:xfrm>
          <a:prstGeom prst="roundRect">
            <a:avLst>
              <a:gd name="adj" fmla="val 4103"/>
            </a:avLst>
          </a:prstGeom>
          <a:solidFill>
            <a:schemeClr val="bg2"/>
          </a:solidFill>
          <a:ln w="9525">
            <a:solidFill>
              <a:schemeClr val="bg2"/>
            </a:solidFill>
            <a:prstDash val="solid"/>
          </a:ln>
        </p:spPr>
      </p:sp>
      <p:sp>
        <p:nvSpPr>
          <p:cNvPr id="14" name="Shape 9"/>
          <p:cNvSpPr/>
          <p:nvPr/>
        </p:nvSpPr>
        <p:spPr>
          <a:xfrm>
            <a:off x="8275320" y="4434840"/>
            <a:ext cx="502920" cy="502920"/>
          </a:xfrm>
          <a:prstGeom prst="ellipse">
            <a:avLst/>
          </a:prstGeom>
          <a:solidFill>
            <a:schemeClr val="accent1"/>
          </a:solidFill>
          <a:ln w="635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380933" y="4540453"/>
            <a:ext cx="291694" cy="291694"/>
          </a:xfrm>
          <a:prstGeom prst="rect">
            <a:avLst/>
          </a:prstGeom>
        </p:spPr>
      </p:pic>
      <p:sp>
        <p:nvSpPr>
          <p:cNvPr id="16" name="Text 10"/>
          <p:cNvSpPr txBox="1"/>
          <p:nvPr/>
        </p:nvSpPr>
        <p:spPr>
          <a:xfrm>
            <a:off x="9006840" y="4398264"/>
            <a:ext cx="2468880" cy="14630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Already built</a:t>
            </a:r>
            <a:endParaRPr lang="en-US" sz="1400" dirty="0"/>
          </a:p>
          <a:p>
            <a:pPr indent="0" marL="0">
              <a:spcAft>
                <a:spcPts val="300"/>
              </a:spcAft>
              <a:buNone/>
            </a:pPr>
            <a:r>
              <a:rPr lang="en-US" sz="1300" dirty="0">
                <a:solidFill>
                  <a:schemeClr val="tx1"/>
                </a:solidFill>
              </a:rPr>
              <a:t>Slide-grouped split and YUV are switches in the code; one 10-fold run takes ≈ 11 min per fold on RunPod.</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22960" y="685800"/>
            <a:ext cx="10515600" cy="365760"/>
          </a:xfrm>
          <a:prstGeom prst="rect">
            <a:avLst/>
          </a:prstGeom>
          <a:noFill/>
          <a:ln/>
        </p:spPr>
        <p:txBody>
          <a:bodyPr wrap="square" lIns="0" tIns="0" rIns="0" bIns="0" rtlCol="0" anchor="t"/>
          <a:lstStyle/>
          <a:p>
            <a:pPr indent="0" marL="0">
              <a:buNone/>
            </a:pPr>
            <a:r>
              <a:rPr lang="en-US" sz="1500" b="1" spc="200" kern="0" dirty="0">
                <a:solidFill>
                  <a:schemeClr val="accent2"/>
                </a:solidFill>
              </a:rPr>
              <a:t>CONCLUSION</a:t>
            </a:r>
            <a:endParaRPr lang="en-US" sz="1500" dirty="0"/>
          </a:p>
        </p:txBody>
      </p:sp>
      <p:sp>
        <p:nvSpPr>
          <p:cNvPr id="3" name="Text 1"/>
          <p:cNvSpPr txBox="1"/>
          <p:nvPr/>
        </p:nvSpPr>
        <p:spPr>
          <a:xfrm>
            <a:off x="822960" y="1051560"/>
            <a:ext cx="10515600" cy="822960"/>
          </a:xfrm>
          <a:prstGeom prst="rect">
            <a:avLst/>
          </a:prstGeom>
          <a:noFill/>
          <a:ln/>
        </p:spPr>
        <p:txBody>
          <a:bodyPr wrap="square" lIns="0" tIns="0" rIns="0" bIns="0" rtlCol="0" anchor="t"/>
          <a:lstStyle/>
          <a:p>
            <a:pPr indent="0" marL="0">
              <a:buNone/>
            </a:pPr>
            <a:r>
              <a:rPr lang="en-US" sz="4000" b="1" dirty="0">
                <a:solidFill>
                  <a:schemeClr val="bg1"/>
                </a:solidFill>
              </a:rPr>
              <a:t>Where we stand</a:t>
            </a:r>
            <a:endParaRPr lang="en-US" sz="4000" dirty="0"/>
          </a:p>
        </p:txBody>
      </p:sp>
      <p:sp>
        <p:nvSpPr>
          <p:cNvPr id="4" name="Shape 2"/>
          <p:cNvSpPr/>
          <p:nvPr/>
        </p:nvSpPr>
        <p:spPr>
          <a:xfrm>
            <a:off x="822960" y="214884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1832" y="2267712"/>
            <a:ext cx="329184" cy="329184"/>
          </a:xfrm>
          <a:prstGeom prst="rect">
            <a:avLst/>
          </a:prstGeom>
        </p:spPr>
      </p:pic>
      <p:sp>
        <p:nvSpPr>
          <p:cNvPr id="6" name="Text 3"/>
          <p:cNvSpPr txBox="1"/>
          <p:nvPr/>
        </p:nvSpPr>
        <p:spPr>
          <a:xfrm>
            <a:off x="1600200" y="21031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Reproduced</a:t>
            </a:r>
            <a:endParaRPr lang="en-US" sz="1400" dirty="0"/>
          </a:p>
          <a:p>
            <a:pPr indent="0" marL="0">
              <a:buNone/>
            </a:pPr>
            <a:r>
              <a:rPr lang="en-US" sz="1400" dirty="0">
                <a:solidFill>
                  <a:schemeClr val="accent2"/>
                </a:solidFill>
              </a:rPr>
              <a:t>The paper's recipe, rebuilt from its own code, lands within 1 pp on every metric (mean fold 97.55 vs 97.56 %).</a:t>
            </a:r>
            <a:endParaRPr lang="en-US" sz="1400" dirty="0"/>
          </a:p>
        </p:txBody>
      </p:sp>
      <p:sp>
        <p:nvSpPr>
          <p:cNvPr id="7" name="Shape 4"/>
          <p:cNvSpPr/>
          <p:nvPr/>
        </p:nvSpPr>
        <p:spPr>
          <a:xfrm>
            <a:off x="6309360" y="214884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428232" y="2267712"/>
            <a:ext cx="329184" cy="329184"/>
          </a:xfrm>
          <a:prstGeom prst="rect">
            <a:avLst/>
          </a:prstGeom>
        </p:spPr>
      </p:pic>
      <p:sp>
        <p:nvSpPr>
          <p:cNvPr id="9" name="Text 5"/>
          <p:cNvSpPr txBox="1"/>
          <p:nvPr/>
        </p:nvSpPr>
        <p:spPr>
          <a:xfrm>
            <a:off x="7086600" y="21031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Corrected</a:t>
            </a:r>
            <a:endParaRPr lang="en-US" sz="1400" dirty="0"/>
          </a:p>
          <a:p>
            <a:pPr indent="0" marL="0">
              <a:buNone/>
            </a:pPr>
            <a:r>
              <a:rPr lang="en-US" sz="1400" dirty="0">
                <a:solidFill>
                  <a:schemeClr val="accent2"/>
                </a:solidFill>
              </a:rPr>
              <a:t>The paper evaluates on augmented images and swaps precision and recall in its text; we report both views.</a:t>
            </a:r>
            <a:endParaRPr lang="en-US" sz="1400" dirty="0"/>
          </a:p>
        </p:txBody>
      </p:sp>
      <p:sp>
        <p:nvSpPr>
          <p:cNvPr id="10" name="Shape 6"/>
          <p:cNvSpPr/>
          <p:nvPr/>
        </p:nvSpPr>
        <p:spPr>
          <a:xfrm>
            <a:off x="822960" y="37490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941832" y="3867912"/>
            <a:ext cx="329184" cy="329184"/>
          </a:xfrm>
          <a:prstGeom prst="rect">
            <a:avLst/>
          </a:prstGeom>
        </p:spPr>
      </p:pic>
      <p:sp>
        <p:nvSpPr>
          <p:cNvPr id="12" name="Text 7"/>
          <p:cNvSpPr txBox="1"/>
          <p:nvPr/>
        </p:nvSpPr>
        <p:spPr>
          <a:xfrm>
            <a:off x="1600200" y="37033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Fast and shareable</a:t>
            </a:r>
            <a:endParaRPr lang="en-US" sz="1400" dirty="0"/>
          </a:p>
          <a:p>
            <a:pPr indent="0" marL="0">
              <a:buNone/>
            </a:pPr>
            <a:r>
              <a:rPr lang="en-US" sz="1400" dirty="0">
                <a:solidFill>
                  <a:schemeClr val="accent2"/>
                </a:solidFill>
              </a:rPr>
              <a:t>10 folds in parallel, ≈ 11 min each instead of ≈ 4 h 46 min; the trained models are published.</a:t>
            </a:r>
            <a:endParaRPr lang="en-US" sz="1400" dirty="0"/>
          </a:p>
        </p:txBody>
      </p:sp>
      <p:sp>
        <p:nvSpPr>
          <p:cNvPr id="13" name="Shape 8"/>
          <p:cNvSpPr/>
          <p:nvPr/>
        </p:nvSpPr>
        <p:spPr>
          <a:xfrm>
            <a:off x="6309360" y="3749040"/>
            <a:ext cx="566928" cy="566928"/>
          </a:xfrm>
          <a:prstGeom prst="ellipse">
            <a:avLst/>
          </a:prstGeom>
          <a:solidFill>
            <a:schemeClr val="accent1"/>
          </a:solidFill>
          <a:ln w="6350">
            <a:solidFill>
              <a:schemeClr val="accent1"/>
            </a:solidFill>
            <a:prstDash val="solid"/>
          </a:ln>
        </p:spPr>
      </p:sp>
      <p:pic>
        <p:nvPicPr>
          <p:cNvPr id="14" name="Image 3" descr="preencoded.png">    </p:cNvPr>
          <p:cNvPicPr>
            <a:picLocks noChangeAspect="1"/>
          </p:cNvPicPr>
          <p:nvPr/>
        </p:nvPicPr>
        <p:blipFill>
          <a:blip r:embed="rId4"/>
          <a:stretch>
            <a:fillRect/>
          </a:stretch>
        </p:blipFill>
        <p:spPr>
          <a:xfrm>
            <a:off x="6428232" y="3867912"/>
            <a:ext cx="329184" cy="329184"/>
          </a:xfrm>
          <a:prstGeom prst="rect">
            <a:avLst/>
          </a:prstGeom>
        </p:spPr>
      </p:pic>
      <p:sp>
        <p:nvSpPr>
          <p:cNvPr id="15" name="Text 9"/>
          <p:cNvSpPr txBox="1"/>
          <p:nvPr/>
        </p:nvSpPr>
        <p:spPr>
          <a:xfrm>
            <a:off x="7086600" y="37033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Next</a:t>
            </a:r>
            <a:endParaRPr lang="en-US" sz="1400" dirty="0"/>
          </a:p>
          <a:p>
            <a:pPr indent="0" marL="0">
              <a:buNone/>
            </a:pPr>
            <a:r>
              <a:rPr lang="en-US" sz="1400" dirty="0">
                <a:solidFill>
                  <a:schemeClr val="accent2"/>
                </a:solidFill>
              </a:rPr>
              <a:t>A1–A3 test whether 97–98 % holds on unseen slides (H1) and whether stain normalisation helps (H2).</a:t>
            </a:r>
            <a:endParaRPr lang="en-US" sz="1400" dirty="0"/>
          </a:p>
        </p:txBody>
      </p:sp>
      <p:sp>
        <p:nvSpPr>
          <p:cNvPr id="16" name="Text 10"/>
          <p:cNvSpPr txBox="1"/>
          <p:nvPr/>
        </p:nvSpPr>
        <p:spPr>
          <a:xfrm>
            <a:off x="822960" y="5532120"/>
            <a:ext cx="6400800" cy="457200"/>
          </a:xfrm>
          <a:prstGeom prst="rect">
            <a:avLst/>
          </a:prstGeom>
          <a:noFill/>
          <a:ln/>
        </p:spPr>
        <p:txBody>
          <a:bodyPr wrap="square" lIns="0" tIns="0" rIns="0" bIns="0" rtlCol="0" anchor="t"/>
          <a:lstStyle/>
          <a:p>
            <a:pPr indent="0" marL="0">
              <a:buNone/>
            </a:pPr>
            <a:r>
              <a:rPr lang="en-US" sz="2000" b="1" dirty="0">
                <a:solidFill>
                  <a:schemeClr val="bg1"/>
                </a:solidFill>
              </a:rPr>
              <a:t>Thank you · questions welcome</a:t>
            </a:r>
            <a:endParaRPr lang="en-US" sz="2000" dirty="0"/>
          </a:p>
        </p:txBody>
      </p:sp>
      <p:sp>
        <p:nvSpPr>
          <p:cNvPr id="17" name="Text 11"/>
          <p:cNvSpPr txBox="1"/>
          <p:nvPr/>
        </p:nvSpPr>
        <p:spPr>
          <a:xfrm>
            <a:off x="7223760" y="5577840"/>
            <a:ext cx="4206240" cy="411480"/>
          </a:xfrm>
          <a:prstGeom prst="rect">
            <a:avLst/>
          </a:prstGeom>
          <a:noFill/>
          <a:ln/>
        </p:spPr>
        <p:txBody>
          <a:bodyPr wrap="square" lIns="0" tIns="0" rIns="0" bIns="0" rtlCol="0" anchor="t"/>
          <a:lstStyle/>
          <a:p>
            <a:pPr algn="r" indent="0" marL="0">
              <a:buNone/>
            </a:pPr>
            <a:r>
              <a:rPr lang="en-US" sz="1400" dirty="0">
                <a:solidFill>
                  <a:schemeClr val="accent2"/>
                </a:solidFill>
              </a:rPr>
              <a:t>github.com/amathziah/malaria-detection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REFERENCES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The eleven reviewed studies</a:t>
            </a:r>
            <a:endParaRPr lang="en-US" sz="3200" dirty="0"/>
          </a:p>
        </p:txBody>
      </p:sp>
      <p:sp>
        <p:nvSpPr>
          <p:cNvPr id="4" name="Text 2"/>
          <p:cNvSpPr txBox="1"/>
          <p:nvPr/>
        </p:nvSpPr>
        <p:spPr>
          <a:xfrm>
            <a:off x="548640" y="1600200"/>
            <a:ext cx="5394960" cy="466344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[1] Z. Liang et al., "CNN-Based Image Analysis for Malaria Diagnosis," IEEE BIBM, 2016.</a:t>
            </a:r>
            <a:endParaRPr lang="en-US" sz="1400" dirty="0"/>
          </a:p>
          <a:p>
            <a:pPr indent="0" marL="0">
              <a:spcAft>
                <a:spcPts val="1000"/>
              </a:spcAft>
              <a:buNone/>
            </a:pPr>
            <a:r>
              <a:rPr lang="en-US" sz="1400" dirty="0">
                <a:solidFill>
                  <a:schemeClr val="tx1"/>
                </a:solidFill>
              </a:rPr>
              <a:t>[2] S. Rajaraman et al., "Pre-trained CNNs as feature extractors toward improved malaria parasite detection," PeerJ 6:e4568, 2018.</a:t>
            </a:r>
            <a:endParaRPr lang="en-US" sz="1400" dirty="0"/>
          </a:p>
          <a:p>
            <a:pPr indent="0" marL="0">
              <a:spcAft>
                <a:spcPts val="1000"/>
              </a:spcAft>
              <a:buNone/>
            </a:pPr>
            <a:r>
              <a:rPr lang="en-US" sz="1400" dirty="0">
                <a:solidFill>
                  <a:schemeClr val="tx1"/>
                </a:solidFill>
              </a:rPr>
              <a:t>[3] S. Rajaraman et al., "Performance evaluation of deep neural ensembles toward malaria parasite detection," PeerJ 7:e6977, 2019.</a:t>
            </a:r>
            <a:endParaRPr lang="en-US" sz="1400" dirty="0"/>
          </a:p>
          <a:p>
            <a:pPr indent="0" marL="0">
              <a:spcAft>
                <a:spcPts val="1000"/>
              </a:spcAft>
              <a:buNone/>
            </a:pPr>
            <a:r>
              <a:rPr lang="en-US" sz="1400" dirty="0">
                <a:solidFill>
                  <a:schemeClr val="tx1"/>
                </a:solidFill>
              </a:rPr>
              <a:t>[4] M. Umer et al., "A Novel Stacked CNN for Malarial Parasite Detection in Thin Blood Smear Images," IEEE Access 8, 2020.</a:t>
            </a:r>
            <a:endParaRPr lang="en-US" sz="1400" dirty="0"/>
          </a:p>
          <a:p>
            <a:pPr indent="0" marL="0">
              <a:spcAft>
                <a:spcPts val="1000"/>
              </a:spcAft>
              <a:buNone/>
            </a:pPr>
            <a:r>
              <a:rPr lang="en-US" sz="1400" dirty="0">
                <a:solidFill>
                  <a:schemeClr val="tx1"/>
                </a:solidFill>
              </a:rPr>
              <a:t>[5] K. M. F. Fuhad et al., "Deep Learning Based Automatic Malaria Parasite Detection … Smartphone Application," Diagnostics 10(5):329, 2020.</a:t>
            </a:r>
            <a:endParaRPr lang="en-US" sz="1400" dirty="0"/>
          </a:p>
          <a:p>
            <a:pPr indent="0" marL="0">
              <a:spcAft>
                <a:spcPts val="1000"/>
              </a:spcAft>
              <a:buNone/>
            </a:pPr>
            <a:r>
              <a:rPr lang="en-US" sz="1400" dirty="0">
                <a:solidFill>
                  <a:schemeClr val="tx1"/>
                </a:solidFill>
              </a:rPr>
              <a:t>[6] O. S. Zhao et al., "Convolutional neural networks to automate the screening of malaria in low-resource countries," PeerJ 8:e9674, 2020.</a:t>
            </a:r>
            <a:endParaRPr lang="en-US" sz="1400" dirty="0"/>
          </a:p>
        </p:txBody>
      </p:sp>
      <p:sp>
        <p:nvSpPr>
          <p:cNvPr id="5" name="Text 3"/>
          <p:cNvSpPr txBox="1"/>
          <p:nvPr/>
        </p:nvSpPr>
        <p:spPr>
          <a:xfrm>
            <a:off x="6217920" y="1600200"/>
            <a:ext cx="5394960" cy="466344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[7] M. Masud et al., "Leveraging Deep Learning Techniques for Malaria Parasite Detection Using Mobile Application," WCMC 2020:8895429.</a:t>
            </a:r>
            <a:endParaRPr lang="en-US" sz="1400" dirty="0"/>
          </a:p>
          <a:p>
            <a:pPr indent="0" marL="0">
              <a:spcAft>
                <a:spcPts val="1000"/>
              </a:spcAft>
              <a:buNone/>
            </a:pPr>
            <a:r>
              <a:rPr lang="en-US" sz="1400" dirty="0">
                <a:solidFill>
                  <a:schemeClr val="tx1"/>
                </a:solidFill>
              </a:rPr>
              <a:t>[8] G. Marques et al., "An ensemble-based approach for automated medical diagnosis of malaria using EfficientNet," MTAP 81, 2022 (base paper; code: Springer supplementary file MOESM1).</a:t>
            </a:r>
            <a:endParaRPr lang="en-US" sz="1400" dirty="0"/>
          </a:p>
          <a:p>
            <a:pPr indent="0" marL="0">
              <a:spcAft>
                <a:spcPts val="1000"/>
              </a:spcAft>
              <a:buNone/>
            </a:pPr>
            <a:r>
              <a:rPr lang="en-US" sz="1400" dirty="0">
                <a:solidFill>
                  <a:schemeClr val="tx1"/>
                </a:solidFill>
              </a:rPr>
              <a:t>[9] G. Madhu et al., "Intelligent diagnostic model … imperative inception-based capsule neural networks," Scientific Reports 13, 2023.</a:t>
            </a:r>
            <a:endParaRPr lang="en-US" sz="1400" dirty="0"/>
          </a:p>
          <a:p>
            <a:pPr indent="0" marL="0">
              <a:spcAft>
                <a:spcPts val="1000"/>
              </a:spcAft>
              <a:buNone/>
            </a:pPr>
            <a:r>
              <a:rPr lang="en-US" sz="1400" dirty="0">
                <a:solidFill>
                  <a:schemeClr val="tx1"/>
                </a:solidFill>
              </a:rPr>
              <a:t>[10] K. Hemachandran et al., "Performance Analysis of Deep Learning Algorithms in Diagnosis of Malaria Disease," Diagnostics 13(3):534, 2023.</a:t>
            </a:r>
            <a:endParaRPr lang="en-US" sz="1400" dirty="0"/>
          </a:p>
          <a:p>
            <a:pPr indent="0" marL="0">
              <a:spcAft>
                <a:spcPts val="1000"/>
              </a:spcAft>
              <a:buNone/>
            </a:pPr>
            <a:r>
              <a:rPr lang="en-US" sz="1400" dirty="0">
                <a:solidFill>
                  <a:schemeClr val="tx1"/>
                </a:solidFill>
              </a:rPr>
              <a:t>[11] M. Mujahid et al., "Efficient deep learning-based approach for malaria detection using red blood cell smears," Scientific Reports 14, 2024.</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alaria Phase 2">
  <a:themeElements>
    <a:clrScheme name="Malaria Phase 2">
      <a:dk1>
        <a:srgbClr val="1E293B"/>
      </a:dk1>
      <a:lt1>
        <a:srgbClr val="FFFFFF"/>
      </a:lt1>
      <a:dk2>
        <a:srgbClr val="0E3B43"/>
      </a:dk2>
      <a:lt2>
        <a:srgbClr val="EEF4F5"/>
      </a:lt2>
      <a:accent1>
        <a:srgbClr val="137C8E"/>
      </a:accent1>
      <a:accent2>
        <a:srgbClr val="9FC0C9"/>
      </a:accent2>
      <a:accent3>
        <a:srgbClr val="7B4B94"/>
      </a:accent3>
      <a:accent4>
        <a:srgbClr val="C9771A"/>
      </a:accent4>
      <a:accent5>
        <a:srgbClr val="2E8B6E"/>
      </a:accent5>
      <a:accent6>
        <a:srgbClr val="64748B"/>
      </a:accent6>
      <a:hlink>
        <a:srgbClr val="137C8E"/>
      </a:hlink>
      <a:folHlink>
        <a:srgbClr val="7B4B94"/>
      </a:folHlink>
    </a:clrScheme>
    <a:fontScheme name="Malaria Phase 2">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Rishihood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Malaria Cell Detection - Phase 2</dc:title>
  <dc:subject>PptxGenJS Presentation</dc:subject>
  <dc:creator>J Amathziah, C Murali Madhav, Ravi Yadav, Pugazhendhi J</dc:creator>
  <cp:lastModifiedBy>J Amathziah, C Murali Madhav, Ravi Yadav, Pugazhendhi J</cp:lastModifiedBy>
  <cp:revision>1</cp:revision>
  <dcterms:created xsi:type="dcterms:W3CDTF">2026-10-06T04:16:44Z</dcterms:created>
  <dcterms:modified xsi:type="dcterms:W3CDTF">2026-10-06T04:16:44Z</dcterms:modified>
</cp:coreProperties>
</file>