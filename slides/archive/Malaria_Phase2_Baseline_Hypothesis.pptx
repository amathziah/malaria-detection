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23"/>
    <p:sldId id="273" r:id="rId24"/>
    <p:sldId id="274" r:id="rId25"/>
    <p:sldId id="275" r:id="rId26"/>
    <p:sldId id="276" r:id="rId27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37C8E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726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Zhao [6]</c:v>
                  </c:pt>
                  <c:pt idx="1">
                    <c:v>Hemachandran [10]</c:v>
                  </c:pt>
                  <c:pt idx="2">
                    <c:v>Masud [7]</c:v>
                  </c:pt>
                  <c:pt idx="3">
                    <c:v>Liang [1]</c:v>
                  </c:pt>
                  <c:pt idx="4">
                    <c:v>Mujahid [11]</c:v>
                  </c:pt>
                  <c:pt idx="5">
                    <c:v>Marques [8]</c:v>
                  </c:pt>
                  <c:pt idx="6">
                    <c:v>Fuhad [5]</c:v>
                  </c:pt>
                  <c:pt idx="7">
                    <c:v>Madhu [9]</c:v>
                  </c:pt>
                  <c:pt idx="8">
                    <c:v>Umer [4]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96.5</c:v>
                </c:pt>
                <c:pt idx="1">
                  <c:v>97.06</c:v>
                </c:pt>
                <c:pt idx="2">
                  <c:v>97.3</c:v>
                </c:pt>
                <c:pt idx="3">
                  <c:v>97.37</c:v>
                </c:pt>
                <c:pt idx="4">
                  <c:v>97.57</c:v>
                </c:pt>
                <c:pt idx="5">
                  <c:v>98.29</c:v>
                </c:pt>
                <c:pt idx="6">
                  <c:v>99.23</c:v>
                </c:pt>
                <c:pt idx="7">
                  <c:v>99.35</c:v>
                </c:pt>
                <c:pt idx="8">
                  <c:v>99.96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1726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26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.5"/>
          <c:min val="94"/>
        </c:scaling>
        <c:delete val="0"/>
        <c:axPos val="b"/>
        <c:majorGridlines>
          <c:spPr>
            <a:ln w="9525" cap="flat">
              <a:solidFill>
                <a:srgbClr val="DCE7EB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C8B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here. Title + team. Say: 'We reviewed 11 key studies on automated malaria detection using the NIH cell dataset — here's what the field has learned and the gaps we'll target.' [Presenter: Pugazhendhi J]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Motivation. Gold standard = manual microscopy of Giemsa-stained smears. Three problems: slow, expert-dependent, subjective. Land the opportunity line: an automated system is fast, consistent, deployable. [Presenter: Pugazhendhi J]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problem statement — read the big statement verbatim once. Then the 3 scope chips: binary task, deep networks (no hand-crafted features), point-of-care goal. Note this talk = Stage 1, the literature survey. [Presenter: Pugazhendhi J]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everyone uses: NIH, 27,558 balanced single-cell images, 200 patients, Chittagong Bangladesh. Point at the two cells — parasite = violet specks. Flag Fuhad's label correction to 26,161 (foreshadows a gap). [Presenter: Pugazhendhi J]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off to Amathziah. This is the story slide — walk left to right along the timeline: 2016 custom CNN → 2018 feature extraction → 2019 ensembles → 2020 lightweight/mobile → 2022-24 capsules &amp; benchmarking. [Presenter: J Amathziah]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1. Liang: a purpose-built 16-layer CNN (97.37%) beat generic AlexNet features (91.99%) — domain features win. Rajaraman [2] then mapped which pretrained layers transfer best. Insight: accuracy vs compute tension starts here. [Presenter: J Amathziah]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 ensembles. Single CNNs are high-variance; averaging diverse models is steadier. Rajaraman [3]: VGG-19+SqueezeNet cuts variance. Marques [8]: 10-fold EfficientNet ensemble → 98.29%. Catch: heavy &amp; slow → motivates lightweight. [Presenter: J Amathziah]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 lightweight/mobile. Fuhad: 99.23% at only 4,600 FLOPS, &lt;1s on a phone. Masud: 409K-param CNN, cyclical LR, ~97 min, no augmentation. Zhao: super-resolution + tested a 2nd species. Theme: optimise for size/speed. [Presenter: J Amathziah]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off to Murali. Two ideas. Madhu's capsule net keeps spatial/pose info that pooling throws away — 99.35%. Umer's 5-step YUV pipeline normalises staining so the model can't cheat on stain colour — ~99.9%. [Presenter: C Murali Madhav]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5 benchmarking. Hemachandran: MobileNetV2 (97.06%) matches heavy ResNet. Mujahid: a tuned custom 12-layer CNN (97.57%) beats 11 pretrained nets. Verdict: lightweight ≈ heavy — efficiency is a real design goal. [Presenter: C Murali Madhav]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at-a-glance table — don't read every row. Point out the spread of methods and that top accuracies cluster at 96-100%. Set up the caveat: these numbers are NOT directly comparable. [Presenter: C Murali Madhav]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accuracy chart. All studies land 96-100%. BUT read with care (right panel): different splits, different data cleanliness, possible patient-level leakage. This caveat leads straight into the research gaps. [Presenter: C Murali Madhav]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off to Ravi. THE BONUS Kartik asked for — four gaps none of the papers fully solve: (1) patient-level data leakage, (2) single-species focus, (3) noisy labels, (4) raw thick-smear clinical workflow. Spend time here. [Presenter: Ravi Yadav]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 gaps into our plan: YUV normalization (Umer), Fuhad's corrected dataset, patient-level 5-fold CV (Rajaraman), lightweight architecture (Masud/Fuhad). The review is our roadmap. [Presenter: Ravi Yadav]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Conclusion. Field matured from proof-of-concept → deployment-aware; accuracy is largely solved on clean data, open problems are trust &amp; deployment. Then our 5 next stages: base paper → reproduce → hypothesise → ablate → write up. [Presenter: Ravi Yadav]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References + thank you. Invite questions, especially on our chosen research gap (patient-level leakage). Have the cheat-sheet numbers ready. [Presenter: Ravi Yadav]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2 opener and brief introduction. Recap the problem in one breath: manual microscopy is slow, subjective, and needs an expert. Then the key finding that carries over from Phase 1: published accuracies are high, but most papers split images at random, so the same patient's cells appear in training and testing. This phase has three steps: pick Marques [8] as the base paper, reproduce it, then state our hypothesis.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this base paper. Four reasons: open-source code, so we can reproduce it faithfully; the strictest validation in our review (stratified 10-fold); a light backbone in line with our deployability goal; and results that are strong but not 99.9 %, so a change can move them either way. Walk the pipeline top to bottom, then land the four target numbers we have to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Reproduction. Left: we kept every setting the paper reports. Amber rows are where the paper is silent (augmentation details, epochs) or where we cut compute (3 of 10 folds on a free GPU). Right: paper vs. ours. FILL THE 'OURS' COLUMN with the table printed by the last cell of the notebook before presenting. If we're within about 1 point, the reproduction counts as successful and this is our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hypothesis. Two proposed changes, each changing exactly one thing. H1: switch to a slide-grouped split. We expect the reported accuracy to drop because the model can no longer recognise a slide it already saw in training. H2: keep the honest split and add Umer's YUV histogram-equalisation. We expect recall and MCC to recover, because stain colour stops being a shortcut. Close on the falsification rule: we say in advance what result would prove us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we will test the hypothesis next milestone. A0 is done: that's the reproduction. A1 removes leakage (H1). A2 adds stain normalisation on top (H2). A3 is a control showing that any gain is about generalising to new slides, not a general boost. We report recall and MCC alongside accuracy, as mean ± SD over folds. All of these are already built into the notebook as on/off switches.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-3-1.png"/><Relationship Id="rId3" Type="http://schemas.openxmlformats.org/officeDocument/2006/relationships/image" Target="../media/image-3-3.png"/><Relationship Id="rId4" Type="http://schemas.openxmlformats.org/officeDocument/2006/relationships/image" Target="../media/image-9-2.png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-4-1.png"/><Relationship Id="rId3" Type="http://schemas.openxmlformats.org/officeDocument/2006/relationships/image" Target="../media/image-7-3.png"/><Relationship Id="rId4" Type="http://schemas.openxmlformats.org/officeDocument/2006/relationships/image" Target="../media/image-3-4.png"/><Relationship Id="rId5" Type="http://schemas.openxmlformats.org/officeDocument/2006/relationships/image" Target="../media/image-3-1.png"/><Relationship Id="rId6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-13-1.png"/><Relationship Id="rId3" Type="http://schemas.openxmlformats.org/officeDocument/2006/relationships/image" Target="../media/image-9-2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-7-2.png"/><Relationship Id="rId3" Type="http://schemas.openxmlformats.org/officeDocument/2006/relationships/image" Target="../media/image-12-1.png"/><Relationship Id="rId4" Type="http://schemas.openxmlformats.org/officeDocument/2006/relationships/image" Target="../media/image-4-1.png"/><Relationship Id="rId5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52760" y="137160"/>
            <a:ext cx="1371600" cy="1371600"/>
          </a:xfrm>
          <a:prstGeom prst="ellipse">
            <a:avLst/>
          </a:prstGeom>
          <a:solidFill>
            <a:srgbClr val="137C8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11712" y="1444752"/>
            <a:ext cx="768096" cy="768096"/>
          </a:xfrm>
          <a:prstGeom prst="ellipse">
            <a:avLst/>
          </a:prstGeom>
          <a:solidFill>
            <a:srgbClr val="2EA79B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42448" y="1298448"/>
            <a:ext cx="512064" cy="512064"/>
          </a:xfrm>
          <a:prstGeom prst="ellipse">
            <a:avLst/>
          </a:prstGeom>
          <a:solidFill>
            <a:srgbClr val="8A43B0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82880" y="5303520"/>
            <a:ext cx="1645920" cy="1645920"/>
          </a:xfrm>
          <a:prstGeom prst="ellipse">
            <a:avLst/>
          </a:prstGeom>
          <a:solidFill>
            <a:srgbClr val="137C8E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5943600"/>
            <a:ext cx="731520" cy="731520"/>
          </a:xfrm>
          <a:prstGeom prst="ellipse">
            <a:avLst/>
          </a:prstGeom>
          <a:solidFill>
            <a:srgbClr val="8A43B0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82880" y="4846320"/>
            <a:ext cx="548640" cy="548640"/>
          </a:xfrm>
          <a:prstGeom prst="ellipse">
            <a:avLst/>
          </a:prstGeom>
          <a:solidFill>
            <a:srgbClr val="2EA79B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109960" y="5440680"/>
            <a:ext cx="1005840" cy="1005840"/>
          </a:xfrm>
          <a:prstGeom prst="ellipse">
            <a:avLst/>
          </a:prstGeom>
          <a:solidFill>
            <a:srgbClr val="137C8E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6126480"/>
            <a:ext cx="548640" cy="548640"/>
          </a:xfrm>
          <a:prstGeom prst="ellipse">
            <a:avLst/>
          </a:prstGeom>
          <a:solidFill>
            <a:srgbClr val="2EA79B">
              <a:alpha val="45000"/>
            </a:srgbClr>
          </a:solidFill>
          <a:ln/>
        </p:spPr>
      </p:sp>
      <p:pic>
        <p:nvPicPr>
          <p:cNvPr id="10" name="Image 0" descr="/tmp/build/assets/cell_infec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411480"/>
            <a:ext cx="1371600" cy="13716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22960" y="1417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E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COMPUTER-AIDED DIAGNOSIS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1810512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Malaria Cell Detection</a:t>
            </a:r>
            <a:endParaRPr lang="en-US" sz="47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26700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i="1" dirty="0">
                <a:solidFill>
                  <a:srgbClr val="BFDC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the NIH Malaria Cell Images Dataset</a:t>
            </a:r>
            <a:endParaRPr lang="en-US" sz="2700" dirty="0"/>
          </a:p>
        </p:txBody>
      </p:sp>
      <p:sp>
        <p:nvSpPr>
          <p:cNvPr id="14" name="Shape 11"/>
          <p:cNvSpPr/>
          <p:nvPr/>
        </p:nvSpPr>
        <p:spPr>
          <a:xfrm>
            <a:off x="822960" y="3529584"/>
            <a:ext cx="5486400" cy="457200"/>
          </a:xfrm>
          <a:prstGeom prst="roundRect">
            <a:avLst>
              <a:gd name="adj" fmla="val 50000"/>
            </a:avLst>
          </a:prstGeom>
          <a:solidFill>
            <a:srgbClr val="8A43B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" y="352958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 →  BASELINE &amp; HYPOTHESIS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822960" y="4526280"/>
            <a:ext cx="2606040" cy="932688"/>
          </a:xfrm>
          <a:prstGeom prst="roundRect">
            <a:avLst>
              <a:gd name="adj" fmla="val 7843"/>
            </a:avLst>
          </a:prstGeom>
          <a:solidFill>
            <a:srgbClr val="15455A"/>
          </a:solidFill>
          <a:ln w="12700">
            <a:solidFill>
              <a:srgbClr val="0E627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87552" y="469087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Pugazhendhi J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987552" y="5056632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230066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547872" y="4526280"/>
            <a:ext cx="2606040" cy="932688"/>
          </a:xfrm>
          <a:prstGeom prst="roundRect">
            <a:avLst>
              <a:gd name="adj" fmla="val 7843"/>
            </a:avLst>
          </a:prstGeom>
          <a:solidFill>
            <a:srgbClr val="15455A"/>
          </a:solidFill>
          <a:ln w="12700">
            <a:solidFill>
              <a:srgbClr val="0E627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712464" y="469087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Amathziah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3712464" y="5056632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230139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72784" y="4526280"/>
            <a:ext cx="2606040" cy="932688"/>
          </a:xfrm>
          <a:prstGeom prst="roundRect">
            <a:avLst>
              <a:gd name="adj" fmla="val 7843"/>
            </a:avLst>
          </a:prstGeom>
          <a:solidFill>
            <a:srgbClr val="15455A"/>
          </a:solidFill>
          <a:ln w="12700">
            <a:solidFill>
              <a:srgbClr val="0E627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37376" y="469087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Murali Madhav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437376" y="5056632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230115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997696" y="4526280"/>
            <a:ext cx="2606040" cy="932688"/>
          </a:xfrm>
          <a:prstGeom prst="roundRect">
            <a:avLst>
              <a:gd name="adj" fmla="val 7843"/>
            </a:avLst>
          </a:prstGeom>
          <a:solidFill>
            <a:srgbClr val="15455A"/>
          </a:solidFill>
          <a:ln w="12700">
            <a:solidFill>
              <a:srgbClr val="0E627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162288" y="469087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Yadav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9162288" y="5056632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230131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822960" y="5742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B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· Rishihood University, Sonipat, India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3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malaria diagnosis need automation?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clinical gold standard is manual microscopy of </a:t>
            </a:r>
            <a:pPr indent="0" marL="0">
              <a:lnSpc>
                <a:spcPct val="108000"/>
              </a:lnSpc>
              <a:buNone/>
            </a:pPr>
            <a:r>
              <a:rPr lang="en-US" sz="1650" b="1" dirty="0">
                <a:solidFill>
                  <a:srgbClr val="6C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Giemsa-stained blood smears</a:t>
            </a:r>
            <a:pPr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technician visually inspects each cell for parasites. It works, but it doesn't scale.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2788920"/>
          </a:xfrm>
          <a:prstGeom prst="roundRect">
            <a:avLst>
              <a:gd name="adj" fmla="val 2951"/>
            </a:avLst>
          </a:prstGeom>
          <a:solidFill>
            <a:srgbClr val="F5F9FA"/>
          </a:solidFill>
          <a:ln w="12700">
            <a:solidFill>
              <a:srgbClr val="D3E1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06040"/>
            <a:ext cx="1005840" cy="1005840"/>
          </a:xfrm>
          <a:prstGeom prst="ellipse">
            <a:avLst/>
          </a:prstGeom>
          <a:solidFill>
            <a:srgbClr val="137C8E"/>
          </a:solidFill>
          <a:ln/>
        </p:spPr>
      </p:sp>
      <p:pic>
        <p:nvPicPr>
          <p:cNvPr id="7" name="Image 0" descr="/tmp/build/assets/ic_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362" y="28474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37673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&amp; laborious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22452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slide holds hundreds of cells; a microscopist counts them one by one, limiting large-scale screening.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25112" y="2286000"/>
            <a:ext cx="3520440" cy="2788920"/>
          </a:xfrm>
          <a:prstGeom prst="roundRect">
            <a:avLst>
              <a:gd name="adj" fmla="val 2951"/>
            </a:avLst>
          </a:prstGeom>
          <a:solidFill>
            <a:srgbClr val="F5F9FA"/>
          </a:solidFill>
          <a:ln w="12700">
            <a:solidFill>
              <a:srgbClr val="D3E1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C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9432" y="2606040"/>
            <a:ext cx="1005840" cy="1005840"/>
          </a:xfrm>
          <a:prstGeom prst="ellipse">
            <a:avLst/>
          </a:prstGeom>
          <a:solidFill>
            <a:srgbClr val="8A43B0"/>
          </a:solidFill>
          <a:ln/>
        </p:spPr>
      </p:sp>
      <p:pic>
        <p:nvPicPr>
          <p:cNvPr id="12" name="Image 1" descr="/tmp/build/assets/ic_doc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0834" y="2847442"/>
            <a:ext cx="523037" cy="52303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45152" y="37673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Expert-dependent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4645152" y="422452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hinges on a trained microscopist's skill — scarce in the rural, endemic regions that need it most.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101584" y="2286000"/>
            <a:ext cx="3520440" cy="2788920"/>
          </a:xfrm>
          <a:prstGeom prst="roundRect">
            <a:avLst>
              <a:gd name="adj" fmla="val 2951"/>
            </a:avLst>
          </a:prstGeom>
          <a:solidFill>
            <a:srgbClr val="F5F9FA"/>
          </a:solidFill>
          <a:ln w="12700">
            <a:solidFill>
              <a:srgbClr val="D3E1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C">
                <a:alpha val="2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75904" y="2606040"/>
            <a:ext cx="1005840" cy="1005840"/>
          </a:xfrm>
          <a:prstGeom prst="ellipse">
            <a:avLst/>
          </a:prstGeom>
          <a:solidFill>
            <a:srgbClr val="CC4A3F"/>
          </a:solidFill>
          <a:ln/>
        </p:spPr>
      </p:sp>
      <p:pic>
        <p:nvPicPr>
          <p:cNvPr id="17" name="Image 2" descr="/tmp/build/assets/ic_sw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7306" y="2847442"/>
            <a:ext cx="523037" cy="52303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21624" y="37673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Subjective &amp; inconsistent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8421624" y="422452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vary between (and within) observers and across labs, so the same smear can yield different diagnoses.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0F2E3D"/>
          </a:solidFill>
          <a:ln/>
        </p:spPr>
      </p:sp>
      <p:sp>
        <p:nvSpPr>
          <p:cNvPr id="21" name="Shape 16"/>
          <p:cNvSpPr/>
          <p:nvPr/>
        </p:nvSpPr>
        <p:spPr>
          <a:xfrm>
            <a:off x="905256" y="5449824"/>
            <a:ext cx="658368" cy="658368"/>
          </a:xfrm>
          <a:prstGeom prst="ellipse">
            <a:avLst/>
          </a:prstGeom>
          <a:solidFill>
            <a:srgbClr val="2EA79B"/>
          </a:solidFill>
          <a:ln/>
        </p:spPr>
      </p:sp>
      <p:pic>
        <p:nvPicPr>
          <p:cNvPr id="22" name="Image 3" descr="/tmp/build/assets/ic_bo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5614416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783080" y="534924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E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opportunity: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E8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deep-learning system that screens cells automatically — fast, consistent, and deployable where experts are not.</a:t>
            </a:r>
            <a:endParaRPr lang="en-US" sz="155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· Automated Malaria Cell Detection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3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set out to build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1737360"/>
          </a:xfrm>
          <a:prstGeom prst="roundRect">
            <a:avLst>
              <a:gd name="adj" fmla="val 4737"/>
            </a:avLst>
          </a:prstGeom>
          <a:solidFill>
            <a:srgbClr val="EAF3F5"/>
          </a:solidFill>
          <a:ln w="12700">
            <a:solidFill>
              <a:srgbClr val="D3E1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C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00100" y="1851660"/>
            <a:ext cx="1051560" cy="1051560"/>
          </a:xfrm>
          <a:prstGeom prst="ellipse">
            <a:avLst/>
          </a:prstGeom>
          <a:solidFill>
            <a:srgbClr val="137C8E"/>
          </a:solidFill>
          <a:ln/>
        </p:spPr>
        <p:txBody>
          <a:bodyPr/>
          <a:p/>
        </p:txBody>
      </p:sp>
      <p:pic>
        <p:nvPicPr>
          <p:cNvPr id="6" name="Image 0" descr="/tmp/build/assets/ic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2114550"/>
            <a:ext cx="525780" cy="5257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148840" y="1737360"/>
            <a:ext cx="9235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 an automated deep-learning system that detects malaria parasites in red-blood-cell images</a:t>
            </a:r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415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making screening more </a:t>
            </a:r>
            <a:pPr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6C2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accurate, consistent, fast</a:t>
            </a:r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415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and potentially deployable on low-resource / mobile devices.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352044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F5F9FA"/>
          </a:solidFill>
          <a:ln w="12700">
            <a:solidFill>
              <a:srgbClr val="D3E1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C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749808" y="3721608"/>
            <a:ext cx="731520" cy="731520"/>
          </a:xfrm>
          <a:prstGeom prst="ellipse">
            <a:avLst/>
          </a:prstGeom>
          <a:solidFill>
            <a:srgbClr val="137C8E"/>
          </a:solidFill>
          <a:ln/>
        </p:spPr>
        <p:txBody>
          <a:bodyPr/>
          <a:p/>
        </p:txBody>
      </p:sp>
      <p:pic>
        <p:nvPicPr>
          <p:cNvPr id="10" name="Image 1" descr="/tmp/build/assets/ic_magnif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373" y="3897173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00200" y="37764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445312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of single RBC crops: parasitized vs. uninfected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325112" y="352044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F5F9FA"/>
          </a:solidFill>
          <a:ln w="12700">
            <a:solidFill>
              <a:srgbClr val="D3E1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C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4526280" y="3721608"/>
            <a:ext cx="731520" cy="731520"/>
          </a:xfrm>
          <a:prstGeom prst="ellipse">
            <a:avLst/>
          </a:prstGeom>
          <a:solidFill>
            <a:srgbClr val="8A43B0"/>
          </a:solidFill>
          <a:ln/>
        </p:spPr>
        <p:txBody>
          <a:bodyPr/>
          <a:p/>
        </p:txBody>
      </p:sp>
      <p:pic>
        <p:nvPicPr>
          <p:cNvPr id="15" name="Image 2" descr="/tmp/build/assets/ic_gea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845" y="3897173"/>
            <a:ext cx="380390" cy="38039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76672" y="37764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645152" y="445312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/ capsule deep networks — no hand-crafted features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8101584" y="352044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F5F9FA"/>
          </a:solidFill>
          <a:ln w="12700">
            <a:solidFill>
              <a:srgbClr val="D3E1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C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8302752" y="3721608"/>
            <a:ext cx="731520" cy="731520"/>
          </a:xfrm>
          <a:prstGeom prst="ellipse">
            <a:avLst/>
          </a:prstGeom>
          <a:solidFill>
            <a:srgbClr val="2EA79B"/>
          </a:solidFill>
          <a:ln/>
        </p:spPr>
        <p:txBody>
          <a:bodyPr/>
          <a:p/>
        </p:txBody>
      </p:sp>
      <p:pic>
        <p:nvPicPr>
          <p:cNvPr id="20" name="Image 3" descr="/tmp/build/assets/ic_mobi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8317" y="3897173"/>
            <a:ext cx="380390" cy="38039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153144" y="37764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8421624" y="445312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 reliable and light enough for point-of-care use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32180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 </a:t>
            </a:r>
            <a:pPr indent="0" marL="0">
              <a:buNone/>
            </a:pPr>
            <a:r>
              <a:rPr lang="en-US" sz="140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literature survey of 11 studies (slides 4–15).  Stage 2 — reproduce the base paper and state our hypothesis (slides 16–20).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· Automated Malaria Cell Detection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3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NIH Malaria Cell Images Dataset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common benchmark across </a:t>
            </a:r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6C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11 studies</a:t>
            </a:r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Built from Giemsa-stained thin blood smears at Chittagong Medical College Hospital, Bangladesh, and segmented into single cells.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148840" cy="1371600"/>
          </a:xfrm>
          <a:prstGeom prst="roundRect">
            <a:avLst>
              <a:gd name="adj" fmla="val 6000"/>
            </a:avLst>
          </a:prstGeom>
          <a:solidFill>
            <a:srgbClr val="EAF3F5"/>
          </a:solidFill>
          <a:ln w="12700">
            <a:solidFill>
              <a:srgbClr val="D3E1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8368" y="2697480"/>
            <a:ext cx="1929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37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27,558</a:t>
            </a:r>
            <a:endParaRPr lang="en-US" sz="3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3558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 single-cell images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880360" y="2514600"/>
            <a:ext cx="2148840" cy="1371600"/>
          </a:xfrm>
          <a:prstGeom prst="roundRect">
            <a:avLst>
              <a:gd name="adj" fmla="val 6000"/>
            </a:avLst>
          </a:prstGeom>
          <a:solidFill>
            <a:srgbClr val="EAF3F5"/>
          </a:solidFill>
          <a:ln w="12700">
            <a:solidFill>
              <a:srgbClr val="D3E1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C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990088" y="2697480"/>
            <a:ext cx="1929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37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/ 50</a:t>
            </a:r>
            <a:endParaRPr lang="en-US" sz="33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33558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infected vs. uninfected — balanced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212080" y="2514600"/>
            <a:ext cx="2148840" cy="1371600"/>
          </a:xfrm>
          <a:prstGeom prst="roundRect">
            <a:avLst>
              <a:gd name="adj" fmla="val 6000"/>
            </a:avLst>
          </a:prstGeom>
          <a:solidFill>
            <a:srgbClr val="EAF3F5"/>
          </a:solidFill>
          <a:ln w="12700">
            <a:solidFill>
              <a:srgbClr val="D3E1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C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321808" y="2697480"/>
            <a:ext cx="1929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37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330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33558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(150 infected, 50 healthy)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6537960" cy="2057400"/>
          </a:xfrm>
          <a:prstGeom prst="roundRect">
            <a:avLst>
              <a:gd name="adj" fmla="val 4444"/>
            </a:avLst>
          </a:prstGeom>
          <a:solidFill>
            <a:srgbClr val="F5F9FA"/>
          </a:solidFill>
          <a:ln w="12700">
            <a:solidFill>
              <a:srgbClr val="D3E1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7824" y="4425696"/>
            <a:ext cx="658368" cy="658368"/>
          </a:xfrm>
          <a:prstGeom prst="ellipse">
            <a:avLst/>
          </a:prstGeom>
          <a:solidFill>
            <a:srgbClr val="8A43B0"/>
          </a:solidFill>
          <a:ln/>
        </p:spPr>
      </p:sp>
      <p:pic>
        <p:nvPicPr>
          <p:cNvPr id="16" name="Image 0" descr="/tmp/build/assets/ic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4590288"/>
            <a:ext cx="329184" cy="329184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737360" y="431596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hidden problem — noisy labels</a:t>
            </a:r>
            <a:endParaRPr lang="en-US" sz="1650" dirty="0"/>
          </a:p>
        </p:txBody>
      </p:sp>
      <p:sp>
        <p:nvSpPr>
          <p:cNvPr id="18" name="Text 15"/>
          <p:cNvSpPr txBox="1"/>
          <p:nvPr/>
        </p:nvSpPr>
        <p:spPr>
          <a:xfrm>
            <a:off x="1737360" y="4736592"/>
            <a:ext cx="5074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6C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Fuhad et al. [5]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staining artifacts mislabeled as parasites and manually cleaned the set to </a:t>
            </a:r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26,161 verified images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(13,132 parasitized · 13,029 uninfected) — a cleaner, more trustworthy benchmark.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7452360" y="1481328"/>
            <a:ext cx="4206240" cy="4690872"/>
          </a:xfrm>
          <a:prstGeom prst="roundRect">
            <a:avLst>
              <a:gd name="adj" fmla="val 1957"/>
            </a:avLst>
          </a:prstGeom>
          <a:solidFill>
            <a:srgbClr val="0F2E3D"/>
          </a:solidFill>
          <a:ln w="12700">
            <a:solidFill>
              <a:srgbClr val="0F2E3D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C">
                <a:alpha val="28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7680960" y="1691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one cell looks like</a:t>
            </a:r>
            <a:endParaRPr lang="en-US" sz="1650" dirty="0"/>
          </a:p>
        </p:txBody>
      </p:sp>
      <p:pic>
        <p:nvPicPr>
          <p:cNvPr id="21" name="Image 1" descr="/tmp/build/assets/cell_uninfect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240280"/>
            <a:ext cx="1508760" cy="1508760"/>
          </a:xfrm>
          <a:prstGeom prst="rect">
            <a:avLst/>
          </a:prstGeom>
        </p:spPr>
      </p:pic>
      <p:pic>
        <p:nvPicPr>
          <p:cNvPr id="22" name="Image 2" descr="/tmp/build/assets/cell_infec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2240280"/>
            <a:ext cx="1508760" cy="150876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818120" y="378561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Uninfected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9418320" y="378561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C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Parasitized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7818120" y="4224528"/>
            <a:ext cx="3520440" cy="0"/>
          </a:xfrm>
          <a:prstGeom prst="line">
            <a:avLst/>
          </a:prstGeom>
          <a:noFill/>
          <a:ln w="12700">
            <a:solidFill>
              <a:srgbClr val="0E6274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7772400" y="4389120"/>
            <a:ext cx="3611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7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parasite appears as </a:t>
            </a:r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D9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violet specks</a:t>
            </a:r>
            <a:pPr algn="ctr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7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inside the cell (the Giemsa stain). The model must learn this cue — and ignore staining noise.</a:t>
            </a:r>
            <a:endParaRPr lang="en-US" sz="1250" dirty="0"/>
          </a:p>
        </p:txBody>
      </p:sp>
      <p:sp>
        <p:nvSpPr>
          <p:cNvPr id="27" name="Text 22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· Automated Malaria Cell Detection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137160"/>
            <a:ext cx="1097280" cy="1097280"/>
          </a:xfrm>
          <a:prstGeom prst="ellipse">
            <a:avLst/>
          </a:prstGeom>
          <a:solidFill>
            <a:srgbClr val="137C8E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5760720"/>
            <a:ext cx="914400" cy="914400"/>
          </a:xfrm>
          <a:prstGeom prst="ellipse">
            <a:avLst/>
          </a:prstGeom>
          <a:solidFill>
            <a:srgbClr val="2EA79B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760720"/>
            <a:ext cx="1005840" cy="1005840"/>
          </a:xfrm>
          <a:prstGeom prst="ellipse">
            <a:avLst/>
          </a:prstGeom>
          <a:solidFill>
            <a:srgbClr val="8A43B0">
              <a:alpha val="4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548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OF THE FIELD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malaria CNNs evolved, 2016 → 2024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234440" y="3429000"/>
            <a:ext cx="9720072" cy="0"/>
          </a:xfrm>
          <a:prstGeom prst="line">
            <a:avLst/>
          </a:prstGeom>
          <a:noFill/>
          <a:ln w="31750">
            <a:solidFill>
              <a:srgbClr val="0E627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1874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F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2016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74320" y="22585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transfer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" y="3008376"/>
            <a:ext cx="841248" cy="841248"/>
          </a:xfrm>
          <a:prstGeom prst="ellipse">
            <a:avLst/>
          </a:prstGeom>
          <a:solidFill>
            <a:srgbClr val="137C8E"/>
          </a:solidFill>
          <a:ln/>
        </p:spPr>
      </p:sp>
      <p:pic>
        <p:nvPicPr>
          <p:cNvPr id="11" name="Image 0" descr="/tmp/build/assets/ic_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3218688"/>
            <a:ext cx="420624" cy="42062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13232" y="2907792"/>
            <a:ext cx="1042416" cy="1042416"/>
          </a:xfrm>
          <a:prstGeom prst="ellipse">
            <a:avLst/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82880" y="40873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9F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Liang [1]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2841498" y="1874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F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2018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2704338" y="22585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Feature-extraction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243834" y="3008376"/>
            <a:ext cx="841248" cy="841248"/>
          </a:xfrm>
          <a:prstGeom prst="ellipse">
            <a:avLst/>
          </a:prstGeom>
          <a:solidFill>
            <a:srgbClr val="2EA79B"/>
          </a:solidFill>
          <a:ln/>
        </p:spPr>
      </p:sp>
      <p:pic>
        <p:nvPicPr>
          <p:cNvPr id="17" name="Image 1" descr="/tmp/build/assets/ic_sw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146" y="3218688"/>
            <a:ext cx="420624" cy="42062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143250" y="2907792"/>
            <a:ext cx="1042416" cy="1042416"/>
          </a:xfrm>
          <a:prstGeom prst="ellipse">
            <a:avLst/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2612898" y="40873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9F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Rajaraman [2]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5271516" y="1874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F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2019</a:t>
            </a:r>
            <a:endParaRPr lang="en-US" sz="2200" dirty="0"/>
          </a:p>
        </p:txBody>
      </p:sp>
      <p:sp>
        <p:nvSpPr>
          <p:cNvPr id="21" name="Text 17"/>
          <p:cNvSpPr txBox="1"/>
          <p:nvPr/>
        </p:nvSpPr>
        <p:spPr>
          <a:xfrm>
            <a:off x="5134356" y="22585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ensembles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5673852" y="3008376"/>
            <a:ext cx="841248" cy="841248"/>
          </a:xfrm>
          <a:prstGeom prst="ellipse">
            <a:avLst/>
          </a:prstGeom>
          <a:solidFill>
            <a:srgbClr val="8A43B0"/>
          </a:solidFill>
          <a:ln/>
        </p:spPr>
      </p:sp>
      <p:pic>
        <p:nvPicPr>
          <p:cNvPr id="23" name="Image 2" descr="/tmp/build/assets/ic_gro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164" y="3218688"/>
            <a:ext cx="420624" cy="420624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5573268" y="2907792"/>
            <a:ext cx="1042416" cy="1042416"/>
          </a:xfrm>
          <a:prstGeom prst="ellipse">
            <a:avLst/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5042916" y="40873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9F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Rajaraman [3]</a:t>
            </a:r>
            <a:endParaRPr lang="en-US" sz="1150" dirty="0"/>
          </a:p>
        </p:txBody>
      </p:sp>
      <p:sp>
        <p:nvSpPr>
          <p:cNvPr id="26" name="Text 21"/>
          <p:cNvSpPr txBox="1"/>
          <p:nvPr/>
        </p:nvSpPr>
        <p:spPr>
          <a:xfrm>
            <a:off x="7701534" y="1874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F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</a:t>
            </a:r>
            <a:endParaRPr lang="en-US" sz="2200" dirty="0"/>
          </a:p>
        </p:txBody>
      </p:sp>
      <p:sp>
        <p:nvSpPr>
          <p:cNvPr id="27" name="Text 22"/>
          <p:cNvSpPr txBox="1"/>
          <p:nvPr/>
        </p:nvSpPr>
        <p:spPr>
          <a:xfrm>
            <a:off x="7564374" y="22585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&amp;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8103870" y="3008376"/>
            <a:ext cx="841248" cy="841248"/>
          </a:xfrm>
          <a:prstGeom prst="ellipse">
            <a:avLst/>
          </a:prstGeom>
          <a:solidFill>
            <a:srgbClr val="137C8E"/>
          </a:solidFill>
          <a:ln/>
        </p:spPr>
      </p:sp>
      <p:pic>
        <p:nvPicPr>
          <p:cNvPr id="29" name="Image 3" descr="/tmp/build/assets/ic_mobi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4182" y="3218688"/>
            <a:ext cx="420624" cy="420624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8003286" y="2907792"/>
            <a:ext cx="1042416" cy="1042416"/>
          </a:xfrm>
          <a:prstGeom prst="ellipse">
            <a:avLst/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7472934" y="40873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9F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Fuhad · Zhao · Masud · Umer</a:t>
            </a:r>
            <a:endParaRPr lang="en-US" sz="1150" dirty="0"/>
          </a:p>
        </p:txBody>
      </p:sp>
      <p:sp>
        <p:nvSpPr>
          <p:cNvPr id="32" name="Text 26"/>
          <p:cNvSpPr txBox="1"/>
          <p:nvPr/>
        </p:nvSpPr>
        <p:spPr>
          <a:xfrm>
            <a:off x="10131552" y="1874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F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’22–’24</a:t>
            </a:r>
            <a:endParaRPr lang="en-US" sz="2200" dirty="0"/>
          </a:p>
        </p:txBody>
      </p:sp>
      <p:sp>
        <p:nvSpPr>
          <p:cNvPr id="33" name="Text 27"/>
          <p:cNvSpPr txBox="1"/>
          <p:nvPr/>
        </p:nvSpPr>
        <p:spPr>
          <a:xfrm>
            <a:off x="9994392" y="22585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Capsules &amp;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</a:t>
            </a:r>
            <a:endParaRPr lang="en-US" sz="1250" dirty="0"/>
          </a:p>
        </p:txBody>
      </p:sp>
      <p:sp>
        <p:nvSpPr>
          <p:cNvPr id="34" name="Shape 28"/>
          <p:cNvSpPr/>
          <p:nvPr/>
        </p:nvSpPr>
        <p:spPr>
          <a:xfrm>
            <a:off x="10533888" y="3008376"/>
            <a:ext cx="841248" cy="841248"/>
          </a:xfrm>
          <a:prstGeom prst="ellipse">
            <a:avLst/>
          </a:prstGeom>
          <a:solidFill>
            <a:srgbClr val="8A43B0"/>
          </a:solidFill>
          <a:ln/>
        </p:spPr>
      </p:sp>
      <p:pic>
        <p:nvPicPr>
          <p:cNvPr id="35" name="Image 4" descr="/tmp/build/assets/ic_bra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0" y="3218688"/>
            <a:ext cx="420624" cy="420624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10433304" y="2907792"/>
            <a:ext cx="1042416" cy="1042416"/>
          </a:xfrm>
          <a:prstGeom prst="ellipse">
            <a:avLst/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9902952" y="40873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9F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Madhu · Marques · others</a:t>
            </a:r>
            <a:endParaRPr lang="en-US" sz="1150" dirty="0"/>
          </a:p>
        </p:txBody>
      </p:sp>
      <p:sp>
        <p:nvSpPr>
          <p:cNvPr id="38" name="Text 31"/>
          <p:cNvSpPr txBox="1"/>
          <p:nvPr/>
        </p:nvSpPr>
        <p:spPr>
          <a:xfrm>
            <a:off x="914400" y="56235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E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arc:  </a:t>
            </a:r>
            <a:pPr algn="ctr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DC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“can a CNN even do this?” → squeezing accuracy from big models → shrinking them to run on a phone → preserving cell structure and benchmarking rigorously.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3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2016–2018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CNNs vs. transfer learning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2880360"/>
          </a:xfrm>
          <a:prstGeom prst="roundRect">
            <a:avLst>
              <a:gd name="adj" fmla="val 2857"/>
            </a:avLst>
          </a:prstGeom>
          <a:solidFill>
            <a:srgbClr val="EAF3F5"/>
          </a:solidFill>
          <a:ln w="12700">
            <a:solidFill>
              <a:srgbClr val="D3E1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C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929384"/>
            <a:ext cx="713232" cy="713232"/>
          </a:xfrm>
          <a:prstGeom prst="ellipse">
            <a:avLst/>
          </a:prstGeom>
          <a:solidFill>
            <a:srgbClr val="137C8E"/>
          </a:solidFill>
          <a:ln/>
        </p:spPr>
      </p:sp>
      <p:pic>
        <p:nvPicPr>
          <p:cNvPr id="6" name="Image 0" descr="/tmp/build/assets/ic_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000" y="2100560"/>
            <a:ext cx="370881" cy="3708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18105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Liang et al. [1] — 2016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215798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16-layer CNN trained from scratch vs. off-the-shelf AlexNet features.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68680" y="2926080"/>
            <a:ext cx="23317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137C8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3063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7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97.37%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6393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16-layer CNN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383280" y="2926080"/>
            <a:ext cx="23317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7C8B9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83280" y="3063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8B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91.99%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3383280" y="36393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features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72200" y="1554480"/>
            <a:ext cx="5468112" cy="2880360"/>
          </a:xfrm>
          <a:prstGeom prst="roundRect">
            <a:avLst>
              <a:gd name="adj" fmla="val 2857"/>
            </a:avLst>
          </a:prstGeom>
          <a:solidFill>
            <a:srgbClr val="F5F9FA"/>
          </a:solidFill>
          <a:ln w="12700">
            <a:solidFill>
              <a:srgbClr val="D3E1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C">
                <a:alpha val="2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501384" y="1929384"/>
            <a:ext cx="713232" cy="713232"/>
          </a:xfrm>
          <a:prstGeom prst="ellipse">
            <a:avLst/>
          </a:prstGeom>
          <a:solidFill>
            <a:srgbClr val="2EA79B"/>
          </a:solidFill>
          <a:ln/>
        </p:spPr>
      </p:sp>
      <p:pic>
        <p:nvPicPr>
          <p:cNvPr id="17" name="Image 1" descr="/tmp/build/assets/ic_sw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560" y="2100560"/>
            <a:ext cx="370881" cy="370881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406640" y="18105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Rajaraman et al. [2] — 2018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7406640" y="215798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which layers of pre-trained backbones carry the most transferable features.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492240" y="2971800"/>
            <a:ext cx="155448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3E1E6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492240" y="29718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8183880" y="2971800"/>
            <a:ext cx="155448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3E1E6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8183880" y="29718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VGG-16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9875520" y="2971800"/>
            <a:ext cx="155448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3E1E6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9875520" y="29718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6492240" y="3538728"/>
            <a:ext cx="155448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3E1E6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492240" y="353872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Xception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8183880" y="3538728"/>
            <a:ext cx="155448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3E1E6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8183880" y="353872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DenseNet-121</a:t>
            </a:r>
            <a:endParaRPr lang="en-US" sz="1150" dirty="0"/>
          </a:p>
        </p:txBody>
      </p:sp>
      <p:sp>
        <p:nvSpPr>
          <p:cNvPr id="30" name="Text 26"/>
          <p:cNvSpPr txBox="1"/>
          <p:nvPr/>
        </p:nvSpPr>
        <p:spPr>
          <a:xfrm>
            <a:off x="6492240" y="4114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 optimal layers → tuned a small classifier: a scalable diagnostic aid.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548640" y="470916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0F2E3D"/>
          </a:solidFill>
          <a:ln/>
        </p:spPr>
      </p:sp>
      <p:sp>
        <p:nvSpPr>
          <p:cNvPr id="32" name="Shape 28"/>
          <p:cNvSpPr/>
          <p:nvPr/>
        </p:nvSpPr>
        <p:spPr>
          <a:xfrm>
            <a:off x="909828" y="5024628"/>
            <a:ext cx="777240" cy="777240"/>
          </a:xfrm>
          <a:prstGeom prst="ellipse">
            <a:avLst/>
          </a:prstGeom>
          <a:solidFill>
            <a:srgbClr val="8A43B0"/>
          </a:solidFill>
          <a:ln/>
        </p:spPr>
      </p:sp>
      <p:pic>
        <p:nvPicPr>
          <p:cNvPr id="33" name="Image 2" descr="/tmp/build/assets/ic_bo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138" y="5218938"/>
            <a:ext cx="388620" cy="388620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1874520" y="4846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A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35" name="Text 30"/>
          <p:cNvSpPr txBox="1"/>
          <p:nvPr/>
        </p:nvSpPr>
        <p:spPr>
          <a:xfrm>
            <a:off x="1874520" y="5175504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features beat generic ImageNet features for microscopy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BE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but training from scratch is costly, so the field turned to smartly reusing pre-trained networks. This tension (accuracy vs. compute) drives everything that follows.</a:t>
            </a:r>
            <a:endParaRPr lang="en-US" sz="1350" dirty="0"/>
          </a:p>
        </p:txBody>
      </p:sp>
      <p:sp>
        <p:nvSpPr>
          <p:cNvPr id="36" name="Text 31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· Automated Malaria Cell Detection</a:t>
            </a:r>
            <a:endParaRPr lang="en-US" sz="900" dirty="0"/>
          </a:p>
        </p:txBody>
      </p:sp>
      <p:sp>
        <p:nvSpPr>
          <p:cNvPr id="37" name="Text 32"/>
          <p:cNvSpPr txBox="1"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3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2019–2022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Ensembles: many models, steadier answers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CNNs are </a:t>
            </a:r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CC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high-variance</a:t>
            </a:r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sensitive to how the data is split and shuffled. Averaging several diverse models cancels their individual errors and generalises better.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468112" cy="2286000"/>
          </a:xfrm>
          <a:prstGeom prst="roundRect">
            <a:avLst>
              <a:gd name="adj" fmla="val 3600"/>
            </a:avLst>
          </a:prstGeom>
          <a:solidFill>
            <a:srgbClr val="EAF3F5"/>
          </a:solidFill>
          <a:ln w="12700">
            <a:solidFill>
              <a:srgbClr val="D3E1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651760"/>
            <a:ext cx="731520" cy="731520"/>
          </a:xfrm>
          <a:prstGeom prst="ellipse">
            <a:avLst/>
          </a:prstGeom>
          <a:solidFill>
            <a:srgbClr val="8A43B0"/>
          </a:solidFill>
          <a:ln/>
        </p:spPr>
      </p:sp>
      <p:pic>
        <p:nvPicPr>
          <p:cNvPr id="7" name="Image 0" descr="/tmp/build/assets/ic_gro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7" y="2827325"/>
            <a:ext cx="380390" cy="3803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28800" y="25877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Rajaraman et al. [3] — 2019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293522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VGG-19 + SqueezeNet ensemble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566160"/>
            <a:ext cx="4828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averaging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variance and overfitting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giving more reliable predictions under noisy, real-world training conditions.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172200" y="2331720"/>
            <a:ext cx="5468112" cy="2286000"/>
          </a:xfrm>
          <a:prstGeom prst="roundRect">
            <a:avLst>
              <a:gd name="adj" fmla="val 3600"/>
            </a:avLst>
          </a:prstGeom>
          <a:solidFill>
            <a:srgbClr val="F5F9FA"/>
          </a:solidFill>
          <a:ln w="12700">
            <a:solidFill>
              <a:srgbClr val="D3E1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C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19672" y="2651760"/>
            <a:ext cx="731520" cy="731520"/>
          </a:xfrm>
          <a:prstGeom prst="ellipse">
            <a:avLst/>
          </a:prstGeom>
          <a:solidFill>
            <a:srgbClr val="137C8E"/>
          </a:solidFill>
          <a:ln/>
        </p:spPr>
      </p:sp>
      <p:pic>
        <p:nvPicPr>
          <p:cNvPr id="13" name="Image 1" descr="/tmp/build/assets/ic_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237" y="2827325"/>
            <a:ext cx="380390" cy="38039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452360" y="25877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Marques et al. [8] — 2022</a:t>
            </a:r>
            <a:endParaRPr lang="en-US" sz="1650" dirty="0"/>
          </a:p>
        </p:txBody>
      </p:sp>
      <p:sp>
        <p:nvSpPr>
          <p:cNvPr id="15" name="Text 11"/>
          <p:cNvSpPr txBox="1"/>
          <p:nvPr/>
        </p:nvSpPr>
        <p:spPr>
          <a:xfrm>
            <a:off x="7452360" y="293522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 · 10-fold ensemble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6492240" y="3566160"/>
            <a:ext cx="4828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Ensembling 10 folds lifted accuracy to </a:t>
            </a:r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98.29% (AUC 99.76%)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strict stratified cross-validation + open-source code for reproducibility.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548640" y="489204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AF3F5"/>
          </a:solidFill>
          <a:ln w="12700">
            <a:solidFill>
              <a:srgbClr val="D3E1E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14400" y="5138928"/>
            <a:ext cx="731520" cy="731520"/>
          </a:xfrm>
          <a:prstGeom prst="ellipse">
            <a:avLst/>
          </a:prstGeom>
          <a:solidFill>
            <a:srgbClr val="CC4A3F"/>
          </a:solidFill>
          <a:ln/>
        </p:spPr>
      </p:sp>
      <p:pic>
        <p:nvPicPr>
          <p:cNvPr id="19" name="Image 2" descr="/tmp/build/assets/ic_sca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5321808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874520" y="4892040"/>
            <a:ext cx="9509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CC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catch:  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ensembles are memory-hungry and slow to train (Marques' ran ~2 days). Great for a cloud server; impractical for a phone — which is exactly why the next wave went lightweight.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· Automated Malaria Cell Detection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3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2020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Lightweight &amp; on-device models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diagnosis to endemic regions means running on a phone, offline — so researchers optimised for speed and size, not just accuracy.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121408"/>
            <a:ext cx="3520440" cy="3703320"/>
          </a:xfrm>
          <a:prstGeom prst="roundRect">
            <a:avLst>
              <a:gd name="adj" fmla="val 2338"/>
            </a:avLst>
          </a:prstGeom>
          <a:solidFill>
            <a:srgbClr val="EAF3F5"/>
          </a:solidFill>
          <a:ln w="12700">
            <a:solidFill>
              <a:srgbClr val="D3E1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13816" y="2368296"/>
            <a:ext cx="749808" cy="749808"/>
          </a:xfrm>
          <a:prstGeom prst="ellipse">
            <a:avLst/>
          </a:prstGeom>
          <a:solidFill>
            <a:srgbClr val="137C8E"/>
          </a:solidFill>
          <a:ln/>
        </p:spPr>
      </p:sp>
      <p:pic>
        <p:nvPicPr>
          <p:cNvPr id="7" name="Image 0" descr="/tmp/build/assets/ic_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770" y="2548250"/>
            <a:ext cx="389900" cy="3899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19072" y="239572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Fuhad et al. [5]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719072" y="2743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3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 + knowledge distillation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33558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7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99.23%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841248" y="372160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41605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7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4,600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452628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FLOPS — vs. ~19.6 billion for ensembles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841248" y="49651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7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 s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" y="533095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on a phone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325112" y="2121408"/>
            <a:ext cx="3520440" cy="3703320"/>
          </a:xfrm>
          <a:prstGeom prst="roundRect">
            <a:avLst>
              <a:gd name="adj" fmla="val 2338"/>
            </a:avLst>
          </a:prstGeom>
          <a:solidFill>
            <a:srgbClr val="F5F9FA"/>
          </a:solidFill>
          <a:ln w="12700">
            <a:solidFill>
              <a:srgbClr val="D3E1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C">
                <a:alpha val="2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90288" y="2368296"/>
            <a:ext cx="749808" cy="749808"/>
          </a:xfrm>
          <a:prstGeom prst="ellipse">
            <a:avLst/>
          </a:prstGeom>
          <a:solidFill>
            <a:srgbClr val="8A43B0"/>
          </a:solidFill>
          <a:ln/>
        </p:spPr>
      </p:sp>
      <p:pic>
        <p:nvPicPr>
          <p:cNvPr id="18" name="Image 1" descr="/tmp/build/assets/ic_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242" y="2548250"/>
            <a:ext cx="389900" cy="38990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495544" y="239572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Masud et al. [7]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5495544" y="2743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8A4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CNN + cyclical learning rate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4617720" y="33558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7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97.30%</a:t>
            </a:r>
            <a:endParaRPr lang="en-US" sz="1900" dirty="0"/>
          </a:p>
        </p:txBody>
      </p:sp>
      <p:sp>
        <p:nvSpPr>
          <p:cNvPr id="22" name="Text 18"/>
          <p:cNvSpPr txBox="1"/>
          <p:nvPr/>
        </p:nvSpPr>
        <p:spPr>
          <a:xfrm>
            <a:off x="4617720" y="372160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in 50 epochs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4617720" y="41605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7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409K</a:t>
            </a:r>
            <a:endParaRPr lang="en-US" sz="1900" dirty="0"/>
          </a:p>
        </p:txBody>
      </p:sp>
      <p:sp>
        <p:nvSpPr>
          <p:cNvPr id="24" name="Text 20"/>
          <p:cNvSpPr txBox="1"/>
          <p:nvPr/>
        </p:nvSpPr>
        <p:spPr>
          <a:xfrm>
            <a:off x="4617720" y="452628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4617720" y="49651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7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~97 min</a:t>
            </a:r>
            <a:endParaRPr lang="en-US" sz="1900" dirty="0"/>
          </a:p>
        </p:txBody>
      </p:sp>
      <p:sp>
        <p:nvSpPr>
          <p:cNvPr id="26" name="Text 22"/>
          <p:cNvSpPr txBox="1"/>
          <p:nvPr/>
        </p:nvSpPr>
        <p:spPr>
          <a:xfrm>
            <a:off x="4617720" y="533095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train, no augmentation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8101584" y="2121408"/>
            <a:ext cx="3520440" cy="3703320"/>
          </a:xfrm>
          <a:prstGeom prst="roundRect">
            <a:avLst>
              <a:gd name="adj" fmla="val 2338"/>
            </a:avLst>
          </a:prstGeom>
          <a:solidFill>
            <a:srgbClr val="F5F9FA"/>
          </a:solidFill>
          <a:ln w="12700">
            <a:solidFill>
              <a:srgbClr val="D3E1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C">
                <a:alpha val="2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8366760" y="2368296"/>
            <a:ext cx="749808" cy="749808"/>
          </a:xfrm>
          <a:prstGeom prst="ellipse">
            <a:avLst/>
          </a:prstGeom>
          <a:solidFill>
            <a:srgbClr val="2EA79B"/>
          </a:solidFill>
          <a:ln/>
        </p:spPr>
      </p:sp>
      <p:pic>
        <p:nvPicPr>
          <p:cNvPr id="29" name="Image 2" descr="/tmp/build/assets/ic_magnif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6714" y="2548250"/>
            <a:ext cx="389900" cy="38990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9272016" y="239572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Zhao et al. [6]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9272016" y="2743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E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Super-resolution (FSRCNN) + SSD300</a:t>
            </a:r>
            <a:endParaRPr lang="en-US" sz="1150" dirty="0"/>
          </a:p>
        </p:txBody>
      </p:sp>
      <p:sp>
        <p:nvSpPr>
          <p:cNvPr id="32" name="Text 27"/>
          <p:cNvSpPr txBox="1"/>
          <p:nvPr/>
        </p:nvSpPr>
        <p:spPr>
          <a:xfrm>
            <a:off x="8394192" y="33558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7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96.5%</a:t>
            </a:r>
            <a:endParaRPr lang="en-US" sz="1900" dirty="0"/>
          </a:p>
        </p:txBody>
      </p:sp>
      <p:sp>
        <p:nvSpPr>
          <p:cNvPr id="33" name="Text 28"/>
          <p:cNvSpPr txBox="1"/>
          <p:nvPr/>
        </p:nvSpPr>
        <p:spPr>
          <a:xfrm>
            <a:off x="8394192" y="372160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up-scaled 32→128 px images</a:t>
            </a:r>
            <a:endParaRPr lang="en-US" sz="1150" dirty="0"/>
          </a:p>
        </p:txBody>
      </p:sp>
      <p:sp>
        <p:nvSpPr>
          <p:cNvPr id="34" name="Text 29"/>
          <p:cNvSpPr txBox="1"/>
          <p:nvPr/>
        </p:nvSpPr>
        <p:spPr>
          <a:xfrm>
            <a:off x="8394192" y="41605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7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30.2</a:t>
            </a:r>
            <a:endParaRPr lang="en-US" sz="1900" dirty="0"/>
          </a:p>
        </p:txBody>
      </p:sp>
      <p:sp>
        <p:nvSpPr>
          <p:cNvPr id="35" name="Text 30"/>
          <p:cNvSpPr txBox="1"/>
          <p:nvPr/>
        </p:nvSpPr>
        <p:spPr>
          <a:xfrm>
            <a:off x="8394192" y="452628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— beats bicubic</a:t>
            </a:r>
            <a:endParaRPr lang="en-US" sz="1150" dirty="0"/>
          </a:p>
        </p:txBody>
      </p:sp>
      <p:sp>
        <p:nvSpPr>
          <p:cNvPr id="36" name="Text 31"/>
          <p:cNvSpPr txBox="1"/>
          <p:nvPr/>
        </p:nvSpPr>
        <p:spPr>
          <a:xfrm>
            <a:off x="8394192" y="49651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7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species</a:t>
            </a:r>
            <a:endParaRPr lang="en-US" sz="1900" dirty="0"/>
          </a:p>
        </p:txBody>
      </p:sp>
      <p:sp>
        <p:nvSpPr>
          <p:cNvPr id="37" name="Text 32"/>
          <p:cNvSpPr txBox="1"/>
          <p:nvPr/>
        </p:nvSpPr>
        <p:spPr>
          <a:xfrm>
            <a:off x="8394192" y="533095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(P. falciparum + vivax)</a:t>
            </a:r>
            <a:endParaRPr lang="en-US" sz="1150" dirty="0"/>
          </a:p>
        </p:txBody>
      </p:sp>
      <p:sp>
        <p:nvSpPr>
          <p:cNvPr id="38" name="Text 3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· Automated Malaria Cell Detection</a:t>
            </a:r>
            <a:endParaRPr lang="en-US" sz="900" dirty="0"/>
          </a:p>
        </p:txBody>
      </p:sp>
      <p:sp>
        <p:nvSpPr>
          <p:cNvPr id="39" name="Text 34"/>
          <p:cNvSpPr txBox="1"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3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ARCHITECTURE &amp; INPUTS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Capsule networks + smarter preprocessing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480560"/>
          </a:xfrm>
          <a:prstGeom prst="roundRect">
            <a:avLst>
              <a:gd name="adj" fmla="val 1837"/>
            </a:avLst>
          </a:prstGeom>
          <a:solidFill>
            <a:srgbClr val="EAF3F5"/>
          </a:solidFill>
          <a:ln w="12700">
            <a:solidFill>
              <a:srgbClr val="D3E1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C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1540" y="1943100"/>
            <a:ext cx="777240" cy="777240"/>
          </a:xfrm>
          <a:prstGeom prst="ellipse">
            <a:avLst/>
          </a:prstGeom>
          <a:solidFill>
            <a:srgbClr val="8A43B0"/>
          </a:solidFill>
          <a:ln/>
        </p:spPr>
      </p:sp>
      <p:pic>
        <p:nvPicPr>
          <p:cNvPr id="6" name="Image 0" descr="/tmp/build/assets/ic_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137410"/>
            <a:ext cx="388620" cy="3886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18470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Madhu et al. [9] — 2023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2194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Inception-V3 + Capsule Neural Network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8803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CNNs lose </a:t>
            </a:r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&amp; pose information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through pooling. Capsules use </a:t>
            </a:r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routing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keep the parasite's position and orientation inside the cell — state-of-the-art morphological modelling.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68680" y="4343400"/>
            <a:ext cx="4846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8A43B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51560" y="44988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C2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99.35%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5029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154680" y="45262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Sens. 99.57%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Spec. 99.12%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99.73%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868680" y="57424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capsule routing is slow to back-propagate.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172200" y="1554480"/>
            <a:ext cx="5468112" cy="4480560"/>
          </a:xfrm>
          <a:prstGeom prst="roundRect">
            <a:avLst>
              <a:gd name="adj" fmla="val 1837"/>
            </a:avLst>
          </a:prstGeom>
          <a:solidFill>
            <a:srgbClr val="F5F9FA"/>
          </a:solidFill>
          <a:ln w="12700">
            <a:solidFill>
              <a:srgbClr val="D3E1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C">
                <a:alpha val="2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515100" y="1943100"/>
            <a:ext cx="777240" cy="777240"/>
          </a:xfrm>
          <a:prstGeom prst="ellipse">
            <a:avLst/>
          </a:prstGeom>
          <a:solidFill>
            <a:srgbClr val="137C8E"/>
          </a:solidFill>
          <a:ln/>
        </p:spPr>
      </p:sp>
      <p:pic>
        <p:nvPicPr>
          <p:cNvPr id="17" name="Image 1" descr="/tmp/build/assets/ic_fl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410" y="2137410"/>
            <a:ext cx="388620" cy="38862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452360" y="18470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Umer et al. [4] — 2020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7452360" y="2194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CNN + YUV stain normalization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492240" y="2880360"/>
            <a:ext cx="365760" cy="365760"/>
          </a:xfrm>
          <a:prstGeom prst="ellipse">
            <a:avLst/>
          </a:prstGeom>
          <a:solidFill>
            <a:srgbClr val="137C8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49224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6995160" y="2862072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to 120×120  </a:t>
            </a:r>
            <a:pPr indent="0" marL="0">
              <a:buNone/>
            </a:pPr>
            <a:r>
              <a:rPr lang="en-US" sz="130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standardise crop size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675120" y="3246120"/>
            <a:ext cx="0" cy="219456"/>
          </a:xfrm>
          <a:prstGeom prst="line">
            <a:avLst/>
          </a:prstGeom>
          <a:noFill/>
          <a:ln w="19050">
            <a:solidFill>
              <a:srgbClr val="137C8E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492240" y="3465576"/>
            <a:ext cx="365760" cy="365760"/>
          </a:xfrm>
          <a:prstGeom prst="ellipse">
            <a:avLst/>
          </a:prstGeom>
          <a:solidFill>
            <a:srgbClr val="137C8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492240" y="3465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6995160" y="3447288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Edge-detection filter  </a:t>
            </a:r>
            <a:pPr indent="0" marL="0">
              <a:buNone/>
            </a:pPr>
            <a:r>
              <a:rPr lang="en-US" sz="130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sharpen cell boundaries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6675120" y="3831336"/>
            <a:ext cx="0" cy="219456"/>
          </a:xfrm>
          <a:prstGeom prst="line">
            <a:avLst/>
          </a:prstGeom>
          <a:noFill/>
          <a:ln w="19050">
            <a:solidFill>
              <a:srgbClr val="137C8E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492240" y="4050792"/>
            <a:ext cx="365760" cy="365760"/>
          </a:xfrm>
          <a:prstGeom prst="ellipse">
            <a:avLst/>
          </a:prstGeom>
          <a:solidFill>
            <a:srgbClr val="137C8E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492240" y="4050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6995160" y="4032504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RGB → YUV  </a:t>
            </a:r>
            <a:pPr indent="0" marL="0">
              <a:buNone/>
            </a:pPr>
            <a:r>
              <a:rPr lang="en-US" sz="130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separate brightness from colour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6675120" y="4416552"/>
            <a:ext cx="0" cy="219456"/>
          </a:xfrm>
          <a:prstGeom prst="line">
            <a:avLst/>
          </a:prstGeom>
          <a:noFill/>
          <a:ln w="19050">
            <a:solidFill>
              <a:srgbClr val="137C8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492240" y="4636008"/>
            <a:ext cx="365760" cy="365760"/>
          </a:xfrm>
          <a:prstGeom prst="ellipse">
            <a:avLst/>
          </a:prstGeom>
          <a:solidFill>
            <a:srgbClr val="137C8E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6492240" y="4636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6995160" y="461772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equalisation  </a:t>
            </a:r>
            <a:pPr indent="0" marL="0">
              <a:buNone/>
            </a:pPr>
            <a:r>
              <a:rPr lang="en-US" sz="130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cancel staining differences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6675120" y="5001768"/>
            <a:ext cx="0" cy="219456"/>
          </a:xfrm>
          <a:prstGeom prst="line">
            <a:avLst/>
          </a:prstGeom>
          <a:noFill/>
          <a:ln w="19050">
            <a:solidFill>
              <a:srgbClr val="137C8E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492240" y="5221224"/>
            <a:ext cx="365760" cy="365760"/>
          </a:xfrm>
          <a:prstGeom prst="ellipse">
            <a:avLst/>
          </a:prstGeom>
          <a:solidFill>
            <a:srgbClr val="137C8E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6492240" y="5221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Text 34"/>
          <p:cNvSpPr txBox="1"/>
          <p:nvPr/>
        </p:nvSpPr>
        <p:spPr>
          <a:xfrm>
            <a:off x="6995160" y="5202936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back → RGB  </a:t>
            </a:r>
            <a:pPr indent="0" marL="0">
              <a:buNone/>
            </a:pPr>
            <a:r>
              <a:rPr lang="en-US" sz="130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feed the CNN</a:t>
            </a:r>
            <a:endParaRPr lang="en-US" sz="1300" dirty="0"/>
          </a:p>
        </p:txBody>
      </p:sp>
      <p:sp>
        <p:nvSpPr>
          <p:cNvPr id="39" name="Text 35"/>
          <p:cNvSpPr txBox="1"/>
          <p:nvPr/>
        </p:nvSpPr>
        <p:spPr>
          <a:xfrm>
            <a:off x="6492240" y="577900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buNone/>
            </a:pPr>
            <a:r>
              <a:rPr lang="en-US" sz="11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the model from cheating on staining artifacts → ~99.9% accuracy, 100% precision.</a:t>
            </a:r>
            <a:endParaRPr lang="en-US" sz="1150" dirty="0"/>
          </a:p>
        </p:txBody>
      </p:sp>
      <p:sp>
        <p:nvSpPr>
          <p:cNvPr id="40" name="Text 36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· Automated Malaria Cell Detection</a:t>
            </a:r>
            <a:endParaRPr lang="en-US" sz="900" dirty="0"/>
          </a:p>
        </p:txBody>
      </p:sp>
      <p:sp>
        <p:nvSpPr>
          <p:cNvPr id="41" name="Text 37"/>
          <p:cNvSpPr txBox="1"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3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· 2023–2024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Rigorous benchmarking: does 'heavy' win?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work stops chasing new architectures and instead asks: fairly compared, do big residual backbones actually beat small ones?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468112" cy="2514600"/>
          </a:xfrm>
          <a:prstGeom prst="roundRect">
            <a:avLst>
              <a:gd name="adj" fmla="val 3273"/>
            </a:avLst>
          </a:prstGeom>
          <a:solidFill>
            <a:srgbClr val="EAF3F5"/>
          </a:solidFill>
          <a:ln w="12700">
            <a:solidFill>
              <a:srgbClr val="D3E1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487168"/>
            <a:ext cx="731520" cy="731520"/>
          </a:xfrm>
          <a:prstGeom prst="ellipse">
            <a:avLst/>
          </a:prstGeom>
          <a:solidFill>
            <a:srgbClr val="137C8E"/>
          </a:solidFill>
          <a:ln/>
        </p:spPr>
      </p:sp>
      <p:pic>
        <p:nvPicPr>
          <p:cNvPr id="7" name="Image 0" descr="/tmp/build/assets/ic_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7" y="2662733"/>
            <a:ext cx="380390" cy="3803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28800" y="2468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Hemachandran et al. [10] — 2023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28163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vs. MobileNetV2 vs. ResNet-50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474720"/>
            <a:ext cx="48280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</a:t>
            </a:r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reached 97.06%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matching a much heavier residual backbone. (The paper is honest about an internal inconsistency in its own conclusions.)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172200" y="2194560"/>
            <a:ext cx="5468112" cy="2514600"/>
          </a:xfrm>
          <a:prstGeom prst="roundRect">
            <a:avLst>
              <a:gd name="adj" fmla="val 3273"/>
            </a:avLst>
          </a:prstGeom>
          <a:solidFill>
            <a:srgbClr val="F5F9FA"/>
          </a:solidFill>
          <a:ln w="12700">
            <a:solidFill>
              <a:srgbClr val="D3E1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C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19672" y="2487168"/>
            <a:ext cx="731520" cy="731520"/>
          </a:xfrm>
          <a:prstGeom prst="ellipse">
            <a:avLst/>
          </a:prstGeom>
          <a:solidFill>
            <a:srgbClr val="8A43B0"/>
          </a:solidFill>
          <a:ln/>
        </p:spPr>
      </p:sp>
      <p:pic>
        <p:nvPicPr>
          <p:cNvPr id="13" name="Image 1" descr="/tmp/build/assets/ic_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237" y="2662733"/>
            <a:ext cx="380390" cy="38039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452360" y="2468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Mujahid et al. [11] — 2024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7452360" y="28163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C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12-layer CNN vs. 11 backbones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6492240" y="3474720"/>
            <a:ext cx="48280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carefully tuned </a:t>
            </a:r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 hit 97.57%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the lowest test loss (0.0995) — fine-tuned pooling &amp; dropout can out-converge generic pre-trained nets.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548640" y="493776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0F2E3D"/>
          </a:solidFill>
          <a:ln/>
        </p:spPr>
      </p:sp>
      <p:sp>
        <p:nvSpPr>
          <p:cNvPr id="18" name="Shape 14"/>
          <p:cNvSpPr/>
          <p:nvPr/>
        </p:nvSpPr>
        <p:spPr>
          <a:xfrm>
            <a:off x="914400" y="5166360"/>
            <a:ext cx="731520" cy="731520"/>
          </a:xfrm>
          <a:prstGeom prst="ellipse">
            <a:avLst/>
          </a:prstGeom>
          <a:solidFill>
            <a:srgbClr val="2EA79B"/>
          </a:solidFill>
          <a:ln/>
        </p:spPr>
      </p:sp>
      <p:pic>
        <p:nvPicPr>
          <p:cNvPr id="19" name="Image 2" descr="/tmp/build/assets/ic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534924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874520" y="4937760"/>
            <a:ext cx="9509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E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C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well-designed lightweight models rival heavy ones on this task. Efficiency is not a compromise — it's a viable design goal.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· Automated Malaria Cell Detection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3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11 studies on one page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286000"/>
                <a:gridCol w="4114800"/>
                <a:gridCol w="4142232"/>
              </a:tblGrid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 (Year)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 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3D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37C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7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Liang (2016)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16-layer CNN from scratch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97.37% — beats AlexNet features (91.99%)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37C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7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Rajaraman (2018)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Pre-trained CNNs as feature extractors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Mapped optimal transfer layers; scalable aid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37C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7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Rajaraman (2019)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VGG-19 + SqueezeNet ensemble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variance, better generalization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37C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7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Umer (2020)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Stacked CNN + YUV stain normalization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~99.9% acc, 100% precision (5-fold)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37C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7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Fuhad (2020)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Autoencoder + knowledge distillation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99.23% · 4,600 FLOPS · &lt;1 s · fixed labels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37C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7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Zhao (2020)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VGG16 + FSRCNN super-res + SSD300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96.5% · cross-species (P. vivax)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37C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7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Masud (2020)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Lightweight CNN + cyclical LR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97.30% · 409K params · ~97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37C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7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Marques (2022)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EfficientNet-B0 · 10-fold ensemble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98.29% · AUC 99.76% · open-source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37C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7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Madhu (2023)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Inception-V3 + Capsule network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99.35% · preserves spatial 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37C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7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Hemachandran (2023)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vs MobileNetV2 vs ResNet-50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 97.06% · light ≈ heavy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37C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7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Mujahid (2024)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12-layer CNN vs 11 backbones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97.57% · lowest test loss (0.0995)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accuracy ranking is misleading — protocols, splits and data-cleaning differ across papers (see next slide).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3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Reported accuracy across studies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758952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064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starts at 94% to reveal differences.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8366760" y="1600200"/>
            <a:ext cx="3273552" cy="4160520"/>
          </a:xfrm>
          <a:prstGeom prst="roundRect">
            <a:avLst>
              <a:gd name="adj" fmla="val 2514"/>
            </a:avLst>
          </a:prstGeom>
          <a:solidFill>
            <a:srgbClr val="0F2E3D"/>
          </a:solidFill>
          <a:ln w="12700">
            <a:solidFill>
              <a:srgbClr val="0F2E3D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C">
                <a:alpha val="2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709660" y="1943100"/>
            <a:ext cx="777240" cy="777240"/>
          </a:xfrm>
          <a:prstGeom prst="ellipse">
            <a:avLst/>
          </a:prstGeom>
          <a:solidFill>
            <a:srgbClr val="CC4A3F"/>
          </a:solidFill>
          <a:ln/>
        </p:spPr>
      </p:sp>
      <p:pic>
        <p:nvPicPr>
          <p:cNvPr id="8" name="Image 0" descr="/tmp/build/assets/ic_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3970" y="2137410"/>
            <a:ext cx="388620" cy="3886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646920" y="20848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with care</a:t>
            </a:r>
            <a:endParaRPr lang="en-US" sz="1650" dirty="0"/>
          </a:p>
        </p:txBody>
      </p:sp>
      <p:sp>
        <p:nvSpPr>
          <p:cNvPr id="10" name="Shape 6"/>
          <p:cNvSpPr/>
          <p:nvPr/>
        </p:nvSpPr>
        <p:spPr>
          <a:xfrm>
            <a:off x="8686800" y="3118104"/>
            <a:ext cx="164592" cy="164592"/>
          </a:xfrm>
          <a:prstGeom prst="ellipse">
            <a:avLst/>
          </a:prstGeom>
          <a:solidFill>
            <a:srgbClr val="2EA79B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8961120" y="302666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splits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8961120" y="33375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5-fold, 10-fold and 80:20 aren't comparable.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686800" y="4050792"/>
            <a:ext cx="164592" cy="164592"/>
          </a:xfrm>
          <a:prstGeom prst="ellipse">
            <a:avLst/>
          </a:prstGeom>
          <a:solidFill>
            <a:srgbClr val="2EA79B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961120" y="395935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data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8961120" y="427024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train on the noisy set, some on cleaned labels.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686800" y="4983480"/>
            <a:ext cx="164592" cy="164592"/>
          </a:xfrm>
          <a:prstGeom prst="ellipse">
            <a:avLst/>
          </a:prstGeom>
          <a:solidFill>
            <a:srgbClr val="2EA79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961120" y="489204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leakage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8961120" y="520293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scores may hide patient-level data leakage.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· Automated Malaria Cell Detection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20040"/>
            <a:ext cx="1005840" cy="1005840"/>
          </a:xfrm>
          <a:prstGeom prst="ellipse">
            <a:avLst/>
          </a:prstGeom>
          <a:solidFill>
            <a:srgbClr val="8A43B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" y="5760720"/>
            <a:ext cx="1097280" cy="1097280"/>
          </a:xfrm>
          <a:prstGeom prst="ellipse">
            <a:avLst/>
          </a:prstGeom>
          <a:solidFill>
            <a:srgbClr val="137C8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02920"/>
            <a:ext cx="2011680" cy="402336"/>
          </a:xfrm>
          <a:prstGeom prst="roundRect">
            <a:avLst>
              <a:gd name="adj" fmla="val 50000"/>
            </a:avLst>
          </a:prstGeom>
          <a:solidFill>
            <a:srgbClr val="D99A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50292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3A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THE BONUS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0241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gaps — what nobody has solved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5468112" cy="1965960"/>
          </a:xfrm>
          <a:prstGeom prst="roundRect">
            <a:avLst>
              <a:gd name="adj" fmla="val 4186"/>
            </a:avLst>
          </a:prstGeom>
          <a:solidFill>
            <a:srgbClr val="15455A"/>
          </a:solidFill>
          <a:ln w="12700">
            <a:solidFill>
              <a:srgbClr val="0E627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3544" y="2157984"/>
            <a:ext cx="749808" cy="749808"/>
          </a:xfrm>
          <a:prstGeom prst="ellipse">
            <a:avLst/>
          </a:prstGeom>
          <a:solidFill>
            <a:srgbClr val="CC4A3F"/>
          </a:solidFill>
          <a:ln/>
        </p:spPr>
      </p:sp>
      <p:pic>
        <p:nvPicPr>
          <p:cNvPr id="9" name="Image 0" descr="/tmp/build/assets/ic_drop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" y="2345436"/>
            <a:ext cx="374904" cy="37490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874520" y="21122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874520" y="236829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Patient-level data leakage</a:t>
            </a:r>
            <a:endParaRPr lang="en-US" sz="165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2971800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5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image-level splits put cells from the same patient in both train and test — inflating accuracy and hiding poor generalisation. Only [1] and [2] split by patient.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345936" y="1874520"/>
            <a:ext cx="5468112" cy="1965960"/>
          </a:xfrm>
          <a:prstGeom prst="roundRect">
            <a:avLst>
              <a:gd name="adj" fmla="val 4186"/>
            </a:avLst>
          </a:prstGeom>
          <a:solidFill>
            <a:srgbClr val="15455A"/>
          </a:solidFill>
          <a:ln w="12700">
            <a:solidFill>
              <a:srgbClr val="0E627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629400" y="2157984"/>
            <a:ext cx="749808" cy="749808"/>
          </a:xfrm>
          <a:prstGeom prst="ellipse">
            <a:avLst/>
          </a:prstGeom>
          <a:solidFill>
            <a:srgbClr val="8A43B0"/>
          </a:solidFill>
          <a:ln/>
        </p:spPr>
      </p:sp>
      <p:pic>
        <p:nvPicPr>
          <p:cNvPr id="15" name="Image 1" descr="/tmp/build/assets/ic_bu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852" y="2345436"/>
            <a:ext cx="374904" cy="37490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580376" y="21122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2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7580376" y="236829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Single-species focus</a:t>
            </a:r>
            <a:endParaRPr lang="en-US" sz="1650" dirty="0"/>
          </a:p>
        </p:txBody>
      </p:sp>
      <p:sp>
        <p:nvSpPr>
          <p:cNvPr id="18" name="Text 14"/>
          <p:cNvSpPr txBox="1"/>
          <p:nvPr/>
        </p:nvSpPr>
        <p:spPr>
          <a:xfrm>
            <a:off x="6665976" y="2971800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5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all models are trained only on P. falciparum. Performance on P. vivax, ovale, malariae, knowlesi is largely untested — only Zhao [6] tried.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40080" y="4078224"/>
            <a:ext cx="5468112" cy="1965960"/>
          </a:xfrm>
          <a:prstGeom prst="roundRect">
            <a:avLst>
              <a:gd name="adj" fmla="val 4186"/>
            </a:avLst>
          </a:prstGeom>
          <a:solidFill>
            <a:srgbClr val="15455A"/>
          </a:solidFill>
          <a:ln w="12700">
            <a:solidFill>
              <a:srgbClr val="0E627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23544" y="4361688"/>
            <a:ext cx="749808" cy="749808"/>
          </a:xfrm>
          <a:prstGeom prst="ellipse">
            <a:avLst/>
          </a:prstGeom>
          <a:solidFill>
            <a:srgbClr val="D99A00"/>
          </a:solidFill>
          <a:ln/>
        </p:spPr>
      </p:sp>
      <p:pic>
        <p:nvPicPr>
          <p:cNvPr id="21" name="Image 2" descr="/tmp/build/assets/ic_t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" y="4549140"/>
            <a:ext cx="374904" cy="37490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874520" y="43159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3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1874520" y="457200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Noisy ground-truth labels</a:t>
            </a:r>
            <a:endParaRPr lang="en-US" sz="1650" dirty="0"/>
          </a:p>
        </p:txBody>
      </p:sp>
      <p:sp>
        <p:nvSpPr>
          <p:cNvPr id="24" name="Text 19"/>
          <p:cNvSpPr txBox="1"/>
          <p:nvPr/>
        </p:nvSpPr>
        <p:spPr>
          <a:xfrm>
            <a:off x="960120" y="5175504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5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 Fuhad [5], everyone trains and reports on the mislabeled public set — so many 'state-of-the-art' numbers are measured against imperfect labels.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345936" y="4078224"/>
            <a:ext cx="5468112" cy="1965960"/>
          </a:xfrm>
          <a:prstGeom prst="roundRect">
            <a:avLst>
              <a:gd name="adj" fmla="val 4186"/>
            </a:avLst>
          </a:prstGeom>
          <a:solidFill>
            <a:srgbClr val="15455A"/>
          </a:solidFill>
          <a:ln w="12700">
            <a:solidFill>
              <a:srgbClr val="0E6274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629400" y="4361688"/>
            <a:ext cx="749808" cy="749808"/>
          </a:xfrm>
          <a:prstGeom prst="ellipse">
            <a:avLst/>
          </a:prstGeom>
          <a:solidFill>
            <a:srgbClr val="2EA79B"/>
          </a:solidFill>
          <a:ln/>
        </p:spPr>
      </p:sp>
      <p:pic>
        <p:nvPicPr>
          <p:cNvPr id="27" name="Image 3" descr="/tmp/build/assets/ic_workfl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6852" y="4549140"/>
            <a:ext cx="374904" cy="374904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580376" y="43159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4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7580376" y="457200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Clinical-workflow gap</a:t>
            </a:r>
            <a:endParaRPr lang="en-US" sz="1650" dirty="0"/>
          </a:p>
        </p:txBody>
      </p:sp>
      <p:sp>
        <p:nvSpPr>
          <p:cNvPr id="30" name="Text 24"/>
          <p:cNvSpPr txBox="1"/>
          <p:nvPr/>
        </p:nvSpPr>
        <p:spPr>
          <a:xfrm>
            <a:off x="6665976" y="5175504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5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centres on clean, pre-segmented single cells. Real labs need raw, unsegmented thick smears with overlapping cells and background noise.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3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GAPS TO A PLAN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literature shapes our project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gap and lesson maps directly onto a design decision — the review is our roadmap, not just background reading.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91672" cy="804672"/>
          </a:xfrm>
          <a:prstGeom prst="roundRect">
            <a:avLst>
              <a:gd name="adj" fmla="val 9091"/>
            </a:avLst>
          </a:prstGeom>
          <a:solidFill>
            <a:srgbClr val="EAF3F5"/>
          </a:solidFill>
          <a:ln w="12700">
            <a:solidFill>
              <a:srgbClr val="D3E1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249424"/>
            <a:ext cx="603504" cy="603504"/>
          </a:xfrm>
          <a:prstGeom prst="ellipse">
            <a:avLst/>
          </a:prstGeom>
          <a:solidFill>
            <a:srgbClr val="137C8E"/>
          </a:solidFill>
          <a:ln/>
        </p:spPr>
      </p:sp>
      <p:pic>
        <p:nvPicPr>
          <p:cNvPr id="7" name="Image 0" descr="/tmp/build/assets/ic_fl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521" y="2394265"/>
            <a:ext cx="313822" cy="31382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91640" y="226771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YUV stain normalization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74920" y="2386584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7C8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74920" y="238658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Umer [4]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858000" y="226771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Immunise the model against staining variation between labs.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063240"/>
            <a:ext cx="11091672" cy="804672"/>
          </a:xfrm>
          <a:prstGeom prst="roundRect">
            <a:avLst>
              <a:gd name="adj" fmla="val 9091"/>
            </a:avLst>
          </a:prstGeom>
          <a:solidFill>
            <a:srgbClr val="F5F9FA"/>
          </a:solidFill>
          <a:ln w="12700">
            <a:solidFill>
              <a:srgbClr val="D3E1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68680" y="3163824"/>
            <a:ext cx="603504" cy="603504"/>
          </a:xfrm>
          <a:prstGeom prst="ellipse">
            <a:avLst/>
          </a:prstGeom>
          <a:solidFill>
            <a:srgbClr val="8A43B0"/>
          </a:solidFill>
          <a:ln/>
        </p:spPr>
      </p:sp>
      <p:pic>
        <p:nvPicPr>
          <p:cNvPr id="14" name="Image 1" descr="/tmp/build/assets/ic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521" y="3308665"/>
            <a:ext cx="313822" cy="31382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691640" y="318211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Verified, corrected dataset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074920" y="3300984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7C8E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074920" y="330098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Fuhad [5]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6858000" y="318211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clean labels so we learn real features, not artifacts.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48640" y="3977640"/>
            <a:ext cx="11091672" cy="804672"/>
          </a:xfrm>
          <a:prstGeom prst="roundRect">
            <a:avLst>
              <a:gd name="adj" fmla="val 9091"/>
            </a:avLst>
          </a:prstGeom>
          <a:solidFill>
            <a:srgbClr val="EAF3F5"/>
          </a:solidFill>
          <a:ln w="12700">
            <a:solidFill>
              <a:srgbClr val="D3E1E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68680" y="4078224"/>
            <a:ext cx="603504" cy="603504"/>
          </a:xfrm>
          <a:prstGeom prst="ellipse">
            <a:avLst/>
          </a:prstGeom>
          <a:solidFill>
            <a:srgbClr val="2EA79B"/>
          </a:solidFill>
          <a:ln/>
        </p:spPr>
      </p:sp>
      <p:pic>
        <p:nvPicPr>
          <p:cNvPr id="21" name="Image 2" descr="/tmp/build/assets/ic_dropl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521" y="4223065"/>
            <a:ext cx="313822" cy="31382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691640" y="409651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Patient-level 5-fold CV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5074920" y="4215384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7C8E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5074920" y="421538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Rajaraman [2]</a:t>
            </a:r>
            <a:endParaRPr lang="en-US" sz="1050" dirty="0"/>
          </a:p>
        </p:txBody>
      </p:sp>
      <p:sp>
        <p:nvSpPr>
          <p:cNvPr id="25" name="Text 20"/>
          <p:cNvSpPr txBox="1"/>
          <p:nvPr/>
        </p:nvSpPr>
        <p:spPr>
          <a:xfrm>
            <a:off x="6858000" y="409651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patient before splitting — honest, leakage-free validation.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548640" y="4892040"/>
            <a:ext cx="11091672" cy="804672"/>
          </a:xfrm>
          <a:prstGeom prst="roundRect">
            <a:avLst>
              <a:gd name="adj" fmla="val 9091"/>
            </a:avLst>
          </a:prstGeom>
          <a:solidFill>
            <a:srgbClr val="F5F9FA"/>
          </a:solidFill>
          <a:ln w="12700">
            <a:solidFill>
              <a:srgbClr val="D3E1E6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868680" y="4992624"/>
            <a:ext cx="603504" cy="603504"/>
          </a:xfrm>
          <a:prstGeom prst="ellipse">
            <a:avLst/>
          </a:prstGeom>
          <a:solidFill>
            <a:srgbClr val="CC4A3F"/>
          </a:solidFill>
          <a:ln/>
        </p:spPr>
      </p:sp>
      <p:pic>
        <p:nvPicPr>
          <p:cNvPr id="28" name="Image 3" descr="/tmp/build/assets/ic_mobi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521" y="5137465"/>
            <a:ext cx="313822" cy="31382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691640" y="501091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Lightweight architecture</a:t>
            </a:r>
            <a:endParaRPr lang="en-US" sz="1600" dirty="0"/>
          </a:p>
        </p:txBody>
      </p:sp>
      <p:sp>
        <p:nvSpPr>
          <p:cNvPr id="30" name="Shape 24"/>
          <p:cNvSpPr/>
          <p:nvPr/>
        </p:nvSpPr>
        <p:spPr>
          <a:xfrm>
            <a:off x="5074920" y="5129784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7C8E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5074920" y="512978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Masud [7] / Fuhad [5]</a:t>
            </a:r>
            <a:endParaRPr lang="en-US" sz="1050" dirty="0"/>
          </a:p>
        </p:txBody>
      </p:sp>
      <p:sp>
        <p:nvSpPr>
          <p:cNvPr id="32" name="Text 26"/>
          <p:cNvSpPr txBox="1"/>
          <p:nvPr/>
        </p:nvSpPr>
        <p:spPr>
          <a:xfrm>
            <a:off x="6858000" y="501091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real-time, on-device inference for low-resource settings.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· Automated Malaria Cell Detection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5669280"/>
            <a:ext cx="1097280" cy="1097280"/>
          </a:xfrm>
          <a:prstGeom prst="ellipse">
            <a:avLst/>
          </a:prstGeom>
          <a:solidFill>
            <a:srgbClr val="137C8E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1188720"/>
            <a:ext cx="548640" cy="548640"/>
          </a:xfrm>
          <a:prstGeom prst="ellipse">
            <a:avLst/>
          </a:prstGeom>
          <a:solidFill>
            <a:srgbClr val="2EA79B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548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961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maturing field — and where we go next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10835640" cy="1417320"/>
          </a:xfrm>
          <a:prstGeom prst="roundRect">
            <a:avLst>
              <a:gd name="adj" fmla="val 6452"/>
            </a:avLst>
          </a:prstGeom>
          <a:solidFill>
            <a:srgbClr val="15455A"/>
          </a:solidFill>
          <a:ln w="12700">
            <a:solidFill>
              <a:srgbClr val="0E627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1691640"/>
            <a:ext cx="10195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has moved from proof-of-concept CNNs → variance-reducing ensembles → capsule networks that preserve cell structure → lightweight models that run offline on a phone. 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E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largely solved on clean data; the open problems are now about trust and deployment.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3375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NEXT STAGES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00200" y="4480560"/>
            <a:ext cx="8961120" cy="0"/>
          </a:xfrm>
          <a:prstGeom prst="line">
            <a:avLst/>
          </a:prstGeom>
          <a:noFill/>
          <a:ln w="25400">
            <a:solidFill>
              <a:srgbClr val="0E627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0160" y="4160520"/>
            <a:ext cx="640080" cy="640080"/>
          </a:xfrm>
          <a:prstGeom prst="ellipse">
            <a:avLst/>
          </a:prstGeom>
          <a:solidFill>
            <a:srgbClr val="2EA79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8016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937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base paper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5303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BF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public code, on the NIH set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20440" y="4160520"/>
            <a:ext cx="640080" cy="640080"/>
          </a:xfrm>
          <a:prstGeom prst="ellipse">
            <a:avLst/>
          </a:prstGeom>
          <a:solidFill>
            <a:srgbClr val="137C8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52044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2880360" y="4937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baseline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834640" y="5303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BF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its reported numbers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60720" y="4160520"/>
            <a:ext cx="640080" cy="640080"/>
          </a:xfrm>
          <a:prstGeom prst="ellipse">
            <a:avLst/>
          </a:prstGeom>
          <a:solidFill>
            <a:srgbClr val="137C8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76072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4937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a hypothesis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074920" y="5303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BF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variable, a direction &amp; why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01000" y="4160520"/>
            <a:ext cx="640080" cy="640080"/>
          </a:xfrm>
          <a:prstGeom prst="ellipse">
            <a:avLst/>
          </a:prstGeom>
          <a:solidFill>
            <a:srgbClr val="137C8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00100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360920" y="4937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ablations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0" y="5303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BF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thing, compare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241280" y="4160520"/>
            <a:ext cx="640080" cy="640080"/>
          </a:xfrm>
          <a:prstGeom prst="ellipse">
            <a:avLst/>
          </a:prstGeom>
          <a:solidFill>
            <a:srgbClr val="137C8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24128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9601200" y="4937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write up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555480" y="5303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BF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format, honest limits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6053328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Positioned to build a clinically reliable, deployable malaria-screening system — with the gaps above as our contribution.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3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eleven reviewed studies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Z. Liang et al., “CNN-Based Image Analysis for Malaria Diagnosis,” IEEE BIBM, 2016.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S. Rajaraman et al., “Pre-trained CNNs as feature extractors toward improved malaria parasite detection,” PeerJ 6:e4568, 2018.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S. Rajaraman et al., “Performance evaluation of deep neural ensembles toward malaria parasite detection,” PeerJ 7:e6977, 2019.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M. Umer et al., “A Novel Stacked CNN for Malarial Parasite Detection in Thin Blood Smear Images,” IEEE Access 8, 2020.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K. M. F. Fuhad et al., “Deep Learning Based Automatic Malaria Parasite Detection … Smartphone Application,” Diagnostics 10(5):329, 2020.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O. S. Zhao et al., “Convolutional neural networks to automate the screening of malaria in low-resource countries,” PeerJ 8:e9674, 2020.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1508760"/>
            <a:ext cx="5394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M. Masud et al., “Leveraging Deep Learning Techniques for Malaria Parasite Detection Using Mobile Application,” WCMC 2020:8895429.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G. Marques et al., “An ensemble-based approach for automated medical diagnosis of malaria using EfficientNet,” MTAP 81, 2022.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G. Madhu et al., “Intelligent diagnostic model … imperative inception-based capsule neural networks,” Scientific Reports 13, 2023.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K. Hemachandran et al., “Performance Analysis of Deep Learning Algorithms in Diagnosis of Malaria Disease,” Diagnostics 13(3):534, 2023.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M. Mujahid et al., “Efficient deep learning-based approach for malaria detection using red blood cell smears,” Scientific Reports 14, 2024.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263640" y="3977640"/>
            <a:ext cx="5376672" cy="2103120"/>
          </a:xfrm>
          <a:prstGeom prst="roundRect">
            <a:avLst>
              <a:gd name="adj" fmla="val 4348"/>
            </a:avLst>
          </a:prstGeom>
          <a:solidFill>
            <a:srgbClr val="0F2E3D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675120" y="4297680"/>
            <a:ext cx="822960" cy="822960"/>
          </a:xfrm>
          <a:prstGeom prst="ellipse">
            <a:avLst/>
          </a:prstGeom>
          <a:solidFill>
            <a:srgbClr val="2EA79B"/>
          </a:solidFill>
          <a:ln/>
        </p:spPr>
        <p:txBody>
          <a:bodyPr/>
          <a:p/>
        </p:txBody>
      </p:sp>
      <p:pic>
        <p:nvPicPr>
          <p:cNvPr id="8" name="Image 0" descr="/tmp/build/assets/ic_microsco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0860" y="4503420"/>
            <a:ext cx="411480" cy="411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680960" y="42976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489204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7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on methods, results, or our chosen research gap are welcome.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14476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 </a:t>
            </a:r>
            <a:pPr indent="0" marL="0">
              <a:buNone/>
            </a:pPr>
            <a:r>
              <a:rPr lang="en-US" sz="110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Pugazhendhi J · J Amathziah · C Murali Madhav · Ravi Yadav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72800" y="5669280"/>
            <a:ext cx="1097280" cy="1097280"/>
          </a:xfrm>
          <a:prstGeom prst="ellipse">
            <a:avLst/>
          </a:prstGeom>
          <a:solidFill>
            <a:srgbClr val="137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1521440" y="1188720"/>
            <a:ext cx="548640" cy="548640"/>
          </a:xfrm>
          <a:prstGeom prst="ellipse">
            <a:avLst/>
          </a:prstGeom>
          <a:solidFill>
            <a:srgbClr val="2E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EA79B"/>
                </a:solidFill>
                <a:latin typeface="Calibri"/>
              </a:rPr>
              <a:t>PHASE 2 ·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9611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From literature review to a working baseline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10835640" cy="1600200"/>
          </a:xfrm>
          <a:prstGeom prst="roundRect">
            <a:avLst>
              <a:gd name="adj" fmla="val 6000"/>
            </a:avLst>
          </a:prstGeom>
          <a:solidFill>
            <a:srgbClr val="15455A"/>
          </a:solidFill>
          <a:ln w="12700">
            <a:solidFill>
              <a:srgbClr val="0E62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05840" y="1810512"/>
            <a:ext cx="1019556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E6F1F3"/>
                </a:solidFill>
                <a:latin typeface="Calibri"/>
              </a:rPr>
              <a:t>Malaria is still confirmed by a technician scanning Giemsa-stained blood smears under a microscope: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slow, subjective and expert-dependent.</a:t>
            </a:r>
            <a:r>
              <a:rPr sz="1500" b="0" i="0">
                <a:solidFill>
                  <a:srgbClr val="E6F1F3"/>
                </a:solidFill>
                <a:latin typeface="Calibri"/>
              </a:rPr>
              <a:t> Deep CNNs trained on the NIH cell dataset now report 96–99.9 % accuracy, but our review found that most evaluate on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random image-level splits</a:t>
            </a:r>
            <a:r>
              <a:rPr sz="1500" b="0" i="0">
                <a:solidFill>
                  <a:srgbClr val="E6F1F3"/>
                </a:solidFill>
                <a:latin typeface="Calibri"/>
              </a:rPr>
              <a:t>, so cells from the same patient sit in both training and testing. Phase 2 makes this concrete: we rebuild one strong published model, then ask how it holds up under fairer, stain-robust conditions.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5204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9FC0C9"/>
                </a:solidFill>
                <a:latin typeface="Calibri"/>
              </a:rPr>
              <a:t>WHAT THIS PHASE DELIVERS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886200"/>
            <a:ext cx="3474720" cy="1920240"/>
          </a:xfrm>
          <a:prstGeom prst="roundRect">
            <a:avLst>
              <a:gd name="adj" fmla="val 6000"/>
            </a:avLst>
          </a:prstGeom>
          <a:solidFill>
            <a:srgbClr val="15455A"/>
          </a:solidFill>
          <a:ln w="12700">
            <a:solidFill>
              <a:srgbClr val="0E62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941832" y="4114800"/>
            <a:ext cx="658368" cy="658368"/>
          </a:xfrm>
          <a:prstGeom prst="ellipse">
            <a:avLst/>
          </a:prstGeom>
          <a:solidFill>
            <a:srgbClr val="2E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" y="4279392"/>
            <a:ext cx="329184" cy="329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764792" y="4133087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mbria"/>
              </a:rPr>
              <a:t>1 · Pick a base paper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919472"/>
            <a:ext cx="2971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D5E6EA"/>
                </a:solidFill>
                <a:latin typeface="Calibri"/>
              </a:rPr>
              <a:t>Marques et al. [8]: EfficientNet-B0 with a stratified 10-fold ensemble. Open-source, strict CV, 98.29 %.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886200"/>
            <a:ext cx="3474720" cy="1920240"/>
          </a:xfrm>
          <a:prstGeom prst="roundRect">
            <a:avLst>
              <a:gd name="adj" fmla="val 6000"/>
            </a:avLst>
          </a:prstGeom>
          <a:solidFill>
            <a:srgbClr val="15455A"/>
          </a:solidFill>
          <a:ln w="12700">
            <a:solidFill>
              <a:srgbClr val="0E62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4599432" y="4114800"/>
            <a:ext cx="658368" cy="658368"/>
          </a:xfrm>
          <a:prstGeom prst="ellipse">
            <a:avLst/>
          </a:prstGeom>
          <a:solidFill>
            <a:srgbClr val="137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024" y="4279392"/>
            <a:ext cx="329184" cy="3291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22392" y="4133087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mbria"/>
              </a:rPr>
              <a:t>2 · Reproduce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4919472"/>
            <a:ext cx="2971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D5E6EA"/>
                </a:solidFill>
                <a:latin typeface="Calibri"/>
              </a:rPr>
              <a:t>Rebuild its training recipe on the NIH set and match its numbers. This becomes our baseline.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3886200"/>
            <a:ext cx="3474720" cy="1920240"/>
          </a:xfrm>
          <a:prstGeom prst="roundRect">
            <a:avLst>
              <a:gd name="adj" fmla="val 6000"/>
            </a:avLst>
          </a:prstGeom>
          <a:solidFill>
            <a:srgbClr val="15455A"/>
          </a:solidFill>
          <a:ln w="12700">
            <a:solidFill>
              <a:srgbClr val="0E62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8257031" y="4114800"/>
            <a:ext cx="658368" cy="658368"/>
          </a:xfrm>
          <a:prstGeom prst="ellipse">
            <a:avLst/>
          </a:prstGeom>
          <a:solidFill>
            <a:srgbClr val="8A4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4279392"/>
            <a:ext cx="329184" cy="32918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079992" y="4133087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mbria"/>
              </a:rPr>
              <a:t>3 · State our hypothesis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4919472"/>
            <a:ext cx="2971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D5E6EA"/>
                </a:solidFill>
                <a:latin typeface="Calibri"/>
              </a:rPr>
              <a:t>Two changes, one variable each: a leakage-free split (H1) and YUV stain normalisation (H2).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0533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EA79B"/>
                </a:solidFill>
                <a:latin typeface="Calibri"/>
              </a:rPr>
              <a:t>Milestones 2 &amp; 3:  </a:t>
            </a:r>
            <a:r>
              <a:rPr sz="1400" b="0" i="0">
                <a:solidFill>
                  <a:srgbClr val="CFE3E8"/>
                </a:solidFill>
                <a:latin typeface="Calibri"/>
              </a:rPr>
              <a:t>baseline reproduction (notebook) + hypothesis for the proposed changes.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37C8E"/>
                </a:solidFill>
                <a:latin typeface="Calibri"/>
              </a:rPr>
              <a:t>BASE PAPER · MARQUES ET AL. [8],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7262E"/>
                </a:solidFill>
                <a:latin typeface="Cambria"/>
              </a:rPr>
              <a:t>Why EfficientNet-B0 + a 10-fold ensemble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0" i="0">
                <a:solidFill>
                  <a:srgbClr val="41525B"/>
                </a:solidFill>
                <a:latin typeface="Calibri"/>
              </a:rPr>
              <a:t>Multimedia Tools and Applications 81 (2022). We need a published, reproducible model to compare our changes against.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5760720" cy="786384"/>
          </a:xfrm>
          <a:prstGeom prst="roundRect">
            <a:avLst>
              <a:gd name="adj" fmla="val 6000"/>
            </a:avLst>
          </a:prstGeom>
          <a:solidFill>
            <a:srgbClr val="EAF3F5"/>
          </a:solidFill>
          <a:ln w="12700">
            <a:solidFill>
              <a:srgbClr val="D3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749808" y="2221991"/>
            <a:ext cx="548640" cy="548640"/>
          </a:xfrm>
          <a:prstGeom prst="ellipse">
            <a:avLst/>
          </a:prstGeom>
          <a:solidFill>
            <a:srgbClr val="137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359151"/>
            <a:ext cx="274320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81328" y="2194560"/>
            <a:ext cx="4709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262E"/>
                </a:solidFill>
                <a:latin typeface="Cambria"/>
              </a:rPr>
              <a:t>Open-source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249631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1525B"/>
                </a:solidFill>
                <a:latin typeface="Calibri"/>
              </a:rPr>
              <a:t>Authors released their code, so a fair, faithful reproduction is possible.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99232"/>
            <a:ext cx="5760720" cy="786384"/>
          </a:xfrm>
          <a:prstGeom prst="roundRect">
            <a:avLst>
              <a:gd name="adj" fmla="val 6000"/>
            </a:avLst>
          </a:prstGeom>
          <a:solidFill>
            <a:srgbClr val="F5F9FA"/>
          </a:solidFill>
          <a:ln w="12700">
            <a:solidFill>
              <a:srgbClr val="D3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49808" y="3118103"/>
            <a:ext cx="548640" cy="548640"/>
          </a:xfrm>
          <a:prstGeom prst="ellipse">
            <a:avLst/>
          </a:prstGeom>
          <a:solidFill>
            <a:srgbClr val="8A4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255263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81328" y="3090672"/>
            <a:ext cx="4709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262E"/>
                </a:solidFill>
                <a:latin typeface="Cambria"/>
              </a:rPr>
              <a:t>Strict, stratified 10-fold CV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3392424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1525B"/>
                </a:solidFill>
                <a:latin typeface="Calibri"/>
              </a:rPr>
              <a:t>The most rigorous protocol in our review. Every image is validated once.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95344"/>
            <a:ext cx="5760720" cy="786384"/>
          </a:xfrm>
          <a:prstGeom prst="roundRect">
            <a:avLst>
              <a:gd name="adj" fmla="val 6000"/>
            </a:avLst>
          </a:prstGeom>
          <a:solidFill>
            <a:srgbClr val="EAF3F5"/>
          </a:solidFill>
          <a:ln w="12700">
            <a:solidFill>
              <a:srgbClr val="D3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749808" y="4014215"/>
            <a:ext cx="548640" cy="548640"/>
          </a:xfrm>
          <a:prstGeom prst="ellipse">
            <a:avLst/>
          </a:prstGeom>
          <a:solidFill>
            <a:srgbClr val="2E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151376"/>
            <a:ext cx="274320" cy="274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81328" y="3986783"/>
            <a:ext cx="4709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262E"/>
                </a:solidFill>
                <a:latin typeface="Cambria"/>
              </a:rPr>
              <a:t>Light backbone (~4–5 M params)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4288536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1525B"/>
                </a:solidFill>
                <a:latin typeface="Calibri"/>
              </a:rPr>
              <a:t>B0 is the smallest EfficientNet, so it stays close to our deployability goal.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791456"/>
            <a:ext cx="5760720" cy="786384"/>
          </a:xfrm>
          <a:prstGeom prst="roundRect">
            <a:avLst>
              <a:gd name="adj" fmla="val 6000"/>
            </a:avLst>
          </a:prstGeom>
          <a:solidFill>
            <a:srgbClr val="F5F9FA"/>
          </a:solidFill>
          <a:ln w="12700">
            <a:solidFill>
              <a:srgbClr val="D3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749808" y="4910328"/>
            <a:ext cx="548640" cy="548640"/>
          </a:xfrm>
          <a:prstGeom prst="ellipse">
            <a:avLst/>
          </a:prstGeom>
          <a:solidFill>
            <a:srgbClr val="CC4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5047488"/>
            <a:ext cx="274320" cy="274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481328" y="4882896"/>
            <a:ext cx="4709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262E"/>
                </a:solidFill>
                <a:latin typeface="Cambria"/>
              </a:rPr>
              <a:t>Strong, but not at the ceiling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5184648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1525B"/>
                </a:solidFill>
                <a:latin typeface="Calibri"/>
              </a:rPr>
              <a:t>98.29 % leaves room to measure whether a change helps or hurts.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2103120"/>
            <a:ext cx="5056632" cy="3474720"/>
          </a:xfrm>
          <a:prstGeom prst="roundRect">
            <a:avLst>
              <a:gd name="adj" fmla="val 6000"/>
            </a:avLst>
          </a:prstGeom>
          <a:solidFill>
            <a:srgbClr val="17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58000" y="22402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EA79B"/>
                </a:solidFill>
                <a:latin typeface="Calibri"/>
              </a:rPr>
              <a:t>THE METHOD WE REPRODUCE</a:t>
            </a:r>
          </a:p>
        </p:txBody>
      </p:sp>
      <p:sp>
        <p:nvSpPr>
          <p:cNvPr id="27" name="Oval 26"/>
          <p:cNvSpPr/>
          <p:nvPr/>
        </p:nvSpPr>
        <p:spPr>
          <a:xfrm>
            <a:off x="6858000" y="2642616"/>
            <a:ext cx="310896" cy="310896"/>
          </a:xfrm>
          <a:prstGeom prst="ellipse">
            <a:avLst/>
          </a:prstGeom>
          <a:solidFill>
            <a:srgbClr val="137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58000" y="264261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2606040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NIH cells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2606040"/>
            <a:ext cx="2697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BFD6DC"/>
                </a:solidFill>
                <a:latin typeface="Calibri"/>
              </a:rPr>
              <a:t>27,558 crops · balanced</a:t>
            </a:r>
          </a:p>
        </p:txBody>
      </p:sp>
      <p:sp>
        <p:nvSpPr>
          <p:cNvPr id="31" name="Oval 30"/>
          <p:cNvSpPr/>
          <p:nvPr/>
        </p:nvSpPr>
        <p:spPr>
          <a:xfrm>
            <a:off x="6858000" y="3127248"/>
            <a:ext cx="310896" cy="310896"/>
          </a:xfrm>
          <a:prstGeom prst="ellipse">
            <a:avLst/>
          </a:prstGeom>
          <a:solidFill>
            <a:srgbClr val="137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858000" y="312724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090672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Resize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3090672"/>
            <a:ext cx="2697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BFD6DC"/>
                </a:solidFill>
                <a:latin typeface="Calibri"/>
              </a:rPr>
              <a:t>224 × 224 RGB</a:t>
            </a:r>
          </a:p>
        </p:txBody>
      </p:sp>
      <p:sp>
        <p:nvSpPr>
          <p:cNvPr id="35" name="Oval 34"/>
          <p:cNvSpPr/>
          <p:nvPr/>
        </p:nvSpPr>
        <p:spPr>
          <a:xfrm>
            <a:off x="6858000" y="3611880"/>
            <a:ext cx="310896" cy="310896"/>
          </a:xfrm>
          <a:prstGeom prst="ellipse">
            <a:avLst/>
          </a:prstGeom>
          <a:solidFill>
            <a:srgbClr val="137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858000" y="361188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3575304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EfficientNet-B0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3575304"/>
            <a:ext cx="2697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BFD6DC"/>
                </a:solidFill>
                <a:latin typeface="Calibri"/>
              </a:rPr>
              <a:t>ImageNet weights, fully fine-tuned</a:t>
            </a:r>
          </a:p>
        </p:txBody>
      </p:sp>
      <p:sp>
        <p:nvSpPr>
          <p:cNvPr id="39" name="Oval 38"/>
          <p:cNvSpPr/>
          <p:nvPr/>
        </p:nvSpPr>
        <p:spPr>
          <a:xfrm>
            <a:off x="6858000" y="4096512"/>
            <a:ext cx="310896" cy="310896"/>
          </a:xfrm>
          <a:prstGeom prst="ellipse">
            <a:avLst/>
          </a:prstGeom>
          <a:solidFill>
            <a:srgbClr val="137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858000" y="409651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4059936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4059936"/>
            <a:ext cx="2697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BFD6DC"/>
                </a:solidFill>
                <a:latin typeface="Calibri"/>
              </a:rPr>
              <a:t>Adam 1e-4 · LR plateau decay → 1e-6</a:t>
            </a:r>
          </a:p>
        </p:txBody>
      </p:sp>
      <p:sp>
        <p:nvSpPr>
          <p:cNvPr id="43" name="Oval 42"/>
          <p:cNvSpPr/>
          <p:nvPr/>
        </p:nvSpPr>
        <p:spPr>
          <a:xfrm>
            <a:off x="6858000" y="4581144"/>
            <a:ext cx="310896" cy="310896"/>
          </a:xfrm>
          <a:prstGeom prst="ellipse">
            <a:avLst/>
          </a:prstGeom>
          <a:solidFill>
            <a:srgbClr val="137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858000" y="458114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4544568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Validate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0" y="4544568"/>
            <a:ext cx="2697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BFD6DC"/>
                </a:solidFill>
                <a:latin typeface="Calibri"/>
              </a:rPr>
              <a:t>stratified 10-fold cross-validation</a:t>
            </a:r>
          </a:p>
        </p:txBody>
      </p:sp>
      <p:sp>
        <p:nvSpPr>
          <p:cNvPr id="47" name="Oval 46"/>
          <p:cNvSpPr/>
          <p:nvPr/>
        </p:nvSpPr>
        <p:spPr>
          <a:xfrm>
            <a:off x="6858000" y="5065776"/>
            <a:ext cx="310896" cy="310896"/>
          </a:xfrm>
          <a:prstGeom prst="ellipse">
            <a:avLst/>
          </a:prstGeom>
          <a:solidFill>
            <a:srgbClr val="2E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858000" y="506577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5029200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Ensemble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69680" y="5029200"/>
            <a:ext cx="2697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BFD6DC"/>
                </a:solidFill>
                <a:latin typeface="Calibri"/>
              </a:rPr>
              <a:t>average the 10 fold models' probabilities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5715000"/>
            <a:ext cx="26517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37C8E"/>
                </a:solidFill>
                <a:latin typeface="Cambria"/>
              </a:rPr>
              <a:t>97.70 %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126480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1525B"/>
                </a:solidFill>
                <a:latin typeface="Calibri"/>
              </a:rPr>
              <a:t>mean single-fold accuracy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46704" y="5715000"/>
            <a:ext cx="26517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37C8E"/>
                </a:solidFill>
                <a:latin typeface="Cambria"/>
              </a:rPr>
              <a:t>98.29 %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46704" y="6126480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1525B"/>
                </a:solidFill>
                <a:latin typeface="Calibri"/>
              </a:rPr>
              <a:t>ensemble accuracy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44768" y="5715000"/>
            <a:ext cx="26517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37C8E"/>
                </a:solidFill>
                <a:latin typeface="Cambria"/>
              </a:rPr>
              <a:t>98.82 %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44768" y="6126480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1525B"/>
                </a:solidFill>
                <a:latin typeface="Calibri"/>
              </a:rPr>
              <a:t>ensemble recall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42832" y="5715000"/>
            <a:ext cx="26517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37C8E"/>
                </a:solidFill>
                <a:latin typeface="Cambria"/>
              </a:rPr>
              <a:t>99.76 %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42832" y="6126480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1525B"/>
                </a:solidFill>
                <a:latin typeface="Calibri"/>
              </a:rPr>
              <a:t>ensemble ROC-AUC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C8B93"/>
                </a:solidFill>
                <a:latin typeface="Calibri"/>
              </a:rPr>
              <a:t>Phase 2 · Baseline &amp; Hypothesis · Automated Malaria Cell Detection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C8B93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37C8E"/>
                </a:solidFill>
                <a:latin typeface="Calibri"/>
              </a:rPr>
              <a:t>MILESTONE 2 · BASELINE REPRODUCTION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7262E"/>
                </a:solidFill>
                <a:latin typeface="Cambria"/>
              </a:rPr>
              <a:t>Rebuilding the paper's recipe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0" i="0">
                <a:solidFill>
                  <a:srgbClr val="41525B"/>
                </a:solidFill>
                <a:latin typeface="Calibri"/>
              </a:rPr>
              <a:t>Same data, backbone, optimiser, schedule and validation. Deviations are listed openly.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57400"/>
          <a:ext cx="5897880" cy="3456432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417320"/>
                <a:gridCol w="2103120"/>
                <a:gridCol w="237744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Setting</a:t>
                      </a:r>
                    </a:p>
                  </a:txBody>
                  <a:tcPr marL="73152" marR="73152" marT="27432" marB="27432" anchor="ctr">
                    <a:solidFill>
                      <a:srgbClr val="1726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Paper [8]</a:t>
                      </a:r>
                    </a:p>
                  </a:txBody>
                  <a:tcPr marL="73152" marR="73152" marT="27432" marB="27432" anchor="ctr">
                    <a:solidFill>
                      <a:srgbClr val="1726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Our notebook</a:t>
                      </a:r>
                    </a:p>
                  </a:txBody>
                  <a:tcPr marL="73152" marR="73152" marT="27432" marB="27432" anchor="ctr">
                    <a:solidFill>
                      <a:srgbClr val="17262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7262E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1525B"/>
                          </a:solidFill>
                          <a:latin typeface="Calibri"/>
                        </a:rPr>
                        <a:t>NIH, 27,558 cells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EA79B"/>
                          </a:solidFill>
                          <a:latin typeface="Calibri"/>
                        </a:rPr>
                        <a:t>Same</a:t>
                      </a:r>
                      <a:r>
                        <a:rPr sz="1100" b="0">
                          <a:solidFill>
                            <a:srgbClr val="41525B"/>
                          </a:solidFill>
                          <a:latin typeface="Calibri"/>
                        </a:rPr>
                        <a:t> (Kaggle mirror)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7262E"/>
                          </a:solidFill>
                          <a:latin typeface="Calibri"/>
                        </a:rPr>
                        <a:t>Backbone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1525B"/>
                          </a:solidFill>
                          <a:latin typeface="Calibri"/>
                        </a:rPr>
                        <a:t>EfficientNet-B0, ImageNet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EA79B"/>
                          </a:solidFill>
                          <a:latin typeface="Calibri"/>
                        </a:rPr>
                        <a:t>Same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7262E"/>
                          </a:solidFill>
                          <a:latin typeface="Calibri"/>
                        </a:rPr>
                        <a:t>Optimiser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1525B"/>
                          </a:solidFill>
                          <a:latin typeface="Calibri"/>
                        </a:rPr>
                        <a:t>Adam, lr 1e-4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EA79B"/>
                          </a:solidFill>
                          <a:latin typeface="Calibri"/>
                        </a:rPr>
                        <a:t>Same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7262E"/>
                          </a:solidFill>
                          <a:latin typeface="Calibri"/>
                        </a:rPr>
                        <a:t>LR schedule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1525B"/>
                          </a:solidFill>
                          <a:latin typeface="Calibri"/>
                        </a:rPr>
                        <a:t>Plateau, p = 6 → 1e-6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EA79B"/>
                          </a:solidFill>
                          <a:latin typeface="Calibri"/>
                        </a:rPr>
                        <a:t>Same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7262E"/>
                          </a:solidFill>
                          <a:latin typeface="Calibri"/>
                        </a:rPr>
                        <a:t>Validation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1525B"/>
                          </a:solidFill>
                          <a:latin typeface="Calibri"/>
                        </a:rPr>
                        <a:t>Stratified 10-fold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EA79B"/>
                          </a:solidFill>
                          <a:latin typeface="Calibri"/>
                        </a:rPr>
                        <a:t>Same</a:t>
                      </a:r>
                      <a:r>
                        <a:rPr sz="1100" b="0">
                          <a:solidFill>
                            <a:srgbClr val="41525B"/>
                          </a:solidFill>
                          <a:latin typeface="Calibri"/>
                        </a:rPr>
                        <a:t> + 10 % untouched test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7262E"/>
                          </a:solidFill>
                          <a:latin typeface="Calibri"/>
                        </a:rPr>
                        <a:t>Augmentation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1525B"/>
                          </a:solidFill>
                          <a:latin typeface="Calibri"/>
                        </a:rPr>
                        <a:t>Albumentations (unlisted)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D99A00"/>
                          </a:solidFill>
                          <a:latin typeface="Calibri"/>
                        </a:rPr>
                        <a:t>Flips + 90° rotations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7262E"/>
                          </a:solidFill>
                          <a:latin typeface="Calibri"/>
                        </a:rPr>
                        <a:t>Epochs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1525B"/>
                          </a:solidFill>
                          <a:latin typeface="Calibri"/>
                        </a:rPr>
                        <a:t>Not reported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D99A00"/>
                          </a:solidFill>
                          <a:latin typeface="Calibri"/>
                        </a:rPr>
                        <a:t>≤ 15, early stop (p = 5)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7262E"/>
                          </a:solidFill>
                          <a:latin typeface="Calibri"/>
                        </a:rPr>
                        <a:t>Folds trained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1525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D99A00"/>
                          </a:solidFill>
                          <a:latin typeface="Calibri"/>
                        </a:rPr>
                        <a:t>3 of 10 (free GPU)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623560"/>
            <a:ext cx="5897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A79B"/>
                </a:solidFill>
                <a:latin typeface="Calibri"/>
              </a:rPr>
              <a:t>Same</a:t>
            </a:r>
            <a:r>
              <a:rPr sz="1050" b="0" i="0">
                <a:solidFill>
                  <a:srgbClr val="41525B"/>
                </a:solidFill>
                <a:latin typeface="Calibri"/>
              </a:rPr>
              <a:t>  = matches the paper     </a:t>
            </a:r>
            <a:r>
              <a:rPr sz="1050" b="1" i="0">
                <a:solidFill>
                  <a:srgbClr val="D99A00"/>
                </a:solidFill>
                <a:latin typeface="Calibri"/>
              </a:rPr>
              <a:t>Amber</a:t>
            </a:r>
            <a:r>
              <a:rPr sz="1050" b="0" i="0">
                <a:solidFill>
                  <a:srgbClr val="41525B"/>
                </a:solidFill>
                <a:latin typeface="Calibri"/>
              </a:rPr>
              <a:t>  = documented deviation (missing detail or compute budget)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2057400"/>
            <a:ext cx="4919472" cy="4069080"/>
          </a:xfrm>
          <a:prstGeom prst="roundRect">
            <a:avLst>
              <a:gd name="adj" fmla="val 6000"/>
            </a:avLst>
          </a:prstGeom>
          <a:solidFill>
            <a:srgbClr val="EAF3F5"/>
          </a:solidFill>
          <a:ln w="12700">
            <a:solidFill>
              <a:srgbClr val="D3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949440" y="219456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37C8E"/>
                </a:solidFill>
                <a:latin typeface="Calibri"/>
              </a:rPr>
              <a:t>RESULTS · NIH TEST SET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949440" y="2560320"/>
          <a:ext cx="4462272" cy="2779776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920240"/>
                <a:gridCol w="1271016"/>
                <a:gridCol w="1271016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3152" marR="73152" marT="27432" marB="27432" anchor="ctr">
                    <a:solidFill>
                      <a:srgbClr val="1726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Paper</a:t>
                      </a:r>
                    </a:p>
                  </a:txBody>
                  <a:tcPr marL="73152" marR="73152" marT="27432" marB="27432" anchor="ctr">
                    <a:solidFill>
                      <a:srgbClr val="1726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Ours</a:t>
                      </a:r>
                    </a:p>
                  </a:txBody>
                  <a:tcPr marL="73152" marR="73152" marT="27432" marB="27432" anchor="ctr">
                    <a:solidFill>
                      <a:srgbClr val="17262E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7262E"/>
                          </a:solidFill>
                          <a:latin typeface="Calibri"/>
                        </a:rPr>
                        <a:t>Mean fold accuracy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1525B"/>
                          </a:solidFill>
                          <a:latin typeface="Calibri"/>
                        </a:rPr>
                        <a:t>97.70 %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37C8E"/>
                          </a:solidFill>
                          <a:latin typeface="Calibri"/>
                        </a:rPr>
                        <a:t>__ . __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7262E"/>
                          </a:solidFill>
                          <a:latin typeface="Calibri"/>
                        </a:rPr>
                        <a:t>Ensemble accuracy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1525B"/>
                          </a:solidFill>
                          <a:latin typeface="Calibri"/>
                        </a:rPr>
                        <a:t>98.29 %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37C8E"/>
                          </a:solidFill>
                          <a:latin typeface="Calibri"/>
                        </a:rPr>
                        <a:t>__ . __ %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7262E"/>
                          </a:solidFill>
                          <a:latin typeface="Calibri"/>
                        </a:rPr>
                        <a:t>Recall (sensitivity)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1525B"/>
                          </a:solidFill>
                          <a:latin typeface="Calibri"/>
                        </a:rPr>
                        <a:t>98.82 %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37C8E"/>
                          </a:solidFill>
                          <a:latin typeface="Calibri"/>
                        </a:rPr>
                        <a:t>__ . __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7262E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1525B"/>
                          </a:solidFill>
                          <a:latin typeface="Calibri"/>
                        </a:rPr>
                        <a:t>97.74 %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37C8E"/>
                          </a:solidFill>
                          <a:latin typeface="Calibri"/>
                        </a:rPr>
                        <a:t>__ . __ %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7262E"/>
                          </a:solidFill>
                          <a:latin typeface="Calibri"/>
                        </a:rPr>
                        <a:t>F1-score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1525B"/>
                          </a:solidFill>
                          <a:latin typeface="Calibri"/>
                        </a:rPr>
                        <a:t>98.28 %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37C8E"/>
                          </a:solidFill>
                          <a:latin typeface="Calibri"/>
                        </a:rPr>
                        <a:t>__ . __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7262E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1525B"/>
                          </a:solidFill>
                          <a:latin typeface="Calibri"/>
                        </a:rPr>
                        <a:t>99.76 %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37C8E"/>
                          </a:solidFill>
                          <a:latin typeface="Calibri"/>
                        </a:rPr>
                        <a:t>__ . __ %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7262E"/>
                          </a:solidFill>
                          <a:latin typeface="Calibri"/>
                        </a:rPr>
                        <a:t>MCC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1525B"/>
                          </a:solidFill>
                          <a:latin typeface="Calibri"/>
                        </a:rPr>
                        <a:t>not reported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37C8E"/>
                          </a:solidFill>
                          <a:latin typeface="Calibri"/>
                        </a:rPr>
                        <a:t>__ . __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949440" y="5440680"/>
            <a:ext cx="44805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7262E"/>
                </a:solidFill>
                <a:latin typeface="Calibri"/>
              </a:rPr>
              <a:t>Success criterion: </a:t>
            </a:r>
            <a:r>
              <a:rPr sz="1100" b="0" i="0">
                <a:solidFill>
                  <a:srgbClr val="41525B"/>
                </a:solidFill>
                <a:latin typeface="Calibri"/>
              </a:rPr>
              <a:t>within ≈ 1 pp of the paper. Ours = notebook §10 output (Kaggle T4 GPU).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C8B93"/>
                </a:solidFill>
                <a:latin typeface="Calibri"/>
              </a:rPr>
              <a:t>Phase 2 · Baseline &amp; Hypothesis · Automated Malaria Cell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C8B93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09960" y="320040"/>
            <a:ext cx="1005840" cy="1005840"/>
          </a:xfrm>
          <a:prstGeom prst="ellipse">
            <a:avLst/>
          </a:prstGeom>
          <a:solidFill>
            <a:srgbClr val="8A4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1475720" y="6172200"/>
            <a:ext cx="822960" cy="822960"/>
          </a:xfrm>
          <a:prstGeom prst="ellipse">
            <a:avLst/>
          </a:prstGeom>
          <a:solidFill>
            <a:srgbClr val="137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40080" y="502920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D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3A2A00"/>
                </a:solidFill>
                <a:latin typeface="Calibri"/>
              </a:rPr>
              <a:t>★ OUR HYPOTHESIS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Two proposed changes, one variable at a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468112" cy="3931920"/>
          </a:xfrm>
          <a:prstGeom prst="roundRect">
            <a:avLst>
              <a:gd name="adj" fmla="val 6000"/>
            </a:avLst>
          </a:prstGeom>
          <a:solidFill>
            <a:srgbClr val="15455A"/>
          </a:solidFill>
          <a:ln w="12700">
            <a:solidFill>
              <a:srgbClr val="0E62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914400" y="2057400"/>
            <a:ext cx="731520" cy="731520"/>
          </a:xfrm>
          <a:prstGeom prst="ellipse">
            <a:avLst/>
          </a:prstGeom>
          <a:solidFill>
            <a:srgbClr val="CC4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240280"/>
            <a:ext cx="365760" cy="365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048256"/>
            <a:ext cx="4069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FC0C9"/>
                </a:solidFill>
                <a:latin typeface="Calibri"/>
              </a:rPr>
              <a:t>H1 ·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304288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FFFFFF"/>
                </a:solidFill>
                <a:latin typeface="Cambria"/>
              </a:rPr>
              <a:t>Leakage-free, slide-grouped split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017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9FC0C9"/>
                </a:solidFill>
                <a:latin typeface="Calibri"/>
              </a:rPr>
              <a:t>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990088"/>
            <a:ext cx="3840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D5E6EA"/>
                </a:solidFill>
                <a:latin typeface="Calibri"/>
              </a:rPr>
              <a:t>Split by slide/patient (StratifiedGroupKFold) instead of random images. Model unchanged.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913631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D99A00"/>
                </a:solidFill>
                <a:latin typeface="Calibri"/>
              </a:rPr>
              <a:t>WE EXPECT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886199"/>
            <a:ext cx="3840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Accuracy and MCC fall below the image-split baseline, and fold-to-fold spread widens.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80974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9FC0C9"/>
                </a:solidFill>
                <a:latin typeface="Calibri"/>
              </a:rPr>
              <a:t>BECAUSE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782312"/>
            <a:ext cx="3840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D5E6EA"/>
                </a:solidFill>
                <a:latin typeface="Calibri"/>
              </a:rPr>
              <a:t>Cells from one slide share stain, lighting and the patient's cell shape. A random split lets the model recognise the slide rather than the parasite.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45936" y="1828800"/>
            <a:ext cx="5468112" cy="3931920"/>
          </a:xfrm>
          <a:prstGeom prst="roundRect">
            <a:avLst>
              <a:gd name="adj" fmla="val 6000"/>
            </a:avLst>
          </a:prstGeom>
          <a:solidFill>
            <a:srgbClr val="15455A"/>
          </a:solidFill>
          <a:ln w="12700">
            <a:solidFill>
              <a:srgbClr val="0E62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620256" y="2057400"/>
            <a:ext cx="731520" cy="731520"/>
          </a:xfrm>
          <a:prstGeom prst="ellipse">
            <a:avLst/>
          </a:prstGeom>
          <a:solidFill>
            <a:srgbClr val="2E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36" y="2240280"/>
            <a:ext cx="365760" cy="365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534656" y="2048256"/>
            <a:ext cx="4069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FC0C9"/>
                </a:solidFill>
                <a:latin typeface="Calibri"/>
              </a:rPr>
              <a:t>H2 · PREPROCESSING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34656" y="2304288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FFFFFF"/>
                </a:solidFill>
                <a:latin typeface="Cambria"/>
              </a:rPr>
              <a:t>YUV stain normalisation (Umer [4])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8544" y="3017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9FC0C9"/>
                </a:solidFill>
                <a:latin typeface="Calibri"/>
              </a:rPr>
              <a:t>CHANGE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63256" y="2990088"/>
            <a:ext cx="3840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D5E6EA"/>
                </a:solidFill>
                <a:latin typeface="Calibri"/>
              </a:rPr>
              <a:t>Add RGB → YUV → histogram-equalise Y → RGB before EfficientNet-B0. Grouped split kept fixed.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38544" y="3913631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D99A00"/>
                </a:solidFill>
                <a:latin typeface="Calibri"/>
              </a:rPr>
              <a:t>WE EXPECT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63256" y="3886199"/>
            <a:ext cx="3840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Higher recall and MCC than the H1 model on unseen slides; little change on the random split.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38544" y="480974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9FC0C9"/>
                </a:solidFill>
                <a:latin typeface="Calibri"/>
              </a:rPr>
              <a:t>BECAUSE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63256" y="4782312"/>
            <a:ext cx="3840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D5E6EA"/>
                </a:solidFill>
                <a:latin typeface="Calibri"/>
              </a:rPr>
              <a:t>Equalising brightness strips slide-specific colour cues, so the network has to rely on parasite morphology. That's the signal that carries across labs.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25312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D99A00"/>
                </a:solidFill>
                <a:latin typeface="Calibri"/>
              </a:rPr>
              <a:t>Falsifiable:  </a:t>
            </a:r>
            <a:r>
              <a:rPr sz="1250" b="0" i="0">
                <a:solidFill>
                  <a:srgbClr val="CFE3E8"/>
                </a:solidFill>
                <a:latin typeface="Calibri"/>
              </a:rPr>
              <a:t>if H2's gain over H1 is smaller than the fold-to-fold standard deviation, we reject H2. If grouped and random splits score the same, H1 is rejected and leakage is not a real issue on this dataset.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37C8E"/>
                </a:solidFill>
                <a:latin typeface="Calibri"/>
              </a:rPr>
              <a:t>HOW WE WILL TEST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7262E"/>
                </a:solidFill>
                <a:latin typeface="Cambria"/>
              </a:rPr>
              <a:t>Ablation plan &amp; success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0" i="0">
                <a:solidFill>
                  <a:srgbClr val="41525B"/>
                </a:solidFill>
                <a:latin typeface="Calibri"/>
              </a:rPr>
              <a:t>Each comparison changes exactly one thing (shown in brackets). Same seeds, epochs and folds throughout.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03120"/>
          <a:ext cx="11091672" cy="256032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640080"/>
                <a:gridCol w="1920240"/>
                <a:gridCol w="1691640"/>
                <a:gridCol w="5468112"/>
                <a:gridCol w="137160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73152" marR="73152" marT="27432" marB="27432" anchor="ctr">
                    <a:solidFill>
                      <a:srgbClr val="1726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Split</a:t>
                      </a:r>
                    </a:p>
                  </a:txBody>
                  <a:tcPr marL="73152" marR="73152" marT="27432" marB="27432" anchor="ctr">
                    <a:solidFill>
                      <a:srgbClr val="1726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Preprocessing</a:t>
                      </a:r>
                    </a:p>
                  </a:txBody>
                  <a:tcPr marL="73152" marR="73152" marT="27432" marB="27432" anchor="ctr">
                    <a:solidFill>
                      <a:srgbClr val="1726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What it answers</a:t>
                      </a:r>
                    </a:p>
                  </a:txBody>
                  <a:tcPr marL="73152" marR="73152" marT="27432" marB="27432" anchor="ctr">
                    <a:solidFill>
                      <a:srgbClr val="1726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17262E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7262E"/>
                          </a:solidFill>
                          <a:latin typeface="Calibri"/>
                        </a:rPr>
                        <a:t>A0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1525B"/>
                          </a:solidFill>
                          <a:latin typeface="Calibri"/>
                        </a:rPr>
                        <a:t>Image-level (paper)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1525B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1525B"/>
                          </a:solidFill>
                          <a:latin typeface="Calibri"/>
                        </a:rPr>
                        <a:t>Baseline: does our reproduction match [8]?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EA79B"/>
                          </a:solidFill>
                          <a:latin typeface="Calibri"/>
                        </a:rPr>
                        <a:t>Milestone 2 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7262E"/>
                          </a:solidFill>
                          <a:latin typeface="Calibri"/>
                        </a:rPr>
                        <a:t>A1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1525B"/>
                          </a:solidFill>
                          <a:latin typeface="Calibri"/>
                        </a:rPr>
                        <a:t>Slide-grouped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1525B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1525B"/>
                          </a:solidFill>
                          <a:latin typeface="Calibri"/>
                        </a:rPr>
                        <a:t>H1: how big is the leakage gap (A0 − A1)?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D99A00"/>
                          </a:solidFill>
                          <a:latin typeface="Calibri"/>
                        </a:rPr>
                        <a:t>Next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7262E"/>
                          </a:solidFill>
                          <a:latin typeface="Calibri"/>
                        </a:rPr>
                        <a:t>A2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1525B"/>
                          </a:solidFill>
                          <a:latin typeface="Calibri"/>
                        </a:rPr>
                        <a:t>Slide-grouped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1525B"/>
                          </a:solidFill>
                          <a:latin typeface="Calibri"/>
                        </a:rPr>
                        <a:t>YUV + hist-eq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1525B"/>
                          </a:solidFill>
                          <a:latin typeface="Calibri"/>
                        </a:rPr>
                        <a:t>H2: does stain normalisation help on unseen slides (A2 − A1)?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D99A00"/>
                          </a:solidFill>
                          <a:latin typeface="Calibri"/>
                        </a:rPr>
                        <a:t>Next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7262E"/>
                          </a:solidFill>
                          <a:latin typeface="Calibri"/>
                        </a:rPr>
                        <a:t>A3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1525B"/>
                          </a:solidFill>
                          <a:latin typeface="Calibri"/>
                        </a:rPr>
                        <a:t>Image-level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1525B"/>
                          </a:solidFill>
                          <a:latin typeface="Calibri"/>
                        </a:rPr>
                        <a:t>YUV + hist-eq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1525B"/>
                          </a:solidFill>
                          <a:latin typeface="Calibri"/>
                        </a:rPr>
                        <a:t>Control: is H2's gain specific to new slides (A3 − A0 ≈ 0)?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D99A00"/>
                          </a:solidFill>
                          <a:latin typeface="Calibri"/>
                        </a:rPr>
                        <a:t>Next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919472"/>
            <a:ext cx="3575304" cy="1325880"/>
          </a:xfrm>
          <a:prstGeom prst="roundRect">
            <a:avLst>
              <a:gd name="adj" fmla="val 6000"/>
            </a:avLst>
          </a:prstGeom>
          <a:solidFill>
            <a:srgbClr val="F5F9FA"/>
          </a:solidFill>
          <a:ln w="12700">
            <a:solidFill>
              <a:srgbClr val="D3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49808" y="5074920"/>
            <a:ext cx="566928" cy="566928"/>
          </a:xfrm>
          <a:prstGeom prst="ellipse">
            <a:avLst/>
          </a:prstGeom>
          <a:solidFill>
            <a:srgbClr val="137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5216652"/>
            <a:ext cx="283464" cy="2834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81328" y="5093208"/>
            <a:ext cx="2514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262E"/>
                </a:solidFill>
                <a:latin typeface="Cambria"/>
              </a:rPr>
              <a:t>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5422392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1525B"/>
                </a:solidFill>
                <a:latin typeface="Calibri"/>
              </a:rPr>
              <a:t>Accuracy, recall (missed infections), MCC, ROC-AUC. Mean ± SD over folds plus the hold-out ensemble.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4919472"/>
            <a:ext cx="3575304" cy="1325880"/>
          </a:xfrm>
          <a:prstGeom prst="roundRect">
            <a:avLst>
              <a:gd name="adj" fmla="val 6000"/>
            </a:avLst>
          </a:prstGeom>
          <a:solidFill>
            <a:srgbClr val="F5F9FA"/>
          </a:solidFill>
          <a:ln w="12700">
            <a:solidFill>
              <a:srgbClr val="D3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4507992" y="5074920"/>
            <a:ext cx="566928" cy="566928"/>
          </a:xfrm>
          <a:prstGeom prst="ellipse">
            <a:avLst/>
          </a:prstGeom>
          <a:solidFill>
            <a:srgbClr val="CC4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724" y="5216652"/>
            <a:ext cx="283464" cy="2834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239512" y="5093208"/>
            <a:ext cx="2514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262E"/>
                </a:solidFill>
                <a:latin typeface="Cambria"/>
              </a:rPr>
              <a:t>Clinical priority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9512" y="5422392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1525B"/>
                </a:solidFill>
                <a:latin typeface="Calibri"/>
              </a:rPr>
              <a:t>Recall first: a missed parasitized cell (false negative) costs more than a false alarm.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4919472"/>
            <a:ext cx="3575304" cy="1325880"/>
          </a:xfrm>
          <a:prstGeom prst="roundRect">
            <a:avLst>
              <a:gd name="adj" fmla="val 6000"/>
            </a:avLst>
          </a:prstGeom>
          <a:solidFill>
            <a:srgbClr val="F5F9FA"/>
          </a:solidFill>
          <a:ln w="12700">
            <a:solidFill>
              <a:srgbClr val="D3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266176" y="5074920"/>
            <a:ext cx="566928" cy="566928"/>
          </a:xfrm>
          <a:prstGeom prst="ellipse">
            <a:avLst/>
          </a:prstGeom>
          <a:solidFill>
            <a:srgbClr val="8A4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7908" y="5216652"/>
            <a:ext cx="283464" cy="2834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997696" y="5093208"/>
            <a:ext cx="2514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262E"/>
                </a:solidFill>
                <a:latin typeface="Cambria"/>
              </a:rPr>
              <a:t>Already built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5422392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1525B"/>
                </a:solidFill>
                <a:latin typeface="Calibri"/>
              </a:rPr>
              <a:t>The notebook has the grouped split and YUV switches. A1–A3 are one flag each.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C8B93"/>
                </a:solidFill>
                <a:latin typeface="Calibri"/>
              </a:rPr>
              <a:t>Phase 2 · Baseline &amp; Hypothesis · Automated Malaria Cell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C8B93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2026-09-01T19:49:07Z</dcterms:created>
  <dcterms:modified xsi:type="dcterms:W3CDTF">2026-09-01T19:49:07Z</dcterms:modified>
</cp:coreProperties>
</file>