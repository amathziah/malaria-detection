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28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23"/>
    <p:sldId id="273" r:id="rId24"/>
    <p:sldId id="274" r:id="rId25"/>
    <p:sldId id="275" r:id="rId26"/>
    <p:sldId id="276" r:id="rId27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2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37C8E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6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Zhao [6]</c:v>
                  </c:pt>
                  <c:pt idx="1">
                    <c:v>Hemachandran [10]</c:v>
                  </c:pt>
                  <c:pt idx="2">
                    <c:v>Masud [7]</c:v>
                  </c:pt>
                  <c:pt idx="3">
                    <c:v>Liang [1]</c:v>
                  </c:pt>
                  <c:pt idx="4">
                    <c:v>Mujahid [11]</c:v>
                  </c:pt>
                  <c:pt idx="5">
                    <c:v>Marques [8]</c:v>
                  </c:pt>
                  <c:pt idx="6">
                    <c:v>Fuhad [5]</c:v>
                  </c:pt>
                  <c:pt idx="7">
                    <c:v>Madhu [9]</c:v>
                  </c:pt>
                  <c:pt idx="8">
                    <c:v>Umer [4]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96.5</c:v>
                </c:pt>
                <c:pt idx="1">
                  <c:v>97.06</c:v>
                </c:pt>
                <c:pt idx="2">
                  <c:v>97.3</c:v>
                </c:pt>
                <c:pt idx="3">
                  <c:v>97.37</c:v>
                </c:pt>
                <c:pt idx="4">
                  <c:v>97.57</c:v>
                </c:pt>
                <c:pt idx="5">
                  <c:v>98.29</c:v>
                </c:pt>
                <c:pt idx="6">
                  <c:v>99.23</c:v>
                </c:pt>
                <c:pt idx="7">
                  <c:v>99.35</c:v>
                </c:pt>
                <c:pt idx="8">
                  <c:v>99.96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726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5"/>
          <c:min val="94"/>
        </c:scaling>
        <c:delete val="0"/>
        <c:axPos val="b"/>
        <c:majorGridlines>
          <c:spPr>
            <a:ln w="9525" cap="flat">
              <a:solidFill>
                <a:srgbClr val="DC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B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Title + team. Say: 'We reviewed 11 key studies on automated malaria detection using the NIH cell dataset — here's what the field has learned and the gaps we'll target.' [Presenter: Pugazhendhi J]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Motivation. Gold standard = manual microscopy of Giemsa-stained smears. Three problems: slow, expert-dependent, subjective. Land the opportunity line: an automated system is fast, consistent, deployable. [Presenter: Pugazhendhi J]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problem statement — read the big statement verbatim once. Then the 3 scope chips: binary task, deep networks (no hand-crafted features), point-of-care goal. Note this talk = Stage 1, the literature survey. [Presenter: Pugazhendhi J]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everyone uses: NIH, 27,558 balanced single-cell images, 200 patients, Chittagong Bangladesh. Point at the two cells — parasite = violet specks. Flag Fuhad's label correction to 26,161 (foreshadows a gap). [Presenter: Pugazhendhi J]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Amathziah. This is the story slide — walk left to right along the timeline: 2016 custom CNN → 2018 feature extraction → 2019 ensembles → 2020 lightweight/mobile → 2022-24 capsules &amp; benchmarking. [Presenter: J Amathziah]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1. Liang: a purpose-built 16-layer CNN (97.37%) beat generic AlexNet features (91.99%) — domain features win. Rajaraman [2] then mapped which pretrained layers transfer best. Insight: accuracy vs compute tension starts here. [Presenter: J Amathziah]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ensembles. Single CNNs are high-variance; averaging diverse models is steadier. Rajaraman [3]: VGG-19+SqueezeNet cuts variance. Marques [8]: 10-fold EfficientNet ensemble → 98.29%. Catch: heavy &amp; slow → motivates lightweight. [Presenter: J Amathziah]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lightweight/mobile. Fuhad: 99.23% at only 4,600 FLOPS, &lt;1s on a phone. Masud: 409K-param CNN, cyclical LR, ~97 min, no augmentation. Zhao: super-resolution + tested a 2nd species. Theme: optimise for size/speed. [Presenter: J Amathziah]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Murali. Two ideas. Madhu's capsule net keeps spatial/pose info that pooling throws away — 99.35%. Umer's 5-step YUV pipeline normalises staining so the model can't cheat on stain colour — ~99.9%. [Presenter: C Murali Madhav]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benchmarking. Hemachandran: MobileNetV2 (97.06%) matches heavy ResNet. Mujahid: a tuned custom 12-layer CNN (97.57%) beats 11 pretrained nets. Verdict: lightweight ≈ heavy — efficiency is a real design goal. [Presenter: C Murali Madhav]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at-a-glance table — don't read every row. Point out the spread of methods and that top accuracies cluster at 96-100%. Set up the caveat: these numbers are NOT directly comparable. [Presenter: C Murali Madhav]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accuracy chart. All studies land 96-100%. BUT read with care (right panel): different splits, different data cleanliness, possible patient-level leakage. This caveat leads straight into the research gaps. [Presenter: C Murali Madhav]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Ravi. THE BONUS Kartik asked for — four gaps none of the papers fully solve: (1) patient-level data leakage, (2) single-species focus, (3) noisy labels, (4) raw thick-smear clinical workflow. Spend time here. [Presenter: Ravi Yadav]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gaps into our plan: YUV normalization (Umer), Fuhad's corrected dataset, patient-level 5-fold CV (Rajaraman), lightweight architecture (Masud/Fuhad). The review is our roadmap. [Presenter: Ravi Yadav]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Conclusion. Field matured from proof-of-concept → deployment-aware; accuracy is largely solved on clean data, open problems are trust &amp; deployment. Then our 5 next stages: base paper → reproduce → hypothesise → ablate → write up. [Presenter: Ravi Yadav]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+ thank you. Invite questions, especially on our chosen research gap (patient-level leakage). Have the cheat-sheet numbers ready. [Presenter: Ravi Yadav]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opener and brief introduction. Recap the problem in one breath: manual microscopy is slow, subjective, and needs an expert. Then the key finding that carries over from Phase 1: published accuracies are high, but most papers split images at random, so the same patient's cells appear in training and testing. This phase has three steps: pick Marques [8] as the base paper, reproduce it, then state our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base paper. Four reasons: open-source code, so we can reproduce it faithfully; the strictest validation in our review (stratified 10-fold); a light backbone in line with our deployability goal; and results that are strong but not 99.9 %, so a change can move them either way. Walk the pipeline top to bottom, then land the four target numbers we have to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Reproduction. Left: we kept every setting the paper reports. Amber rows are where the paper is silent (augmentation details, epochs) or where we cut compute (3 of 10 folds on a free GPU). Right: paper vs. ours. We landed within 1 point on both headline numbers (mean fold −0.32 pp, ensemble −0.72 pp), so the reproduction counts as successful and this is our baseline. Recall is the one gap (−2 pp).</a:t>
            </a:r>
          </a:p>
          <a:p/>
          <a:p>
            <a:r>
              <a:t>Results (Kaggle run, 3 of 10 folds): mean single-fold accuracy 97.38 ± 0.74 % (SD across 3 folds). Ensemble of 3 fold models on the 2,756-image hold-out test set. MCC is shown as a coefficient (0–1). Ran on 2× Tesla T4 (MirroredStrategy), so the global batch was 128 (64 per GPU).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hypothesis. Two proposed changes, each changing exactly one thing. H1: switch to a slide-grouped split. We expect the reported accuracy to drop because the model can no longer recognise a slide it already saw in training. H2: keep the honest split and add Umer's YUV histogram-equalisation. We expect recall and MCC to recover, because stain colour stops being a shortcut. Close on the falsification rule: we say in advance what result would prove us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we will test the hypothesis next milestone. A0 is done: that's the reproduction. A1 removes leakage (H1). A2 adds stain normalisation on top (H2). A3 is a control showing that any gain is about generalising to new slides, not a general boost. We report recall and MCC alongside accuracy, as mean ± SD over folds. All of these are already built into the notebook as on/off switches. Our A0 baseline already shows why recall comes first: 96.81 % vs. the paper's 98.82 %, i.e. 44 missed infected cells on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9-2.png"/><Relationship Id="rId5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4-1.png"/><Relationship Id="rId3" Type="http://schemas.openxmlformats.org/officeDocument/2006/relationships/image" Target="../media/image-7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13-1.png"/><Relationship Id="rId3" Type="http://schemas.openxmlformats.org/officeDocument/2006/relationships/image" Target="../media/image-9-2.png"/><Relationship Id="rId4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7-2.png"/><Relationship Id="rId3" Type="http://schemas.openxmlformats.org/officeDocument/2006/relationships/image" Target="../media/image-12-1.png"/><Relationship Id="rId4" Type="http://schemas.openxmlformats.org/officeDocument/2006/relationships/image" Target="../media/image-4-1.png"/><Relationship Id="rId5" Type="http://schemas.openxmlformats.org/officeDocument/2006/relationships/notesSlide" Target="../notesSlides/notes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9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137160"/>
            <a:ext cx="1371600" cy="1371600"/>
          </a:xfrm>
          <a:prstGeom prst="ellipse">
            <a:avLst/>
          </a:prstGeom>
          <a:solidFill>
            <a:srgbClr val="137C8E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11712" y="1444752"/>
            <a:ext cx="768096" cy="768096"/>
          </a:xfrm>
          <a:prstGeom prst="ellipse">
            <a:avLst/>
          </a:prstGeom>
          <a:solidFill>
            <a:srgbClr val="2EA79B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442448" y="1298448"/>
            <a:ext cx="512064" cy="512064"/>
          </a:xfrm>
          <a:prstGeom prst="ellipse">
            <a:avLst/>
          </a:prstGeom>
          <a:solidFill>
            <a:srgbClr val="8A43B0">
              <a:alpha val="5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-182880" y="5303520"/>
            <a:ext cx="1645920" cy="164592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88720" y="5943600"/>
            <a:ext cx="731520" cy="731520"/>
          </a:xfrm>
          <a:prstGeom prst="ellipse">
            <a:avLst/>
          </a:prstGeom>
          <a:solidFill>
            <a:srgbClr val="8A43B0">
              <a:alpha val="45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82880" y="4846320"/>
            <a:ext cx="548640" cy="548640"/>
          </a:xfrm>
          <a:prstGeom prst="ellipse">
            <a:avLst/>
          </a:prstGeom>
          <a:solidFill>
            <a:srgbClr val="2EA79B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09960" y="5440680"/>
            <a:ext cx="1005840" cy="100584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881360" y="6126480"/>
            <a:ext cx="548640" cy="548640"/>
          </a:xfrm>
          <a:prstGeom prst="ellipse">
            <a:avLst/>
          </a:prstGeom>
          <a:solidFill>
            <a:srgbClr val="2EA79B">
              <a:alpha val="45000"/>
            </a:srgbClr>
          </a:solidFill>
          <a:ln/>
        </p:spPr>
        <p:txBody>
          <a:bodyPr/>
          <a:p/>
        </p:txBody>
      </p:sp>
      <p:pic>
        <p:nvPicPr>
          <p:cNvPr id="10" name="Image 0" descr="/tmp/build/assets/cell_inf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1148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COMPUTER-AIDED DIAGNOSIS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810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Malaria Cell Detection</a:t>
            </a:r>
            <a:endParaRPr lang="en-US" sz="4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670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BF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NIH Malaria Cell Images Dataset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822960" y="3529584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8A43B0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2960" y="35295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→  BASELINE &amp; HYPOTHESIS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2960" y="45262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987552" y="4690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Pugazhendhi J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50566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230066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47872" y="45262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712464" y="4690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Amathziah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712464" y="50566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230139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72784" y="45262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437376" y="4690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Murali Madhav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37376" y="50566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230115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997696" y="45262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162288" y="46908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Yadav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162288" y="50566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230131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742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· Rishihood University, Sonipat, India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malaria diagnosis need automation?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gold standard is manual microscopy of </a:t>
            </a:r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Giemsa-stained blood smears</a:t>
            </a:r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technician visually inspects each cell for parasites. It works, but it doesn't scale.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06040"/>
            <a:ext cx="1005840" cy="100584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7" name="Image 0" descr="/tmp/build/assets/ic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8474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767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&amp; laborious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245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holds hundreds of cells; a microscopist counts them one by one, limiting large-scale screening.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25112" y="228600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9432" y="2606040"/>
            <a:ext cx="1005840" cy="1005840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12" name="Image 1" descr="/tmp/build/assets/ic_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834" y="284744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45152" y="3767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Expert-dependent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42245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hinges on a trained microscopist's skill — scarce in the rural, endemic regions that need it most.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01584" y="228600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75904" y="2606040"/>
            <a:ext cx="1005840" cy="1005840"/>
          </a:xfrm>
          <a:prstGeom prst="ellipse">
            <a:avLst/>
          </a:prstGeom>
          <a:solidFill>
            <a:srgbClr val="CC4A3F"/>
          </a:solidFill>
          <a:ln/>
        </p:spPr>
        <p:txBody>
          <a:bodyPr/>
          <a:p/>
        </p:txBody>
      </p:sp>
      <p:pic>
        <p:nvPicPr>
          <p:cNvPr id="17" name="Image 2" descr="/tmp/build/assets/ic_sw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847442"/>
            <a:ext cx="523037" cy="5230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21624" y="3767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 &amp; inconsistent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421624" y="42245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vary between (and within) observers and across labs, so the same smear can yield different diagnoses.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F2E3D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05256" y="5449824"/>
            <a:ext cx="658368" cy="658368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22" name="Image 3" descr="/tmp/build/assets/ic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61441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83080" y="5349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8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deep-learning system that screens cells automatically — fast, consistent, and deployable where experts are not.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0100" y="1851660"/>
            <a:ext cx="1051560" cy="105156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6" name="Image 0" descr="/tmp/build/assets/ic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114550"/>
            <a:ext cx="525780" cy="5257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173736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an automated deep-learning system that detects malaria parasites in red-blood-cell images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15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making screening more </a:t>
            </a:r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6C2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accurate, consistent, fast</a:t>
            </a:r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15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potentially deployable on low-resource / mobile devices.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49808" y="3721608"/>
            <a:ext cx="731520" cy="73152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10" name="Image 1" descr="/tmp/build/assets/ic_magn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3897173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776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453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single RBC crops: parasitized vs. uninfected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25112" y="3520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526280" y="3721608"/>
            <a:ext cx="731520" cy="731520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15" name="Image 2" descr="/tmp/build/assets/ic_gea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45" y="3897173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76672" y="3776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45152" y="4453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/ capsule deep networks — no hand-crafted features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01584" y="3520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302752" y="3721608"/>
            <a:ext cx="731520" cy="731520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20" name="Image 3" descr="/tmp/build/assets/ic_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317" y="3897173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53144" y="3776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421624" y="4453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reliable and light enough for point-of-care use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3218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indent="0" marL="0">
              <a:buNone/>
            </a:pPr>
            <a:r>
              <a:rPr lang="en-US" sz="14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literature survey of 11 studies (slides 4–15).  Stage 2 — reproduce the base paper and state our hypothesis (slides 16–20).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NIH Malaria Cell Images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benchmark across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studies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Built from Giemsa-stained thin blood smears at Chittagong Medical College Hospital, Bangladesh, and segmented into single cells.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58368" y="26974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27,558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55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single-cell images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25146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90088" y="26974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355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 vs. uninfected — balanced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0" y="2514600"/>
            <a:ext cx="2148840" cy="137160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321808" y="269748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3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3355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(150 infected, 50 healthy)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6537960" cy="2057400"/>
          </a:xfrm>
          <a:prstGeom prst="roundRect">
            <a:avLst>
              <a:gd name="adj" fmla="val 4444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77824" y="4425696"/>
            <a:ext cx="658368" cy="658368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16" name="Image 0" descr="/tmp/build/assets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4590288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737360" y="43159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hidden problem — noisy labels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4736592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Fuhad et al. [5]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staining artifacts mislabeled as parasites and manually cleaned the set to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26,161 verified images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(13,132 parasitized · 13,029 uninfected) — a cleaner, more trustworthy benchmark.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452360" y="1481328"/>
            <a:ext cx="4206240" cy="4690872"/>
          </a:xfrm>
          <a:prstGeom prst="roundRect">
            <a:avLst>
              <a:gd name="adj" fmla="val 1957"/>
            </a:avLst>
          </a:prstGeom>
          <a:solidFill>
            <a:srgbClr val="0F2E3D"/>
          </a:solidFill>
          <a:ln w="12700">
            <a:solidFill>
              <a:srgbClr val="0F2E3D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768096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cell looks like</a:t>
            </a:r>
            <a:endParaRPr lang="en-US" sz="1650" dirty="0"/>
          </a:p>
        </p:txBody>
      </p:sp>
      <p:pic>
        <p:nvPicPr>
          <p:cNvPr id="21" name="Image 1" descr="/tmp/build/assets/cell_uninfec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40280"/>
            <a:ext cx="1508760" cy="1508760"/>
          </a:xfrm>
          <a:prstGeom prst="rect">
            <a:avLst/>
          </a:prstGeom>
        </p:spPr>
      </p:pic>
      <p:pic>
        <p:nvPicPr>
          <p:cNvPr id="22" name="Image 2" descr="/tmp/build/assets/cell_infec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240280"/>
            <a:ext cx="1508760" cy="1508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818120" y="37856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Uninfected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9418320" y="37856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Parasitized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818120" y="4224528"/>
            <a:ext cx="3520440" cy="0"/>
          </a:xfrm>
          <a:prstGeom prst="line">
            <a:avLst/>
          </a:prstGeom>
          <a:noFill/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 txBox="1"/>
          <p:nvPr/>
        </p:nvSpPr>
        <p:spPr>
          <a:xfrm>
            <a:off x="7772400" y="438912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parasite appears as </a:t>
            </a:r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9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violet specks</a:t>
            </a:r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the cell (the Giemsa stain). The model must learn this cue — and ignore staining noise.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137160"/>
            <a:ext cx="1097280" cy="109728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38560" y="5760720"/>
            <a:ext cx="914400" cy="914400"/>
          </a:xfrm>
          <a:prstGeom prst="ellipse">
            <a:avLst/>
          </a:prstGeom>
          <a:solidFill>
            <a:srgbClr val="2EA79B">
              <a:alpha val="4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760720"/>
            <a:ext cx="1005840" cy="1005840"/>
          </a:xfrm>
          <a:prstGeom prst="ellipse">
            <a:avLst/>
          </a:prstGeom>
          <a:solidFill>
            <a:srgbClr val="8A43B0">
              <a:alpha val="40000"/>
            </a:srgbClr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OF THE FIELD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malaria CNNs evolved, 2016 → 2024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234440" y="3429000"/>
            <a:ext cx="9720072" cy="0"/>
          </a:xfrm>
          <a:prstGeom prst="line">
            <a:avLst/>
          </a:prstGeom>
          <a:noFill/>
          <a:ln w="3175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1148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transfer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" y="3008376"/>
            <a:ext cx="841248" cy="841248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11" name="Image 0" descr="/tmp/build/assets/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218688"/>
            <a:ext cx="420624" cy="42062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13232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82880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[1]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841498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704338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Feature-extraction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43834" y="3008376"/>
            <a:ext cx="841248" cy="841248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17" name="Image 1" descr="/tmp/build/assets/ic_sw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146" y="3218688"/>
            <a:ext cx="420624" cy="42062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143250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 txBox="1"/>
          <p:nvPr/>
        </p:nvSpPr>
        <p:spPr>
          <a:xfrm>
            <a:off x="2612898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Rajaraman [2]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271516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5134356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673852" y="3008376"/>
            <a:ext cx="841248" cy="841248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23" name="Image 2" descr="/tmp/build/assets/ic_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3218688"/>
            <a:ext cx="420624" cy="42062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573268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5042916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Rajaraman [3]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7701534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7564374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103870" y="3008376"/>
            <a:ext cx="841248" cy="841248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29" name="Image 3" descr="/tmp/build/assets/ic_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182" y="3218688"/>
            <a:ext cx="420624" cy="42062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8003286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 txBox="1"/>
          <p:nvPr/>
        </p:nvSpPr>
        <p:spPr>
          <a:xfrm>
            <a:off x="7472934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Fuhad · Zhao · Masud · Umer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10131552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E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’22–’24</a:t>
            </a:r>
            <a:endParaRPr lang="en-US" sz="2200" dirty="0"/>
          </a:p>
        </p:txBody>
      </p:sp>
      <p:sp>
        <p:nvSpPr>
          <p:cNvPr id="33" name="Text 27"/>
          <p:cNvSpPr txBox="1"/>
          <p:nvPr/>
        </p:nvSpPr>
        <p:spPr>
          <a:xfrm>
            <a:off x="9994392" y="2258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Capsules &amp;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10533888" y="3008376"/>
            <a:ext cx="841248" cy="841248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35" name="Image 4" descr="/tmp/build/assets/ic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3218688"/>
            <a:ext cx="420624" cy="42062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433304" y="2907792"/>
            <a:ext cx="1042416" cy="1042416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0"/>
          <p:cNvSpPr txBox="1"/>
          <p:nvPr/>
        </p:nvSpPr>
        <p:spPr>
          <a:xfrm>
            <a:off x="9902952" y="4087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· Marques · others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arc:  </a:t>
            </a:r>
            <a:pPr algn="ct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“can a CNN even do this?” → squeezing accuracy from big models → shrinking them to run on a phone → preserving cell structure and benchmarking rigorously.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2016–2018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CNNs vs. transfer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880360"/>
          </a:xfrm>
          <a:prstGeom prst="roundRect">
            <a:avLst>
              <a:gd name="adj" fmla="val 2857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7824" y="1929384"/>
            <a:ext cx="713232" cy="713232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6" name="Image 0" descr="/tmp/build/assets/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00" y="2100560"/>
            <a:ext cx="370881" cy="3708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Liang et al. [1] — 2016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5798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16-layer CNN trained from scratch vs. off-the-shelf AlexNet features.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29260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6868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97.37%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639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16-layer CNN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29260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7C8B93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38328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8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91.99%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639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features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5468112" cy="2880360"/>
          </a:xfrm>
          <a:prstGeom prst="roundRect">
            <a:avLst>
              <a:gd name="adj" fmla="val 2857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501384" y="1929384"/>
            <a:ext cx="713232" cy="713232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17" name="Image 1" descr="/tmp/build/assets/ic_sw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560" y="2100560"/>
            <a:ext cx="370881" cy="37088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06640" y="1810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Rajaraman et al. [2] — 2018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406640" y="21579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which layers of pre-trained backbones carry the most transferable features.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92240" y="297180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649224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83880" y="297180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818388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9875520" y="297180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 txBox="1"/>
          <p:nvPr/>
        </p:nvSpPr>
        <p:spPr>
          <a:xfrm>
            <a:off x="987552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92240" y="3538728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 txBox="1"/>
          <p:nvPr/>
        </p:nvSpPr>
        <p:spPr>
          <a:xfrm>
            <a:off x="6492240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183880" y="3538728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8183880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64922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 optimal layers → tuned a small classifier: a scalable diagnostic aid.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0F2E3D"/>
          </a:solidFill>
          <a:ln/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909828" y="5024628"/>
            <a:ext cx="777240" cy="777240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33" name="Image 2" descr="/tmp/build/assets/ic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5218938"/>
            <a:ext cx="388620" cy="38862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87452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1874520" y="5175504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features beat generic ImageNet features for microscopy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B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training from scratch is costly, so the field turned to smartly reusing pre-trained networks. This tension (accuracy vs. compute) drives everything that follows.</a:t>
            </a:r>
            <a:endParaRPr lang="en-US" sz="135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2019–2022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Ensembles: many models, steadier answers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CNNs are </a:t>
            </a:r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C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high-variance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sensitive to how the data is split and shuffled. Averaging several diverse models cancels their individual errors and generalises better.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2651760"/>
            <a:ext cx="731520" cy="731520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7" name="Image 0" descr="/tmp/build/assets/ic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7" y="282732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587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Rajaraman et al. [3] — 2019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9352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VGG-19 + SqueezeNet ensemble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56616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averaging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variance and overfitting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giving more reliable predictions under noisy, real-world training conditions.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2331720"/>
            <a:ext cx="5468112" cy="2286000"/>
          </a:xfrm>
          <a:prstGeom prst="roundRect">
            <a:avLst>
              <a:gd name="adj" fmla="val 3600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519672" y="2651760"/>
            <a:ext cx="731520" cy="73152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13" name="Image 1" descr="/tmp/build/assets/ic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282732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2587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Marques et al. [8] — 2022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29352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· 10-fold ensemble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356616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10 folds lifted accuracy to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98.29% (AUC 99.76%)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strict stratified cross-validation + open-source code for reproducibility.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14400" y="5138928"/>
            <a:ext cx="731520" cy="731520"/>
          </a:xfrm>
          <a:prstGeom prst="ellipse">
            <a:avLst/>
          </a:prstGeom>
          <a:solidFill>
            <a:srgbClr val="CC4A3F"/>
          </a:solidFill>
          <a:ln/>
        </p:spPr>
        <p:txBody>
          <a:bodyPr/>
          <a:p/>
        </p:txBody>
      </p:sp>
      <p:pic>
        <p:nvPicPr>
          <p:cNvPr id="19" name="Image 2" descr="/tmp/build/assets/ic_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32180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74520" y="489204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C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are memory-hungry and slow to train (Marques' ran ~2 days). Great for a cloud server; impractical for a phone — which is exactly why the next wave went lightweight.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2020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&amp; on-device models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diagnosis to endemic regions means running on a phone, offline — so researchers optimised for speed and size, not just accuracy.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13816" y="2368296"/>
            <a:ext cx="749808" cy="749808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7" name="Image 0" descr="/tmp/build/assets/ic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0" y="2548250"/>
            <a:ext cx="389900" cy="389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19072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Fuhad et al. [5]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719072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+ knowledge distillation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99.23%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721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4,600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45262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— vs. ~19.6 billion for ensembles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4965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5330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 a phone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25112" y="2121408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590288" y="2368296"/>
            <a:ext cx="749808" cy="749808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18" name="Image 1" descr="/tmp/build/assets/ic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242" y="2548250"/>
            <a:ext cx="389900" cy="389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95544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Masud et al. [7]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495544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8A4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+ cyclical learning rate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97.30%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3721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50 epochs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4617720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409K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4617720" y="45262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617720" y="4965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~97 min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4617720" y="5330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train, no augmentation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01584" y="2121408"/>
            <a:ext cx="3520440" cy="3703320"/>
          </a:xfrm>
          <a:prstGeom prst="roundRect">
            <a:avLst>
              <a:gd name="adj" fmla="val 2338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366760" y="2368296"/>
            <a:ext cx="749808" cy="749808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29" name="Image 2" descr="/tmp/build/assets/ic_magn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714" y="2548250"/>
            <a:ext cx="389900" cy="3899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272016" y="23957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Zhao et al. [6]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9272016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 (FSRCNN) + SSD300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8394192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1900" dirty="0"/>
          </a:p>
        </p:txBody>
      </p:sp>
      <p:sp>
        <p:nvSpPr>
          <p:cNvPr id="33" name="Text 28"/>
          <p:cNvSpPr txBox="1"/>
          <p:nvPr/>
        </p:nvSpPr>
        <p:spPr>
          <a:xfrm>
            <a:off x="8394192" y="37216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up-scaled 32→128 px images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8394192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30.2</a:t>
            </a:r>
            <a:endParaRPr lang="en-US" sz="1900" dirty="0"/>
          </a:p>
        </p:txBody>
      </p:sp>
      <p:sp>
        <p:nvSpPr>
          <p:cNvPr id="35" name="Text 30"/>
          <p:cNvSpPr txBox="1"/>
          <p:nvPr/>
        </p:nvSpPr>
        <p:spPr>
          <a:xfrm>
            <a:off x="8394192" y="45262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— beats bicubic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394192" y="4965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7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species</a:t>
            </a:r>
            <a:endParaRPr lang="en-US" sz="1900" dirty="0"/>
          </a:p>
        </p:txBody>
      </p:sp>
      <p:sp>
        <p:nvSpPr>
          <p:cNvPr id="37" name="Text 32"/>
          <p:cNvSpPr txBox="1"/>
          <p:nvPr/>
        </p:nvSpPr>
        <p:spPr>
          <a:xfrm>
            <a:off x="8394192" y="5330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(P. falciparum + vivax)</a:t>
            </a:r>
            <a:endParaRPr lang="en-US" sz="1150" dirty="0"/>
          </a:p>
        </p:txBody>
      </p:sp>
      <p:sp>
        <p:nvSpPr>
          <p:cNvPr id="38" name="Text 3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ARCHITECTURE &amp; INPUTS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Capsule networks + smarter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1943100"/>
            <a:ext cx="777240" cy="777240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6" name="Image 0" descr="/tmp/build/assets/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847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Madhu et al. [9] — 2023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Inception-V3 + Capsule Neural Network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CNNs lose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&amp; pose information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pooling. Capsules use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keep the parasite's position and orientation inside the cell — state-of-the-art morphological modelling.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43434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8A43B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51560" y="44988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2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99.35%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4526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Sens. 99.57%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 99.12%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99.73%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742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capsule routing is slow to back-propagate.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5468112" cy="4480560"/>
          </a:xfrm>
          <a:prstGeom prst="roundRect">
            <a:avLst>
              <a:gd name="adj" fmla="val 1837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515100" y="1943100"/>
            <a:ext cx="777240" cy="77724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17" name="Image 1" descr="/tmp/build/assets/ic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137410"/>
            <a:ext cx="388620" cy="3886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52360" y="1847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Umer et al. [4] — 2020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45236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CNN + YUV stain normalization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92240" y="2880360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6492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995160" y="286207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120×120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standardise crop size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675120" y="3246120"/>
            <a:ext cx="0" cy="219456"/>
          </a:xfrm>
          <a:prstGeom prst="line">
            <a:avLst/>
          </a:prstGeom>
          <a:noFill/>
          <a:ln w="1905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6492240" y="3465576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25" name="Text 21"/>
          <p:cNvSpPr txBox="1"/>
          <p:nvPr/>
        </p:nvSpPr>
        <p:spPr>
          <a:xfrm>
            <a:off x="649224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995160" y="344728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Edge-detection filter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sharpen cell boundaries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675120" y="3831336"/>
            <a:ext cx="0" cy="219456"/>
          </a:xfrm>
          <a:prstGeom prst="line">
            <a:avLst/>
          </a:prstGeom>
          <a:noFill/>
          <a:ln w="1905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492240" y="4050792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649224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995160" y="403250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RGB → YUV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separate brightness from colour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675120" y="4416552"/>
            <a:ext cx="0" cy="219456"/>
          </a:xfrm>
          <a:prstGeom prst="line">
            <a:avLst/>
          </a:prstGeom>
          <a:noFill/>
          <a:ln w="1905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6492240" y="4636008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33" name="Text 29"/>
          <p:cNvSpPr txBox="1"/>
          <p:nvPr/>
        </p:nvSpPr>
        <p:spPr>
          <a:xfrm>
            <a:off x="649224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6995160" y="46177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equalisation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cancel staining differences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675120" y="5001768"/>
            <a:ext cx="0" cy="219456"/>
          </a:xfrm>
          <a:prstGeom prst="line">
            <a:avLst/>
          </a:prstGeom>
          <a:noFill/>
          <a:ln w="1905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492240" y="5221224"/>
            <a:ext cx="365760" cy="36576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37" name="Text 33"/>
          <p:cNvSpPr txBox="1"/>
          <p:nvPr/>
        </p:nvSpPr>
        <p:spPr>
          <a:xfrm>
            <a:off x="6492240" y="5221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6995160" y="520293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back → RGB  </a:t>
            </a:r>
            <a:pPr indent="0" marL="0"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feed the CNN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6492240" y="57790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model from cheating on staining artifacts → ~99.9% accuracy, 100% precision.</a:t>
            </a:r>
            <a:endParaRPr lang="en-US" sz="11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2023–2024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Rigorous benchmarking: does 'heavy' win?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 stops chasing new architectures and instead asks: fairly compared, do big residual backbones actually beat small ones?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68112" cy="2514600"/>
          </a:xfrm>
          <a:prstGeom prst="roundRect">
            <a:avLst>
              <a:gd name="adj" fmla="val 3273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2487168"/>
            <a:ext cx="731520" cy="73152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7" name="Image 0" descr="/tmp/build/assets/ic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7" y="2662733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Hemachandran et al. [10] — 2023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vs. MobileNetV2 vs. ResNet-50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474720"/>
            <a:ext cx="4828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reached 97.06%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matching a much heavier residual backbone. (The paper is honest about an internal inconsistency in its own conclusions.)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2194560"/>
            <a:ext cx="5468112" cy="2514600"/>
          </a:xfrm>
          <a:prstGeom prst="roundRect">
            <a:avLst>
              <a:gd name="adj" fmla="val 3273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519672" y="2487168"/>
            <a:ext cx="731520" cy="731520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13" name="Image 1" descr="/tmp/build/assets/ic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2662733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Mujahid et al. [11] — 2024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45236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12-layer CNN vs. 11 backbones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3474720"/>
            <a:ext cx="4828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carefully tuned </a:t>
            </a:r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hit 97.57%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lowest test loss (0.0995) — fine-tuned pooling &amp; dropout can out-converge generic pre-trained nets.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0F2E3D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14400" y="5166360"/>
            <a:ext cx="731520" cy="731520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19" name="Image 2" descr="/tmp/build/assets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349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74520" y="493776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lightweight models rival heavy ones on this task. Efficiency is not a compromise — it's a viable design goal.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11 studies on one page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114800"/>
                <a:gridCol w="4142232"/>
              </a:tblGrid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(Year)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Liang (2016)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16-layer CNN from scratch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97.37% — beats AlexNet features (91.99%)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Rajaraman (2018)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CNNs as feature extractors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Mapped optimal transfer layers; scalable 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Rajaraman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VGG-19 + SqueezeNet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variance, better generalization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Umer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CNN + YUV stain normalization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~99.9% acc, 100% precision (5-fold)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Fuhad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 + knowledge distillation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99.23% · 4,600 FLOPS · &lt;1 s · fixed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 + FSRCNN super-res + SSD300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 · cross-species (P. vivax)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Masud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CNN + cyclical 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97.30% · 409K params · ~97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Marques (2022)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· 10-fold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98.29% · AUC 99.76% · open-source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Madhu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Inception-V3 + Capsule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99.35% · preserves spatial 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Hemachandran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vs MobileNetV2 vs 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97.06% · light ≈ 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7C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7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Mujahid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12-layer CNN vs 11 backbones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1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97.57% · lowest test loss (0.0995)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accuracy ranking is misleading — protocols, splits and data-cleaning differ across papers (see next slide).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accuracy across studies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589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94% to reveal differences.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366760" y="1600200"/>
            <a:ext cx="3273552" cy="4160520"/>
          </a:xfrm>
          <a:prstGeom prst="roundRect">
            <a:avLst>
              <a:gd name="adj" fmla="val 2514"/>
            </a:avLst>
          </a:prstGeom>
          <a:solidFill>
            <a:srgbClr val="0F2E3D"/>
          </a:solidFill>
          <a:ln w="12700">
            <a:solidFill>
              <a:srgbClr val="0F2E3D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C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709660" y="1943100"/>
            <a:ext cx="777240" cy="777240"/>
          </a:xfrm>
          <a:prstGeom prst="ellipse">
            <a:avLst/>
          </a:prstGeom>
          <a:solidFill>
            <a:srgbClr val="CC4A3F"/>
          </a:solidFill>
          <a:ln/>
        </p:spPr>
        <p:txBody>
          <a:bodyPr/>
          <a:p/>
        </p:txBody>
      </p:sp>
      <p:pic>
        <p:nvPicPr>
          <p:cNvPr id="8" name="Image 0" descr="/tmp/build/assets/ic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70" y="213741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46920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care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8686800" y="3118104"/>
            <a:ext cx="164592" cy="164592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961120" y="30266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splits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96112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5-fold, 10-fold and 80:20 aren't comparable.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686800" y="4050792"/>
            <a:ext cx="164592" cy="164592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8961120" y="395935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961120" y="42702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train on the noisy set, some on cleaned labels.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86800" y="4983480"/>
            <a:ext cx="164592" cy="164592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8961120" y="48920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leakage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8961120" y="52029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scores may hide patient-level data leakage.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1005840" cy="1005840"/>
          </a:xfrm>
          <a:prstGeom prst="ellipse">
            <a:avLst/>
          </a:prstGeom>
          <a:solidFill>
            <a:srgbClr val="8A43B0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" y="5760720"/>
            <a:ext cx="1097280" cy="109728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50292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D99A0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BONUS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— what nobody has solved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23544" y="2157984"/>
            <a:ext cx="749808" cy="749808"/>
          </a:xfrm>
          <a:prstGeom prst="ellipse">
            <a:avLst/>
          </a:prstGeom>
          <a:solidFill>
            <a:srgbClr val="CC4A3F"/>
          </a:solidFill>
          <a:ln/>
        </p:spPr>
        <p:txBody>
          <a:bodyPr/>
          <a:p/>
        </p:txBody>
      </p:sp>
      <p:pic>
        <p:nvPicPr>
          <p:cNvPr id="9" name="Image 0" descr="/tmp/build/assets/ic_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345436"/>
            <a:ext cx="374904" cy="3749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74520" y="2112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23682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Patient-level data leakage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97180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image-level splits put cells from the same patient in both train and test — inflating accuracy and hiding poor generalisation. Only [1] and [2] split by patient.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45936" y="187452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629400" y="2157984"/>
            <a:ext cx="749808" cy="749808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15" name="Image 1" descr="/tmp/build/assets/ic_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2" y="2345436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80376" y="2112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580376" y="23682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Single-species focus</a:t>
            </a:r>
            <a:endParaRPr lang="en-US" sz="1650" dirty="0"/>
          </a:p>
        </p:txBody>
      </p:sp>
      <p:sp>
        <p:nvSpPr>
          <p:cNvPr id="18" name="Text 14"/>
          <p:cNvSpPr txBox="1"/>
          <p:nvPr/>
        </p:nvSpPr>
        <p:spPr>
          <a:xfrm>
            <a:off x="6665976" y="297180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models are trained only on P. falciparum. Performance on P. vivax, ovale, malariae, knowlesi is largely untested — only Zhao [6] tried.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4078224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923544" y="4361688"/>
            <a:ext cx="749808" cy="749808"/>
          </a:xfrm>
          <a:prstGeom prst="ellipse">
            <a:avLst/>
          </a:prstGeom>
          <a:solidFill>
            <a:srgbClr val="D99A00"/>
          </a:solidFill>
          <a:ln/>
        </p:spPr>
        <p:txBody>
          <a:bodyPr/>
          <a:p/>
        </p:txBody>
      </p:sp>
      <p:pic>
        <p:nvPicPr>
          <p:cNvPr id="21" name="Image 2" descr="/tmp/build/assets/ic_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549140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874520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874520" y="45720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 ground-truth labels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517550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Fuhad [5], everyone trains and reports on the mislabeled public set — so many 'state-of-the-art' numbers are measured against imperfect labels.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345936" y="4078224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6629400" y="4361688"/>
            <a:ext cx="749808" cy="749808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27" name="Image 3" descr="/tmp/build/assets/ic_work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852" y="4549140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80376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580376" y="45720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Clinical-workflow gap</a:t>
            </a:r>
            <a:endParaRPr lang="en-US" sz="1650" dirty="0"/>
          </a:p>
        </p:txBody>
      </p:sp>
      <p:sp>
        <p:nvSpPr>
          <p:cNvPr id="30" name="Text 24"/>
          <p:cNvSpPr txBox="1"/>
          <p:nvPr/>
        </p:nvSpPr>
        <p:spPr>
          <a:xfrm>
            <a:off x="6665976" y="517550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5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centres on clean, pre-segmented single cells. Real labs need raw, unsegmented thick smears with overlapping cells and background noise.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GAPS TO A PLAN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literature shapes our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and lesson maps directly onto a design decision — the review is our roadmap, not just background reading.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249424"/>
            <a:ext cx="603504" cy="603504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pic>
        <p:nvPicPr>
          <p:cNvPr id="7" name="Image 0" descr="/tmp/build/assets/ic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394265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2677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YUV stain normalization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74920" y="238658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074920" y="23865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Umer [4]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2677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Immunise the model against staining variation between labs.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868680" y="3163824"/>
            <a:ext cx="603504" cy="603504"/>
          </a:xfrm>
          <a:prstGeom prst="ellipse">
            <a:avLst/>
          </a:prstGeom>
          <a:solidFill>
            <a:srgbClr val="8A43B0"/>
          </a:solidFill>
          <a:ln/>
        </p:spPr>
        <p:txBody>
          <a:bodyPr/>
          <a:p/>
        </p:txBody>
      </p:sp>
      <p:pic>
        <p:nvPicPr>
          <p:cNvPr id="14" name="Image 1" descr="/tmp/build/assets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21" y="3308665"/>
            <a:ext cx="313822" cy="31382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31821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corrected dataset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074920" y="330098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5074920" y="33009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Fuhad [5]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31821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clean labels so we learn real features, not artifacts.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39776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EAF3F5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868680" y="4078224"/>
            <a:ext cx="603504" cy="603504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21" name="Image 2" descr="/tmp/build/assets/ic_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21" y="4223065"/>
            <a:ext cx="313822" cy="31382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91640" y="40965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Patient-level 5-fold CV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074920" y="421538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5074920" y="42153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Rajaraman [2]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40965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patient before splitting — honest, leakage-free validation.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48920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D3E1E6"/>
            </a:solidFill>
            <a:prstDash val="solid"/>
          </a:ln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868680" y="4992624"/>
            <a:ext cx="603504" cy="603504"/>
          </a:xfrm>
          <a:prstGeom prst="ellipse">
            <a:avLst/>
          </a:prstGeom>
          <a:solidFill>
            <a:srgbClr val="CC4A3F"/>
          </a:solidFill>
          <a:ln/>
        </p:spPr>
        <p:txBody>
          <a:bodyPr/>
          <a:p/>
        </p:txBody>
      </p:sp>
      <p:pic>
        <p:nvPicPr>
          <p:cNvPr id="28" name="Image 3" descr="/tmp/build/assets/ic_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21" y="5137465"/>
            <a:ext cx="313822" cy="31382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691640" y="5010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architecture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5074920" y="512978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7C8E"/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 txBox="1"/>
          <p:nvPr/>
        </p:nvSpPr>
        <p:spPr>
          <a:xfrm>
            <a:off x="5074920" y="51297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Masud [7] / Fuhad [5]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6858000" y="50109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real-time, on-device inference for low-resource settings.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Automated Malaria Cell Detection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5669280"/>
            <a:ext cx="1097280" cy="1097280"/>
          </a:xfrm>
          <a:prstGeom prst="ellipse">
            <a:avLst/>
          </a:prstGeom>
          <a:solidFill>
            <a:srgbClr val="137C8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521440" y="1188720"/>
            <a:ext cx="548640" cy="548640"/>
          </a:xfrm>
          <a:prstGeom prst="ellipse">
            <a:avLst/>
          </a:prstGeom>
          <a:solidFill>
            <a:srgbClr val="2EA79B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maturing field — and where we go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15455A"/>
          </a:solidFill>
          <a:ln w="127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05840" y="1691640"/>
            <a:ext cx="10195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has moved from proof-of-concept CNNs → variance-reducing ensembles → capsule networks that preserve cell structure → lightweight models that run offline on a phone.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largely solved on clean data; the open problems are now about trust and deployment.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NEXT STAGES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00200" y="4480560"/>
            <a:ext cx="8961120" cy="0"/>
          </a:xfrm>
          <a:prstGeom prst="line">
            <a:avLst/>
          </a:prstGeom>
          <a:noFill/>
          <a:ln w="25400">
            <a:solidFill>
              <a:srgbClr val="0E627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0160" y="4160520"/>
            <a:ext cx="640080" cy="640080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2801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base paper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public code, on the NIH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4160520"/>
            <a:ext cx="640080" cy="64008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5204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baseline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its reported numbers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4160520"/>
            <a:ext cx="640080" cy="64008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7607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hypothesis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variable, a direction &amp; why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4160520"/>
            <a:ext cx="640080" cy="64008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0010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ablations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compare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41280" y="4160520"/>
            <a:ext cx="640080" cy="640080"/>
          </a:xfrm>
          <a:prstGeom prst="ellipse">
            <a:avLst/>
          </a:prstGeom>
          <a:solidFill>
            <a:srgbClr val="137C8E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1024128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write up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format, honest limits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05332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to build a clinically reliable, deployable malaria-screening system — with the gaps above as our contribution.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5669280"/>
            <a:ext cx="1097280" cy="1097280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521440" y="1188720"/>
            <a:ext cx="548640" cy="548640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A79B"/>
                </a:solidFill>
                <a:latin typeface="Calibri"/>
              </a:rPr>
              <a:t>PHASE 2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9611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From literature review to a working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835640" cy="160020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101955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E6F1F3"/>
                </a:solidFill>
                <a:latin typeface="Calibri"/>
              </a:rPr>
              <a:t>Malaria is still confirmed by a technician scanning Giemsa-stained blood smears under a microscope: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slow, subjective and expert-dependent.</a:t>
            </a:r>
            <a:r>
              <a:rPr sz="1500" b="0" i="0">
                <a:solidFill>
                  <a:srgbClr val="E6F1F3"/>
                </a:solidFill>
                <a:latin typeface="Calibri"/>
              </a:rPr>
              <a:t> Deep CNNs trained on the NIH cell dataset now report 96–99.9 % accuracy, but our review found that most evaluate on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random image-level splits</a:t>
            </a:r>
            <a:r>
              <a:rPr sz="1500" b="0" i="0">
                <a:solidFill>
                  <a:srgbClr val="E6F1F3"/>
                </a:solidFill>
                <a:latin typeface="Calibri"/>
              </a:rPr>
              <a:t>, so cells from the same patient sit in both training and testing. Phase 2 makes this concrete: we rebuild one strong published model, then ask how it holds up under fairer, stain-robust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FC0C9"/>
                </a:solidFill>
                <a:latin typeface="Calibri"/>
              </a:rPr>
              <a:t>WHAT THIS PHASE DELIVERS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41832" y="4114800"/>
            <a:ext cx="658368" cy="658368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4279392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64792" y="4133087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1 · Pick a base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5E6EA"/>
                </a:solidFill>
                <a:latin typeface="Calibri"/>
              </a:rPr>
              <a:t>Marques et al. [8]: EfficientNet-B0 with a stratified 10-fold ensemble. Open-source, strict CV, 98.29 %.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599432" y="4114800"/>
            <a:ext cx="658368" cy="658368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4279392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22392" y="4133087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2 · Reproduce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919472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5E6EA"/>
                </a:solidFill>
                <a:latin typeface="Calibri"/>
              </a:rPr>
              <a:t>Rebuild its training recipe on the NIH set and match its numbers. This becomes our baseline.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57031" y="4114800"/>
            <a:ext cx="658368" cy="658368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4279392"/>
            <a:ext cx="329184" cy="3291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79992" y="4133087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3 · State our hypothesis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919472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D5E6EA"/>
                </a:solidFill>
                <a:latin typeface="Calibri"/>
              </a:rPr>
              <a:t>Two changes, one variable each: a leakage-free split (H1) and YUV stain normalisation (H2).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53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A79B"/>
                </a:solidFill>
                <a:latin typeface="Calibri"/>
              </a:rPr>
              <a:t>Milestones 2 &amp; 3:  </a:t>
            </a:r>
            <a:r>
              <a:rPr sz="1400" b="0" i="0">
                <a:solidFill>
                  <a:srgbClr val="CFE3E8"/>
                </a:solidFill>
                <a:latin typeface="Calibri"/>
              </a:rPr>
              <a:t>baseline reproduction (notebook) + hypothesis for the proposed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37C8E"/>
                </a:solidFill>
                <a:latin typeface="Calibri"/>
              </a:rPr>
              <a:t>BASE PAPER · MARQUES ET AL. [8],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262E"/>
                </a:solidFill>
                <a:latin typeface="Cambria"/>
              </a:rPr>
              <a:t>Why EfficientNet-B0 + a 10-fold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41525B"/>
                </a:solidFill>
                <a:latin typeface="Calibri"/>
              </a:rPr>
              <a:t>Multimedia Tools and Applications 81 (2022). We need a published, reproducible model to compare our changes against.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9808" y="2221991"/>
            <a:ext cx="548640" cy="548640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59151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1328" y="2194560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Open-source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4963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Authors released their code, so a fair, faithful reproduction is 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99232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49808" y="3118103"/>
            <a:ext cx="548640" cy="548640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255263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81328" y="3090672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Strict, stratified 10-fold 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392424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The most rigorous protocol in our review. Every image is validated 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95344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49808" y="4014215"/>
            <a:ext cx="548640" cy="548640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151376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81328" y="3986783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Light backbone (~4–5 M params)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88536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B0 is the smallest EfficientNet, so it stays close to our deployability goal.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91456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49808" y="4910328"/>
            <a:ext cx="548640" cy="548640"/>
          </a:xfrm>
          <a:prstGeom prst="ellipse">
            <a:avLst/>
          </a:prstGeom>
          <a:solidFill>
            <a:srgbClr val="CC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047488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28" y="4882896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Strong, but not at the ceiling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18464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98.29 % leaves room to measure whether a change helps or hurts.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03120"/>
            <a:ext cx="5056632" cy="3474720"/>
          </a:xfrm>
          <a:prstGeom prst="roundRect">
            <a:avLst>
              <a:gd name="adj" fmla="val 6000"/>
            </a:avLst>
          </a:prstGeom>
          <a:solidFill>
            <a:srgbClr val="17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0" y="2240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A79B"/>
                </a:solidFill>
                <a:latin typeface="Calibri"/>
              </a:rPr>
              <a:t>THE METHOD WE REPRODUCE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2642616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0" y="26426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60604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NIH cells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60604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27,558 crops · balanced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3127248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58000" y="312724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90672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090672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224 × 224 RGB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0" y="3611880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0" y="36118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575304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EfficientNet-B0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575304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ImageNet weights, fully fine-tuned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0" y="4096512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58000" y="40965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059936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059936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Adam 1e-4 · LR plateau decay → 1e-6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0" y="4581144"/>
            <a:ext cx="310896" cy="310896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858000" y="45811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54456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54456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stratified 10-fold cross-validation</a:t>
            </a:r>
          </a:p>
        </p:txBody>
      </p:sp>
      <p:sp>
        <p:nvSpPr>
          <p:cNvPr id="47" name="Oval 46"/>
          <p:cNvSpPr/>
          <p:nvPr/>
        </p:nvSpPr>
        <p:spPr>
          <a:xfrm>
            <a:off x="6858000" y="5065776"/>
            <a:ext cx="310896" cy="310896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858000" y="50657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029200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Ensemble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02920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FD6DC"/>
                </a:solidFill>
                <a:latin typeface="Calibri"/>
              </a:rPr>
              <a:t>average the 10 fold models' probabilities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7150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37C8E"/>
                </a:solidFill>
                <a:latin typeface="Cambria"/>
              </a:rPr>
              <a:t>97.70 %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126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1525B"/>
                </a:solidFill>
                <a:latin typeface="Calibri"/>
              </a:rPr>
              <a:t>mean single-fold accuracy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46704" y="57150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37C8E"/>
                </a:solidFill>
                <a:latin typeface="Cambria"/>
              </a:rPr>
              <a:t>98.29 %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46704" y="6126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1525B"/>
                </a:solidFill>
                <a:latin typeface="Calibri"/>
              </a:rPr>
              <a:t>ensemble accuracy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4768" y="57150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37C8E"/>
                </a:solidFill>
                <a:latin typeface="Cambria"/>
              </a:rPr>
              <a:t>98.82 %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4768" y="6126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1525B"/>
                </a:solidFill>
                <a:latin typeface="Calibri"/>
              </a:rPr>
              <a:t>ensemble recall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832" y="57150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37C8E"/>
                </a:solidFill>
                <a:latin typeface="Cambria"/>
              </a:rPr>
              <a:t>99.76 %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42832" y="6126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1525B"/>
                </a:solidFill>
                <a:latin typeface="Calibri"/>
              </a:rPr>
              <a:t>ensemble ROC-AUC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C8B93"/>
                </a:solidFill>
                <a:latin typeface="Calibri"/>
              </a:rPr>
              <a:t>Phase 2 · Baseline &amp; Hypothesis · Automated Malaria Cell Detection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C8B93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37C8E"/>
                </a:solidFill>
                <a:latin typeface="Calibri"/>
              </a:rPr>
              <a:t>MILESTONE 2 · BASELINE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262E"/>
                </a:solidFill>
                <a:latin typeface="Cambria"/>
              </a:rPr>
              <a:t>Rebuilding the paper's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41525B"/>
                </a:solidFill>
                <a:latin typeface="Calibri"/>
              </a:rPr>
              <a:t>Same data, backbone, optimiser, schedule and validation. Deviations are listed openly.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5897880" cy="345643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17320"/>
                <a:gridCol w="210312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 [8]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notebook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NIH, 27,558 cells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 (Kaggle mirror)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EfficientNet-B0, ImageNet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Adam, lr 1e-4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LR schedule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Plateau, p = 6 → 1e-6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Stratified 10-fold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A79B"/>
                          </a:solidFill>
                          <a:latin typeface="Calibri"/>
                        </a:rPr>
                        <a:t>Same</a:t>
                      </a:r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 + 10 % untouched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Augmentation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Albumentations (unlisted)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9A00"/>
                          </a:solidFill>
                          <a:latin typeface="Calibri"/>
                        </a:rPr>
                        <a:t>Flips + 90° rotations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9A00"/>
                          </a:solidFill>
                          <a:latin typeface="Calibri"/>
                        </a:rPr>
                        <a:t>≤ 15, early stop (p = 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7262E"/>
                          </a:solidFill>
                          <a:latin typeface="Calibri"/>
                        </a:rPr>
                        <a:t>Folds trained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152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9A00"/>
                          </a:solidFill>
                          <a:latin typeface="Calibri"/>
                        </a:rPr>
                        <a:t>3 of 10 (free GPU)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23560"/>
            <a:ext cx="5897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A79B"/>
                </a:solidFill>
                <a:latin typeface="Calibri"/>
              </a:rPr>
              <a:t>Same</a:t>
            </a:r>
            <a:r>
              <a:rPr sz="1050" b="0" i="0">
                <a:solidFill>
                  <a:srgbClr val="41525B"/>
                </a:solidFill>
                <a:latin typeface="Calibri"/>
              </a:rPr>
              <a:t>  = matches the paper     </a:t>
            </a:r>
            <a:r>
              <a:rPr sz="1050" b="1" i="0">
                <a:solidFill>
                  <a:srgbClr val="D99A00"/>
                </a:solidFill>
                <a:latin typeface="Calibri"/>
              </a:rPr>
              <a:t>Amber</a:t>
            </a:r>
            <a:r>
              <a:rPr sz="1050" b="0" i="0">
                <a:solidFill>
                  <a:srgbClr val="41525B"/>
                </a:solidFill>
                <a:latin typeface="Calibri"/>
              </a:rPr>
              <a:t>  = documented deviation (missing detail or compute budget)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057400"/>
            <a:ext cx="4919472" cy="4069080"/>
          </a:xfrm>
          <a:prstGeom prst="roundRect">
            <a:avLst>
              <a:gd name="adj" fmla="val 6000"/>
            </a:avLst>
          </a:prstGeom>
          <a:solidFill>
            <a:srgbClr val="EAF3F5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0" y="21945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37C8E"/>
                </a:solidFill>
                <a:latin typeface="Calibri"/>
              </a:rPr>
              <a:t>RESULTS · NIH TEST SET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2560320"/>
          <a:ext cx="4462272" cy="277977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20240"/>
                <a:gridCol w="1271016"/>
                <a:gridCol w="1271016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Mean fold accuracy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97.70 %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97.38 %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Ensemble accuracy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98.29 %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97.57 %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Recall (sensitivity)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98.82 %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96.81 %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97.74 %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98.31 %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98.28 %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97.55 %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99.76 %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99.76 %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7262E"/>
                          </a:solidFill>
                          <a:latin typeface="Calibri"/>
                        </a:rPr>
                        <a:t>MCC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1525B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37C8E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544068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262E"/>
                </a:solidFill>
                <a:latin typeface="Calibri"/>
              </a:rPr>
              <a:t>Success criterion: </a:t>
            </a:r>
            <a:r>
              <a:rPr sz="1100" b="0" i="0">
                <a:solidFill>
                  <a:srgbClr val="41525B"/>
                </a:solidFill>
                <a:latin typeface="Calibri"/>
              </a:rPr>
              <a:t>within ≈ 1 pp of the paper. Ours = notebook §10 output (Kaggle 2× T4 GPU).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C8B93"/>
                </a:solidFill>
                <a:latin typeface="Calibri"/>
              </a:rPr>
              <a:t>Phase 2 · Baseline &amp; Hypothesis · Automated Malaria Cell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C8B9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09960" y="320040"/>
            <a:ext cx="1005840" cy="1005840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475720" y="6172200"/>
            <a:ext cx="822960" cy="822960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3A2A00"/>
                </a:solidFill>
                <a:latin typeface="Calibri"/>
              </a:rPr>
              <a:t>★ OUR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Two proposed changes, one variable at a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68112" cy="393192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14400" y="2057400"/>
            <a:ext cx="731520" cy="731520"/>
          </a:xfrm>
          <a:prstGeom prst="ellipse">
            <a:avLst/>
          </a:prstGeom>
          <a:solidFill>
            <a:srgbClr val="CC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4028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048256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FC0C9"/>
                </a:solidFill>
                <a:latin typeface="Calibri"/>
              </a:rPr>
              <a:t>H1 ·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0428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mbria"/>
              </a:rPr>
              <a:t>Leakage-free, slide-grouped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17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C0C9"/>
                </a:solidFill>
                <a:latin typeface="Calibri"/>
              </a:rPr>
              <a:t>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990088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5E6EA"/>
                </a:solidFill>
                <a:latin typeface="Calibri"/>
              </a:rPr>
              <a:t>Split by slide/patient (StratifiedGroupKFold) instead of random images. Model unchanged.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91363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9A00"/>
                </a:solidFill>
                <a:latin typeface="Calibri"/>
              </a:rPr>
              <a:t>WE EXPECT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886199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Accuracy and MCC fall below the image-split baseline, and fold-to-fold spread widens.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097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C0C9"/>
                </a:solidFill>
                <a:latin typeface="Calibri"/>
              </a:rPr>
              <a:t>BECAUSE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782312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5E6EA"/>
                </a:solidFill>
                <a:latin typeface="Calibri"/>
              </a:rPr>
              <a:t>Cells from one slide share stain, lighting and the patient's cell shape. A random split lets the model recognise the slide rather than the parasite.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828800"/>
            <a:ext cx="5468112" cy="393192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620256" y="2057400"/>
            <a:ext cx="731520" cy="731520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24028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34656" y="2048256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FC0C9"/>
                </a:solidFill>
                <a:latin typeface="Calibri"/>
              </a:rPr>
              <a:t>H2 · 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30428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mbria"/>
              </a:rPr>
              <a:t>YUV stain normalisation (Umer [4])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3017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C0C9"/>
                </a:solidFill>
                <a:latin typeface="Calibri"/>
              </a:rPr>
              <a:t>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2990088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5E6EA"/>
                </a:solidFill>
                <a:latin typeface="Calibri"/>
              </a:rPr>
              <a:t>Add RGB → YUV → histogram-equalise Y → RGB before EfficientNet-B0. Grouped split kept fixed.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391363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9A00"/>
                </a:solidFill>
                <a:latin typeface="Calibri"/>
              </a:rPr>
              <a:t>WE EXPECT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3886199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Higher recall and MCC than the H1 model on unseen slides; little change on the random split.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48097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C0C9"/>
                </a:solidFill>
                <a:latin typeface="Calibri"/>
              </a:rPr>
              <a:t>BECAUSE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4782312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5E6EA"/>
                </a:solidFill>
                <a:latin typeface="Calibri"/>
              </a:rPr>
              <a:t>Equalising brightness strips slide-specific colour cues, so the network has to rely on parasite morphology. That's the signal that carries across labs.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2531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99A00"/>
                </a:solidFill>
                <a:latin typeface="Calibri"/>
              </a:rPr>
              <a:t>Falsifiable:  </a:t>
            </a:r>
            <a:r>
              <a:rPr sz="1250" b="0" i="0">
                <a:solidFill>
                  <a:srgbClr val="CFE3E8"/>
                </a:solidFill>
                <a:latin typeface="Calibri"/>
              </a:rPr>
              <a:t>if H2's gain over H1 is smaller than the fold-to-fold standard deviation, we reject H2. If grouped and random splits score the same, H1 is rejected and leakage is not a real issue on this dataset.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37C8E"/>
                </a:solidFill>
                <a:latin typeface="Calibri"/>
              </a:rPr>
              <a:t>HOW WE WILL TEST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262E"/>
                </a:solidFill>
                <a:latin typeface="Cambria"/>
              </a:rPr>
              <a:t>Ablation plan &amp;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41525B"/>
                </a:solidFill>
                <a:latin typeface="Calibri"/>
              </a:rPr>
              <a:t>Each comparison changes exactly one thing (shown in brackets). Same seeds, epochs and folds throughout.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11091672" cy="25603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640080"/>
                <a:gridCol w="1920240"/>
                <a:gridCol w="1691640"/>
                <a:gridCol w="5468112"/>
                <a:gridCol w="13716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What it answers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7262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7262E"/>
                          </a:solidFill>
                          <a:latin typeface="Calibri"/>
                        </a:rPr>
                        <a:t>A0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Image-level (paper)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Baseline: does our reproduction match [8]?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EA79B"/>
                          </a:solidFill>
                          <a:latin typeface="Calibri"/>
                        </a:rPr>
                        <a:t>Milestone 2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7262E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Slide-grouped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H1: how big is the leakage gap (A0 − A1)?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D99A0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7262E"/>
                          </a:solidFill>
                          <a:latin typeface="Calibri"/>
                        </a:rPr>
                        <a:t>A2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Slide-grouped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YUV + hist-eq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H2: does stain normalisation help on unseen slides (A2 − A1)?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D99A0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7262E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Image-level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YUV + hist-eq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1525B"/>
                          </a:solidFill>
                          <a:latin typeface="Calibri"/>
                        </a:rPr>
                        <a:t>Control: is H2's gain specific to new slides (A3 − A0 ≈ 0)?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D99A0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5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919472"/>
            <a:ext cx="3575304" cy="1325880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49808" y="5074920"/>
            <a:ext cx="566928" cy="566928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5216652"/>
            <a:ext cx="283464" cy="283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81328" y="509320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542239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Accuracy, recall (missed infections), MCC, ROC-AUC. Mean ± SD over folds plus the hold-out ensemble.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4919472"/>
            <a:ext cx="3575304" cy="1325880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07992" y="5074920"/>
            <a:ext cx="566928" cy="566928"/>
          </a:xfrm>
          <a:prstGeom prst="ellipse">
            <a:avLst/>
          </a:prstGeom>
          <a:solidFill>
            <a:srgbClr val="CC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5216652"/>
            <a:ext cx="283464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9512" y="509320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Clinical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542239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Recall first: a missed parasitized cell (false negative) costs more than a false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4919472"/>
            <a:ext cx="3575304" cy="1325880"/>
          </a:xfrm>
          <a:prstGeom prst="roundRect">
            <a:avLst>
              <a:gd name="adj" fmla="val 6000"/>
            </a:avLst>
          </a:prstGeom>
          <a:solidFill>
            <a:srgbClr val="F5F9FA"/>
          </a:solidFill>
          <a:ln w="12700">
            <a:solidFill>
              <a:srgbClr val="D3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66176" y="5074920"/>
            <a:ext cx="566928" cy="566928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908" y="5216652"/>
            <a:ext cx="283464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97696" y="509320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7262E"/>
                </a:solidFill>
                <a:latin typeface="Cambria"/>
              </a:rPr>
              <a:t>Already built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542239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1525B"/>
                </a:solidFill>
                <a:latin typeface="Calibri"/>
              </a:rPr>
              <a:t>The notebook has the grouped split and YUV switches. A1–A3 are one flag each.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C8B93"/>
                </a:solidFill>
                <a:latin typeface="Calibri"/>
              </a:rPr>
              <a:t>Phase 2 · Baseline &amp; Hypothesis · Automated Malaria Cell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C8B93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eleven reviewed studies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Z. Liang et al., “CNN-Based Image Analysis for Malaria Diagnosis,” IEEE BIBM, 2016.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S. Rajaraman et al., “Pre-trained CNNs as feature extractors toward improved malaria parasite detection,” PeerJ 6:e4568, 2018.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S. Rajaraman et al., “Performance evaluation of deep neural ensembles toward malaria parasite detection,” PeerJ 7:e6977, 2019.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Umer et al., “A Novel Stacked CNN for Malarial Parasite Detection in Thin Blood Smear Images,” IEEE Access 8, 2020.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K. M. F. Fuhad et al., “Deep Learning Based Automatic Malaria Parasite Detection … Smartphone Application,” Diagnostics 10(5):329, 2020.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O. S. Zhao et al., “Convolutional neural networks to automate the screening of malaria in low-resource countries,” PeerJ 8:e9674, 2020.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50876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M. Masud et al., “Leveraging Deep Learning Techniques for Malaria Parasite Detection Using Mobile Application,” WCMC 2020:8895429.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G. Marques et al., “An ensemble-based approach for automated medical diagnosis of malaria using EfficientNet,” MTAP 81, 2022.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G. Madhu et al., “Intelligent diagnostic model … imperative inception-based capsule neural networks,” Scientific Reports 13, 2023.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K. Hemachandran et al., “Performance Analysis of Deep Learning Algorithms in Diagnosis of Malaria Disease,” Diagnostics 13(3):534, 2023.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M. Mujahid et al., “Efficient deep learning-based approach for malaria detection using red blood cell smears,” Scientific Reports 14, 2024.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3977640"/>
            <a:ext cx="5376672" cy="2103120"/>
          </a:xfrm>
          <a:prstGeom prst="roundRect">
            <a:avLst>
              <a:gd name="adj" fmla="val 4348"/>
            </a:avLst>
          </a:prstGeom>
          <a:solidFill>
            <a:srgbClr val="0F2E3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75120" y="4297680"/>
            <a:ext cx="822960" cy="822960"/>
          </a:xfrm>
          <a:prstGeom prst="ellipse">
            <a:avLst/>
          </a:prstGeom>
          <a:solidFill>
            <a:srgbClr val="2EA79B"/>
          </a:solidFill>
          <a:ln/>
        </p:spPr>
        <p:txBody>
          <a:bodyPr/>
          <a:p/>
        </p:txBody>
      </p:sp>
      <p:pic>
        <p:nvPicPr>
          <p:cNvPr id="8" name="Image 0" descr="/tmp/build/assets/ic_micr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45034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80960" y="4297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8920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methods, results, or our chosen research gap are welcome.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1447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</a:t>
            </a:r>
            <a:pPr indent="0" marL="0">
              <a:buNone/>
            </a:pPr>
            <a:r>
              <a:rPr lang="en-US" sz="1100" dirty="0">
                <a:solidFill>
                  <a:srgbClr val="41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Pugazhendhi J · J Amathziah · C Murali Madhav · Ravi Yadav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Oval 1"/>
          <p:cNvSpPr/>
          <p:nvPr/>
        </p:nvSpPr>
        <p:spPr>
          <a:xfrm>
            <a:off x="10972800" y="5669280"/>
            <a:ext cx="1097280" cy="1097280"/>
          </a:xfrm>
          <a:prstGeom prst="ellipse">
            <a:avLst/>
          </a:prstGeom>
          <a:solidFill>
            <a:srgbClr val="13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2"/>
          <p:cNvSpPr/>
          <p:nvPr/>
        </p:nvSpPr>
        <p:spPr>
          <a:xfrm>
            <a:off x="11521440" y="1188720"/>
            <a:ext cx="548640" cy="548640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3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A79B"/>
                </a:solidFill>
                <a:latin typeface="Calibri"/>
              </a:rPr>
              <a:t>OUR TEAM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685800" y="89611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Four people, four jobs</a:t>
            </a:r>
          </a:p>
        </p:txBody>
      </p:sp>
      <p:sp>
        <p:nvSpPr>
          <p:cNvPr id="7" name="Rounded Rectangle 8"/>
          <p:cNvSpPr/>
          <p:nvPr/>
        </p:nvSpPr>
        <p:spPr>
          <a:xfrm>
            <a:off x="685800" y="2011680"/>
            <a:ext cx="2571750" cy="274320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9"/>
          <p:cNvSpPr/>
          <p:nvPr/>
        </p:nvSpPr>
        <p:spPr>
          <a:xfrm>
            <a:off x="960120" y="2331720"/>
            <a:ext cx="822960" cy="822960"/>
          </a:xfrm>
          <a:prstGeom prst="ellipse">
            <a:avLst/>
          </a:prstGeom>
          <a:solidFill>
            <a:srgbClr val="CC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AJ</a:t>
            </a:r>
          </a:p>
        </p:txBody>
      </p:sp>
      <p:sp>
        <p:nvSpPr>
          <p:cNvPr id="9" name="TextBox 11"/>
          <p:cNvSpPr txBox="1"/>
          <p:nvPr/>
        </p:nvSpPr>
        <p:spPr>
          <a:xfrm>
            <a:off x="960120" y="3383280"/>
            <a:ext cx="20231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Amathziah J</a:t>
            </a:r>
          </a:p>
        </p:txBody>
      </p:sp>
      <p:sp>
        <p:nvSpPr>
          <p:cNvPr id="10" name="TextBox 23"/>
          <p:cNvSpPr txBox="1"/>
          <p:nvPr/>
        </p:nvSpPr>
        <p:spPr>
          <a:xfrm>
            <a:off x="960120" y="3886200"/>
            <a:ext cx="20231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A79B"/>
                </a:solidFill>
                <a:latin typeface="Calibri"/>
              </a:rPr>
              <a:t>ROLE</a:t>
            </a:r>
          </a:p>
        </p:txBody>
      </p:sp>
      <p:sp>
        <p:nvSpPr>
          <p:cNvPr id="11" name="TextBox 12"/>
          <p:cNvSpPr txBox="1"/>
          <p:nvPr/>
        </p:nvSpPr>
        <p:spPr>
          <a:xfrm>
            <a:off x="960120" y="4160520"/>
            <a:ext cx="20231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5E6EA"/>
                </a:solidFill>
                <a:latin typeface="Calibri"/>
              </a:rPr>
              <a:t>Kaggle experiments, repository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3440430" y="2011680"/>
            <a:ext cx="2571750" cy="274320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9"/>
          <p:cNvSpPr/>
          <p:nvPr/>
        </p:nvSpPr>
        <p:spPr>
          <a:xfrm>
            <a:off x="3714750" y="2331720"/>
            <a:ext cx="822960" cy="822960"/>
          </a:xfrm>
          <a:prstGeom prst="ellipse">
            <a:avLst/>
          </a:prstGeom>
          <a:solidFill>
            <a:srgbClr val="8A4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MM</a:t>
            </a:r>
          </a:p>
        </p:txBody>
      </p:sp>
      <p:sp>
        <p:nvSpPr>
          <p:cNvPr id="14" name="TextBox 11"/>
          <p:cNvSpPr txBox="1"/>
          <p:nvPr/>
        </p:nvSpPr>
        <p:spPr>
          <a:xfrm>
            <a:off x="3714750" y="3383280"/>
            <a:ext cx="20231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Murali Madhav C</a:t>
            </a:r>
          </a:p>
        </p:txBody>
      </p:sp>
      <p:sp>
        <p:nvSpPr>
          <p:cNvPr id="15" name="TextBox 23"/>
          <p:cNvSpPr txBox="1"/>
          <p:nvPr/>
        </p:nvSpPr>
        <p:spPr>
          <a:xfrm>
            <a:off x="3714750" y="3886200"/>
            <a:ext cx="20231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A79B"/>
                </a:solidFill>
                <a:latin typeface="Calibri"/>
              </a:rPr>
              <a:t>ROLE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3714750" y="4160520"/>
            <a:ext cx="20231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5E6EA"/>
                </a:solidFill>
                <a:latin typeface="Calibri"/>
              </a:rPr>
              <a:t>Code (notebook, scripts)</a:t>
            </a:r>
          </a:p>
        </p:txBody>
      </p:sp>
      <p:sp>
        <p:nvSpPr>
          <p:cNvPr id="17" name="Rounded Rectangle 8"/>
          <p:cNvSpPr/>
          <p:nvPr/>
        </p:nvSpPr>
        <p:spPr>
          <a:xfrm>
            <a:off x="6195060" y="2011680"/>
            <a:ext cx="2571750" cy="274320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9"/>
          <p:cNvSpPr/>
          <p:nvPr/>
        </p:nvSpPr>
        <p:spPr>
          <a:xfrm>
            <a:off x="6469380" y="2331720"/>
            <a:ext cx="822960" cy="822960"/>
          </a:xfrm>
          <a:prstGeom prst="ellipse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RY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6469380" y="3383280"/>
            <a:ext cx="20231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Ravi Yadav</a:t>
            </a:r>
          </a:p>
        </p:txBody>
      </p:sp>
      <p:sp>
        <p:nvSpPr>
          <p:cNvPr id="20" name="TextBox 23"/>
          <p:cNvSpPr txBox="1"/>
          <p:nvPr/>
        </p:nvSpPr>
        <p:spPr>
          <a:xfrm>
            <a:off x="6469380" y="3886200"/>
            <a:ext cx="20231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A79B"/>
                </a:solidFill>
                <a:latin typeface="Calibri"/>
              </a:rPr>
              <a:t>ROLE</a:t>
            </a:r>
          </a:p>
        </p:txBody>
      </p:sp>
      <p:sp>
        <p:nvSpPr>
          <p:cNvPr id="21" name="TextBox 12"/>
          <p:cNvSpPr txBox="1"/>
          <p:nvPr/>
        </p:nvSpPr>
        <p:spPr>
          <a:xfrm>
            <a:off x="6469380" y="4160520"/>
            <a:ext cx="20231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5E6EA"/>
                </a:solidFill>
                <a:latin typeface="Calibri"/>
              </a:rPr>
              <a:t>Slides</a:t>
            </a:r>
          </a:p>
        </p:txBody>
      </p:sp>
      <p:sp>
        <p:nvSpPr>
          <p:cNvPr id="22" name="Rounded Rectangle 8"/>
          <p:cNvSpPr/>
          <p:nvPr/>
        </p:nvSpPr>
        <p:spPr>
          <a:xfrm>
            <a:off x="8949690" y="2011680"/>
            <a:ext cx="2571750" cy="2743200"/>
          </a:xfrm>
          <a:prstGeom prst="roundRect">
            <a:avLst>
              <a:gd name="adj" fmla="val 6000"/>
            </a:avLst>
          </a:prstGeom>
          <a:solidFill>
            <a:srgbClr val="15455A"/>
          </a:solidFill>
          <a:ln w="12700">
            <a:solidFill>
              <a:srgbClr val="0E6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9"/>
          <p:cNvSpPr/>
          <p:nvPr/>
        </p:nvSpPr>
        <p:spPr>
          <a:xfrm>
            <a:off x="9224010" y="2331720"/>
            <a:ext cx="822960" cy="822960"/>
          </a:xfrm>
          <a:prstGeom prst="ellipse">
            <a:avLst/>
          </a:prstGeom>
          <a:solidFill>
            <a:srgbClr val="2E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PJ</a:t>
            </a:r>
          </a:p>
        </p:txBody>
      </p:sp>
      <p:sp>
        <p:nvSpPr>
          <p:cNvPr id="24" name="TextBox 11"/>
          <p:cNvSpPr txBox="1"/>
          <p:nvPr/>
        </p:nvSpPr>
        <p:spPr>
          <a:xfrm>
            <a:off x="9224010" y="3383280"/>
            <a:ext cx="20231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Pugazhendhi J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9224010" y="3886200"/>
            <a:ext cx="20231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A79B"/>
                </a:solidFill>
                <a:latin typeface="Calibri"/>
              </a:rPr>
              <a:t>ROLE</a:t>
            </a:r>
          </a:p>
        </p:txBody>
      </p:sp>
      <p:sp>
        <p:nvSpPr>
          <p:cNvPr id="26" name="TextBox 12"/>
          <p:cNvSpPr txBox="1"/>
          <p:nvPr/>
        </p:nvSpPr>
        <p:spPr>
          <a:xfrm>
            <a:off x="9224010" y="4160520"/>
            <a:ext cx="20231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5E6EA"/>
                </a:solidFill>
                <a:latin typeface="Calibri"/>
              </a:rPr>
              <a:t>Report</a:t>
            </a:r>
          </a:p>
        </p:txBody>
      </p:sp>
      <p:sp>
        <p:nvSpPr>
          <p:cNvPr id="27" name="TextBox 23"/>
          <p:cNvSpPr txBox="1"/>
          <p:nvPr/>
        </p:nvSpPr>
        <p:spPr>
          <a:xfrm>
            <a:off x="68580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A79B"/>
                </a:solidFill>
                <a:latin typeface="Calibri"/>
              </a:rPr>
              <a:t>Code, results &amp; slides:  </a:t>
            </a:r>
            <a:r>
              <a:rPr sz="1400" b="0" i="0">
                <a:solidFill>
                  <a:srgbClr val="CFE3E8"/>
                </a:solidFill>
                <a:latin typeface="Calibri"/>
              </a:rPr>
              <a:t>github.com/amathziah/malaria-detection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2026-09-01T19:49:07Z</dcterms:created>
  <dcterms:modified xsi:type="dcterms:W3CDTF">2026-09-01T19:49:07Z</dcterms:modified>
</cp:coreProperties>
</file>