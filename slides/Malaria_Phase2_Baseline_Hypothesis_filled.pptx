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28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3" r:id="rId24"/>
    <p:sldId id="274" r:id="rId25"/>
    <p:sldId id="278" r:id="rId29"/>
    <p:sldId id="275" r:id="rId26"/>
    <p:sldId id="276" r:id="rId27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22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37C8E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726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Zhao [6]</c:v>
                  </c:pt>
                  <c:pt idx="1">
                    <c:v>Hemachandran [10]</c:v>
                  </c:pt>
                  <c:pt idx="2">
                    <c:v>Masud [7]</c:v>
                  </c:pt>
                  <c:pt idx="3">
                    <c:v>Liang [1]</c:v>
                  </c:pt>
                  <c:pt idx="4">
                    <c:v>Mujahid [11]</c:v>
                  </c:pt>
                  <c:pt idx="5">
                    <c:v>Marques [8]</c:v>
                  </c:pt>
                  <c:pt idx="6">
                    <c:v>Fuhad [5]</c:v>
                  </c:pt>
                  <c:pt idx="7">
                    <c:v>Madhu [9]</c:v>
                  </c:pt>
                  <c:pt idx="8">
                    <c:v>Umer [4]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96.5</c:v>
                </c:pt>
                <c:pt idx="1">
                  <c:v>97.06</c:v>
                </c:pt>
                <c:pt idx="2">
                  <c:v>97.3</c:v>
                </c:pt>
                <c:pt idx="3">
                  <c:v>97.37</c:v>
                </c:pt>
                <c:pt idx="4">
                  <c:v>97.57</c:v>
                </c:pt>
                <c:pt idx="5">
                  <c:v>98.29</c:v>
                </c:pt>
                <c:pt idx="6">
                  <c:v>99.23</c:v>
                </c:pt>
                <c:pt idx="7">
                  <c:v>99.35</c:v>
                </c:pt>
                <c:pt idx="8">
                  <c:v>99.96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726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6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5"/>
          <c:min val="94"/>
        </c:scaling>
        <c:delete val="0"/>
        <c:axPos val="b"/>
        <c:majorGridlines>
          <c:spPr>
            <a:ln w="9525" cap="flat">
              <a:solidFill>
                <a:srgbClr val="DC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C8B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Title + team. Say: 'We reviewed 11 key studies on automated malaria detection using the NIH cell dataset — here's what the field has learned and the gaps we'll target.'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Motivation. Gold standard = manual microscopy of Giemsa-stained smears. Three problems: slow, expert-dependent, subjective. Land the opportunity line: an automated system is fast, consistent, deployable.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problem statement — read the big statement verbatim once. Then the 3 scope chips: binary task, deep networks (no hand-crafted features), point-of-care goal. Note this talk = Stage 1, the literature survey.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everyone uses: NIH, 27,558 balanced single-cell images, 200 patients, Chittagong Bangladesh. Point at the two cells — parasite = violet specks. Flag Fuhad's label correction to 26,161 (foreshadows a gap).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Amathziah. This is the story slide — walk left to right along the timeline: 2016 custom CNN → 2018 feature extraction → 2019 ensembles → 2020 lightweight/mobile → 2022-24 capsules &amp; benchmarking.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1. Liang: a purpose-built 16-layer CNN (97.37%) beat generic AlexNet features (91.99%) — domain features win. Rajaraman [2] then mapped which pretrained layers transfer best. Insight: accuracy vs compute tension starts here.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ensembles. Single CNNs are high-variance; averaging diverse models is steadier. Rajaraman [3]: VGG-19+SqueezeNet cuts variance. Marques [8]: 10-fold EfficientNet ensemble → 98.29%. Catch: heavy &amp; slow → motivates lightweight.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lightweight/mobile. Fuhad: 99.23% at only 4,600 FLOPS, &lt;1s on a phone. Masud: 409K-param CNN, cyclical LR, ~97 min, no augmentation. Zhao: super-resolution + tested a 2nd species. Theme: optimise for size/speed.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Murali. Two ideas. Madhu's capsule net keeps spatial/pose info that pooling throws away — 99.35%. Umer's 5-step YUV pipeline normalises staining so the model can't cheat on stain colour — ~99.9%.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benchmarking. Hemachandran: MobileNetV2 (97.06%) matches heavy ResNet. Mujahid: a tuned custom 12-layer CNN (97.57%) beats 11 pretrained nets. Verdict: lightweight ≈ heavy — efficiency is a real design goal.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at-a-glance table — don't read every row. Point out the spread of methods and that top accuracies cluster at 96-100%. Set up the caveat: these numbers are NOT directly comparable.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chart. All studies land 96-100%. BUT read with care (right panel): different splits, different data cleanliness, possible patient-level leakage. This caveat leads straight into the research gaps.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Ravi. THE BONUS Kartik asked for — four gaps none of the papers fully solve: (1) patient-level data leakage, (2) single-species focus, (3) noisy labels, (4) raw thick-smear clinical workflow. Spend time here.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gaps into our plan: YUV normalization (Umer), Fuhad's corrected dataset, patient-level 5-fold CV (Rajaraman), lightweight architecture (Masud/Fuhad). The review is our roadmap.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Field matured from proof-of-concept → deployment-aware; accuracy is largely solved on clean data, open problems are trust &amp; deployment. Then our 5 next stages: base paper → reproduce → hypothesise → ablate → write up.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+ thank you. Invite questions, especially on our chosen research gap (patient-level leakage). Have the cheat-sheet numbers ready.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opener and brief introduction. Recap the problem in one breath: manual microscopy is slow, subjective, and needs an expert. Then the key finding that carries over from Phase 1: published accuracies are high, but most papers split images at random, so the same patient's cells appear in training and testing. This phase has three steps: pick Marques [8] as the base paper, reproduce it, then state our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base paper. Four reasons: open-source code, so we can reproduce it faithfully; the strictest validation in our review (stratified 10-fold); a light backbone in line with our deployability goal; and results that are strong but not 99.9 %, so a change can move them either way. Walk the pipeline top to bottom, then land the four target numbers we have to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Reproduction. Left: we kept every setting the paper reports. Amber rows are where the paper is silent (augmentation details, epochs) or where we cut compute (3 of 10 folds on a free GPU). Right: paper vs. ours. We landed within 1 point on both headline numbers (mean fold −0.32 pp, ensemble −0.72 pp), so the reproduction counts as successful and this is our baseline. Recall is the one gap (−2 pp).</a:t>
            </a:r>
          </a:p>
          <a:p/>
          <a:p>
            <a:r>
              <a:t>Results (Kaggle run, 3 of 10 folds): mean single-fold accuracy 97.38 ± 0.74 % (SD across 3 folds). Ensemble of 3 fold models on the 2,756-image hold-out test set. MCC is shown as a coefficient (0–1). Ran on 2× Tesla T4 (MirroredStrategy), so the global batch was 128 (64 per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hypothesis. Two proposed changes, each changing exactly one thing. H1: switch to a slide-grouped split. We expect the reported accuracy to drop because the model can no longer recognise a slide it already saw in training. H2: keep the honest split and add Umer's YUV histogram-equalisation. We expect recall and MCC to recover, because stain colour stops being a shortcut. Close on the falsification rule: we say in advance what result would prove us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will test the hypothesis next milestone. A0 is done: that's the reproduction. A1 removes leakage (H1). A2 adds stain normalisation on top (H2). A3 is a control showing that any gain is about generalising to new slides, not a general boost. We report recall and MCC alongside accuracy, as mean ± SD over folds. All of these are already built into the notebook as on/off switches. Our A0 baseline already shows why recall comes first: 96.81 % vs. the paper's 98.82 %, i.e. 44 missed infected cells on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7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2.png"/><Relationship Id="rId3" Type="http://schemas.openxmlformats.org/officeDocument/2006/relationships/image" Target="../media/image-12-1.png"/><Relationship Id="rId4" Type="http://schemas.openxmlformats.org/officeDocument/2006/relationships/image" Target="../media/image-4-1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-2-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137160"/>
            <a:ext cx="1371600" cy="1371600"/>
          </a:xfrm>
          <a:prstGeom prst="ellipse">
            <a:avLst/>
          </a:prstGeom>
          <a:solidFill>
            <a:srgbClr val="137C8E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411712" y="1444752"/>
            <a:ext cx="768096" cy="768096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442448" y="1298448"/>
            <a:ext cx="512064" cy="512064"/>
          </a:xfrm>
          <a:prstGeom prst="ellipse">
            <a:avLst/>
          </a:prstGeom>
          <a:solidFill>
            <a:srgbClr val="8A43B0">
              <a:alpha val="50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-182880" y="5303520"/>
            <a:ext cx="1645920" cy="164592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88720" y="5943600"/>
            <a:ext cx="731520" cy="731520"/>
          </a:xfrm>
          <a:prstGeom prst="ellipse">
            <a:avLst/>
          </a:prstGeom>
          <a:solidFill>
            <a:srgbClr val="8A43B0">
              <a:alpha val="45000"/>
            </a:srgbClr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82880" y="4846320"/>
            <a:ext cx="548640" cy="54864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109960" y="5440680"/>
            <a:ext cx="1005840" cy="100584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881360" y="612648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  <p:txBody>
          <a:bodyPr/>
          <a:p/>
        </p:txBody>
      </p:sp>
      <p:pic>
        <p:nvPicPr>
          <p:cNvPr id="10" name="Image 0" descr="/tmp/build/assets/cell_inf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COMPUTER-AIDED DIAGNOSIS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8105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Malaria Cell Detection</a:t>
            </a:r>
            <a:endParaRPr lang="en-US" sz="4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700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F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NIH Malaria Cell Images Dataset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22960" y="3529584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8A43B0"/>
          </a:solidFill>
          <a:ln/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82296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 →  BASELINE &amp; HYPOTHESIS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987552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230066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547872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3712464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Amathziah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2784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437376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Murali Madhav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37376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230115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7696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9162288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Yadav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62288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230131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742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· Rishihood University, Sonipat, India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OUR TEAM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Four people, four jobs</a:t>
            </a:r>
          </a:p>
        </p:txBody>
      </p:sp>
      <p:sp>
        <p:nvSpPr>
          <p:cNvPr id="7" name="Rounded Rectangle 8"/>
          <p:cNvSpPr/>
          <p:nvPr/>
        </p:nvSpPr>
        <p:spPr>
          <a:xfrm>
            <a:off x="685800" y="2011680"/>
            <a:ext cx="2571750" cy="2743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9"/>
          <p:cNvSpPr/>
          <p:nvPr/>
        </p:nvSpPr>
        <p:spPr>
          <a:xfrm>
            <a:off x="960120" y="2331720"/>
            <a:ext cx="822960" cy="82296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AJ</a:t>
            </a:r>
          </a:p>
        </p:txBody>
      </p:sp>
      <p:sp>
        <p:nvSpPr>
          <p:cNvPr id="9" name="TextBox 11"/>
          <p:cNvSpPr txBox="1"/>
          <p:nvPr/>
        </p:nvSpPr>
        <p:spPr>
          <a:xfrm>
            <a:off x="960120" y="3383280"/>
            <a:ext cx="20231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Amathziah J</a:t>
            </a:r>
          </a:p>
        </p:txBody>
      </p:sp>
      <p:sp>
        <p:nvSpPr>
          <p:cNvPr id="10" name="TextBox 23"/>
          <p:cNvSpPr txBox="1"/>
          <p:nvPr/>
        </p:nvSpPr>
        <p:spPr>
          <a:xfrm>
            <a:off x="960120" y="3886200"/>
            <a:ext cx="20231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ROLE</a:t>
            </a:r>
          </a:p>
        </p:txBody>
      </p:sp>
      <p:sp>
        <p:nvSpPr>
          <p:cNvPr id="11" name="TextBox 12"/>
          <p:cNvSpPr txBox="1"/>
          <p:nvPr/>
        </p:nvSpPr>
        <p:spPr>
          <a:xfrm>
            <a:off x="960120" y="4160520"/>
            <a:ext cx="20231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5E6EA"/>
                </a:solidFill>
                <a:latin typeface="Calibri"/>
              </a:rPr>
              <a:t>Kaggle experiments, repository</a:t>
            </a:r>
          </a:p>
        </p:txBody>
      </p:sp>
      <p:sp>
        <p:nvSpPr>
          <p:cNvPr id="12" name="Rounded Rectangle 8"/>
          <p:cNvSpPr/>
          <p:nvPr/>
        </p:nvSpPr>
        <p:spPr>
          <a:xfrm>
            <a:off x="3440430" y="2011680"/>
            <a:ext cx="2571750" cy="2743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9"/>
          <p:cNvSpPr/>
          <p:nvPr/>
        </p:nvSpPr>
        <p:spPr>
          <a:xfrm>
            <a:off x="3714750" y="2331720"/>
            <a:ext cx="822960" cy="82296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MM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3714750" y="3383280"/>
            <a:ext cx="20231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Murali Madhav C</a:t>
            </a:r>
          </a:p>
        </p:txBody>
      </p:sp>
      <p:sp>
        <p:nvSpPr>
          <p:cNvPr id="15" name="TextBox 23"/>
          <p:cNvSpPr txBox="1"/>
          <p:nvPr/>
        </p:nvSpPr>
        <p:spPr>
          <a:xfrm>
            <a:off x="3714750" y="3886200"/>
            <a:ext cx="20231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ROLE</a:t>
            </a:r>
          </a:p>
        </p:txBody>
      </p:sp>
      <p:sp>
        <p:nvSpPr>
          <p:cNvPr id="16" name="TextBox 12"/>
          <p:cNvSpPr txBox="1"/>
          <p:nvPr/>
        </p:nvSpPr>
        <p:spPr>
          <a:xfrm>
            <a:off x="3714750" y="4160520"/>
            <a:ext cx="20231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5E6EA"/>
                </a:solidFill>
                <a:latin typeface="Calibri"/>
              </a:rPr>
              <a:t>Code (notebook, scripts)</a:t>
            </a:r>
          </a:p>
        </p:txBody>
      </p:sp>
      <p:sp>
        <p:nvSpPr>
          <p:cNvPr id="17" name="Rounded Rectangle 8"/>
          <p:cNvSpPr/>
          <p:nvPr/>
        </p:nvSpPr>
        <p:spPr>
          <a:xfrm>
            <a:off x="6195060" y="2011680"/>
            <a:ext cx="2571750" cy="2743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9"/>
          <p:cNvSpPr/>
          <p:nvPr/>
        </p:nvSpPr>
        <p:spPr>
          <a:xfrm>
            <a:off x="6469380" y="2331720"/>
            <a:ext cx="822960" cy="822960"/>
          </a:xfrm>
          <a:prstGeom prst="ellipse">
            <a:avLst/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RY</a:t>
            </a:r>
          </a:p>
        </p:txBody>
      </p:sp>
      <p:sp>
        <p:nvSpPr>
          <p:cNvPr id="19" name="TextBox 11"/>
          <p:cNvSpPr txBox="1"/>
          <p:nvPr/>
        </p:nvSpPr>
        <p:spPr>
          <a:xfrm>
            <a:off x="6469380" y="3383280"/>
            <a:ext cx="20231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Ravi Yadav</a:t>
            </a:r>
          </a:p>
        </p:txBody>
      </p:sp>
      <p:sp>
        <p:nvSpPr>
          <p:cNvPr id="20" name="TextBox 23"/>
          <p:cNvSpPr txBox="1"/>
          <p:nvPr/>
        </p:nvSpPr>
        <p:spPr>
          <a:xfrm>
            <a:off x="6469380" y="3886200"/>
            <a:ext cx="20231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ROLE</a:t>
            </a:r>
          </a:p>
        </p:txBody>
      </p:sp>
      <p:sp>
        <p:nvSpPr>
          <p:cNvPr id="21" name="TextBox 12"/>
          <p:cNvSpPr txBox="1"/>
          <p:nvPr/>
        </p:nvSpPr>
        <p:spPr>
          <a:xfrm>
            <a:off x="6469380" y="4160520"/>
            <a:ext cx="20231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5E6EA"/>
                </a:solidFill>
                <a:latin typeface="Calibri"/>
              </a:rPr>
              <a:t>Slides</a:t>
            </a:r>
          </a:p>
        </p:txBody>
      </p:sp>
      <p:sp>
        <p:nvSpPr>
          <p:cNvPr id="22" name="Rounded Rectangle 8"/>
          <p:cNvSpPr/>
          <p:nvPr/>
        </p:nvSpPr>
        <p:spPr>
          <a:xfrm>
            <a:off x="8949690" y="2011680"/>
            <a:ext cx="2571750" cy="2743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9"/>
          <p:cNvSpPr/>
          <p:nvPr/>
        </p:nvSpPr>
        <p:spPr>
          <a:xfrm>
            <a:off x="9224010" y="2331720"/>
            <a:ext cx="822960" cy="82296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PJ</a:t>
            </a:r>
          </a:p>
        </p:txBody>
      </p:sp>
      <p:sp>
        <p:nvSpPr>
          <p:cNvPr id="24" name="TextBox 11"/>
          <p:cNvSpPr txBox="1"/>
          <p:nvPr/>
        </p:nvSpPr>
        <p:spPr>
          <a:xfrm>
            <a:off x="9224010" y="3383280"/>
            <a:ext cx="202311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Pugazhendhi J</a:t>
            </a:r>
          </a:p>
        </p:txBody>
      </p:sp>
      <p:sp>
        <p:nvSpPr>
          <p:cNvPr id="25" name="TextBox 23"/>
          <p:cNvSpPr txBox="1"/>
          <p:nvPr/>
        </p:nvSpPr>
        <p:spPr>
          <a:xfrm>
            <a:off x="9224010" y="3886200"/>
            <a:ext cx="202311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ROLE</a:t>
            </a:r>
          </a:p>
        </p:txBody>
      </p:sp>
      <p:sp>
        <p:nvSpPr>
          <p:cNvPr id="26" name="TextBox 12"/>
          <p:cNvSpPr txBox="1"/>
          <p:nvPr/>
        </p:nvSpPr>
        <p:spPr>
          <a:xfrm>
            <a:off x="9224010" y="4160520"/>
            <a:ext cx="20231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5E6EA"/>
                </a:solidFill>
                <a:latin typeface="Calibri"/>
              </a:rPr>
              <a:t>Report</a:t>
            </a:r>
          </a:p>
        </p:txBody>
      </p:sp>
      <p:sp>
        <p:nvSpPr>
          <p:cNvPr id="27" name="TextBox 23"/>
          <p:cNvSpPr txBox="1"/>
          <p:nvPr/>
        </p:nvSpPr>
        <p:spPr>
          <a:xfrm>
            <a:off x="685800" y="5212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Code, results &amp; slides: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github.com/amathziah/malaria-detection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malaria diagnosis need automation?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gold standard is manual microscopy of </a:t>
            </a:r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Giemsa-stained blood smears</a:t>
            </a:r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technician visually inspects each cell for parasites. It works, but it doesn't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606040"/>
            <a:ext cx="1005840" cy="100584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7" name="Image 0" descr="/tmp/build/assets/ic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8474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laborious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slide holds hundreds of cells; a microscopist counts them one by one, limiting large-scale screening.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99432" y="2606040"/>
            <a:ext cx="1005840" cy="100584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2" name="Image 1" descr="/tmp/build/assets/ic_do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284744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Expert-dependent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hinges on a trained microscopist's skill — scarce in the rural, endemic regions that need it most.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375904" y="2606040"/>
            <a:ext cx="1005840" cy="1005840"/>
          </a:xfrm>
          <a:prstGeom prst="ellipse">
            <a:avLst/>
          </a:prstGeom>
          <a:solidFill>
            <a:srgbClr val="CC4A3F"/>
          </a:solidFill>
          <a:ln/>
        </p:spPr>
        <p:txBody>
          <a:bodyPr/>
          <a:p/>
        </p:txBody>
      </p:sp>
      <p:pic>
        <p:nvPicPr>
          <p:cNvPr id="17" name="Image 2" descr="/tmp/build/assets/ic_sw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847442"/>
            <a:ext cx="523037" cy="5230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21624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&amp; inconsistent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421624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between (and within) observers and across labs, so the same smear can yield different diagnoses.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05256" y="5449824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2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61441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8308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system that screens cells automatically — fast, consistent, and deployable where experts are not.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0100" y="1851660"/>
            <a:ext cx="1051560" cy="10515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11455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173736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an automated deep-learning system that detects malaria parasites in red-blood-cell images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making screening more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consistent, fast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potentially deployable on low-resource / mobile devices.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9808" y="372160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0" name="Image 1" descr="/tmp/build/assets/ic_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897173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single RBC crops: parasitized vs. uninfected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26280" y="372160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2" descr="/tmp/build/assets/ic_ge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45" y="3897173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76672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45152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/ capsule deep networks — no hand-crafted features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01584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02752" y="3721608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0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89717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421624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reliable and light enough for point-of-care use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2180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pPr indent="0" marL="0">
              <a:buNone/>
            </a:pPr>
            <a:r>
              <a:rPr lang="en-US" sz="14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literature survey of 11 studies (slides 4–15).  Stage 2 — reproduce the base paper and state our hypothesis (slides 16–20).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Malaria Cell Images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benchmark across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studies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Built from Giemsa-stained thin blood smears at Chittagong Medical College Hospital, Bangladesh, and segmented into single cells.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27,558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single-cell images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8036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99008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/ 50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vs. uninfected — balanced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32180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(150 infected, 50 healthy)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37960" cy="2057400"/>
          </a:xfrm>
          <a:prstGeom prst="roundRect">
            <a:avLst>
              <a:gd name="adj" fmla="val 444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77824" y="4425696"/>
            <a:ext cx="658368" cy="658368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6" name="Image 0" descr="/tmp/build/assets/ic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4590288"/>
            <a:ext cx="329184" cy="32918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37360" y="43159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 problem — noisy labels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736592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et al. [5]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staining artifacts mislabeled as parasites and manually cleaned the set to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26,161 verified images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(13,132 parasitized · 13,029 uninfected) — a cleaner, more trustworthy benchmark.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452360" y="1481328"/>
            <a:ext cx="4206240" cy="4690872"/>
          </a:xfrm>
          <a:prstGeom prst="roundRect">
            <a:avLst>
              <a:gd name="adj" fmla="val 1957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cell looks like</a:t>
            </a:r>
            <a:endParaRPr lang="en-US" sz="1650" dirty="0"/>
          </a:p>
        </p:txBody>
      </p:sp>
      <p:pic>
        <p:nvPicPr>
          <p:cNvPr id="21" name="Image 1" descr="/tmp/build/assets/cell_uninf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240280"/>
            <a:ext cx="1508760" cy="1508760"/>
          </a:xfrm>
          <a:prstGeom prst="rect">
            <a:avLst/>
          </a:prstGeom>
        </p:spPr>
      </p:pic>
      <p:pic>
        <p:nvPicPr>
          <p:cNvPr id="22" name="Image 2" descr="/tmp/build/assets/cell_inf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1508760" cy="1508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181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Uninfected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Parasitized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818120" y="4224528"/>
            <a:ext cx="3520440" cy="0"/>
          </a:xfrm>
          <a:prstGeom prst="line">
            <a:avLst/>
          </a:prstGeom>
          <a:noFill/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6" name="Text 21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parasite appears as </a:t>
            </a:r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violet specks</a:t>
            </a:r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cell (the Giemsa stain). The model must learn this cue — and ignore staining noise.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13716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338560" y="5760720"/>
            <a:ext cx="914400" cy="91440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576072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FIELD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malaria CNNs evolved, 2016 → 2024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34440" y="3429000"/>
            <a:ext cx="9720072" cy="0"/>
          </a:xfrm>
          <a:prstGeom prst="line">
            <a:avLst/>
          </a:prstGeom>
          <a:noFill/>
          <a:ln w="3175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114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transfer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1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18688"/>
            <a:ext cx="420624" cy="42062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13232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82880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Liang [1]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841498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704338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Feature-extraction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43834" y="3008376"/>
            <a:ext cx="841248" cy="841248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146" y="3218688"/>
            <a:ext cx="420624" cy="420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143250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2612898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[2]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271516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5134356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73852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23" name="Image 2" descr="/tmp/build/assets/ic_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3218688"/>
            <a:ext cx="420624" cy="4206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73268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 txBox="1"/>
          <p:nvPr/>
        </p:nvSpPr>
        <p:spPr>
          <a:xfrm>
            <a:off x="5042916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[3]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701534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7564374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103870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29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3218688"/>
            <a:ext cx="420624" cy="42062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003286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 txBox="1"/>
          <p:nvPr/>
        </p:nvSpPr>
        <p:spPr>
          <a:xfrm>
            <a:off x="7472934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· Zhao · Masud · Umer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10131552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’22–’24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9994392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10533888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35" name="Image 4" descr="/tmp/build/assets/ic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3218688"/>
            <a:ext cx="420624" cy="42062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10433304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9902952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Madhu · Marques · others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914400" y="5623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arc:  </a:t>
            </a:r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“can a CNN even do this?” → squeezing accuracy from big models → shrinking them to run on a phone → preserving cell structure and benchmarking rigorously.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2016–2018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CNNs vs. transfer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880360"/>
          </a:xfrm>
          <a:prstGeom prst="roundRect">
            <a:avLst>
              <a:gd name="adj" fmla="val 285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" y="1929384"/>
            <a:ext cx="713232" cy="713232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005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Liang et al. [1] — 2016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579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16-layer CNN trained from scratch vs. off-the-shelf AlexNet features.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97.37%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16-layer 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7C8B93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832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B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91.99%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features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2880360"/>
          </a:xfrm>
          <a:prstGeom prst="roundRect">
            <a:avLst>
              <a:gd name="adj" fmla="val 285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501384" y="1929384"/>
            <a:ext cx="713232" cy="713232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60" y="2100560"/>
            <a:ext cx="370881" cy="37088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18105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[2] — 2018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which layers of pre-trained backbones carry the most transferable features.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9224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649224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18388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818388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VGG-16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987552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987552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9224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649224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818388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818388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 optimal layers → tuned a small classifier: a scalable diagnostic aid.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909828" y="5024628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33" name="Image 2" descr="/tmp/build/assets/ic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5218938"/>
            <a:ext cx="388620" cy="3886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87452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874520" y="517550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features beat generic ImageNet features for microscopy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B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training from scratch is costly, so the field turned to smartly reusing pre-trained networks. This tension (accuracy vs. compute) drives everything that follows.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2019–2022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Ensembles: many models, steadier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CNNs are </a:t>
            </a:r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high-variance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sensitive to how the data is split and shuffled. Averaging several diverse models cancels their individual errors and generalises better.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651760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7" name="Image 0" descr="/tmp/build/assets/ic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8273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[3] — 2019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VGG-19 + SqueezeNet ensemble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averaging 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variance and overfitting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more reliable predictions under noisy, real-world training conditions.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519672" y="2651760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82732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 et al. [8] — 2022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10-fold ensemble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10 folds lifted accuracy to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98.29% (AUC 99.76%)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strict stratified cross-validation + open-source code for reproducibility.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CC4A3F"/>
          </a:solidFill>
          <a:ln/>
        </p:spPr>
        <p:txBody>
          <a:bodyPr/>
          <a:p/>
        </p:txBody>
      </p:sp>
      <p:pic>
        <p:nvPicPr>
          <p:cNvPr id="19" name="Image 2" descr="/tmp/build/assets/ic_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2180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89204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 </a:t>
            </a:r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are memory-hungry and slow to train (Marques' ran ~2 days). Great for a cloud server; impractical for a phone — which is exactly why the next wave went lightweight.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&amp; on-device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diagnosis to endemic regions means running on a phone, offline — so researchers optimised for speed and size, not just accuracy.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6" y="2368296"/>
            <a:ext cx="749808" cy="749808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7" name="Image 0" descr="/tmp/build/assets/ic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770" y="2548250"/>
            <a:ext cx="389900" cy="389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Fuhad et al. [5]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+ knowledge distillation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99.23%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 — vs. ~19.6 billion for ensembles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s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a phone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25112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590288" y="2368296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8" name="Image 1" descr="/tmp/build/assets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242" y="2548250"/>
            <a:ext cx="389900" cy="389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9554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Masud et al. [7]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4955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8A4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 + cyclical learning rate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97.30%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50 epochs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409K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 min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train, no augmentation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01584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8366760" y="2368296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9" name="Image 2" descr="/tmp/build/assets/ic_magn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714" y="2548250"/>
            <a:ext cx="389900" cy="3899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27201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Zhao et al. [6]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2720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(FSRCNN) + SSD300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394192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96.5%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8394192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up-scaled 32→128 px images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394192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</a:t>
            </a:r>
            <a:endParaRPr lang="en-US" sz="1900" dirty="0"/>
          </a:p>
        </p:txBody>
      </p:sp>
      <p:sp>
        <p:nvSpPr>
          <p:cNvPr id="35" name="Text 30"/>
          <p:cNvSpPr txBox="1"/>
          <p:nvPr/>
        </p:nvSpPr>
        <p:spPr>
          <a:xfrm>
            <a:off x="8394192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— beats bicubic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94192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species</a:t>
            </a:r>
            <a:endParaRPr lang="en-US" sz="1900" dirty="0"/>
          </a:p>
        </p:txBody>
      </p:sp>
      <p:sp>
        <p:nvSpPr>
          <p:cNvPr id="37" name="Text 32"/>
          <p:cNvSpPr txBox="1"/>
          <p:nvPr/>
        </p:nvSpPr>
        <p:spPr>
          <a:xfrm>
            <a:off x="8394192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(P. falciparum + vivax)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ARCHITECTURE &amp; INPUTS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Capsule networks + smarter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1540" y="1943100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6" name="Image 0" descr="/tmp/build/assets/ic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 et al. [9] — 2023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Inception-V3 + Capsule Neural Network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CNNs lose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&amp; pose information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pooling. Capsules use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routing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parasite's position and orientation inside the cell — state-of-the-art morphological modelling.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43400"/>
            <a:ext cx="4846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8A43B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051560" y="44988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29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45262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 99.57%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 99.12%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99.73%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capsule routing is slow to back-propagate.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4480560"/>
          </a:xfrm>
          <a:prstGeom prst="roundRect">
            <a:avLst>
              <a:gd name="adj" fmla="val 183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6515100" y="1943100"/>
            <a:ext cx="777240" cy="77724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7" name="Image 1" descr="/tmp/build/assets/ic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1374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5236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Umer et al. [4] — 2020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523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CNN + YUV stain normalization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64922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286207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120×120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standardise crop size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675120" y="3246120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6492240" y="3465576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25" name="Text 21"/>
          <p:cNvSpPr txBox="1"/>
          <p:nvPr/>
        </p:nvSpPr>
        <p:spPr>
          <a:xfrm>
            <a:off x="64922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34472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Edge-detection filter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sharpen cell boundaries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75120" y="3831336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6492240" y="4050792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29" name="Text 25"/>
          <p:cNvSpPr txBox="1"/>
          <p:nvPr/>
        </p:nvSpPr>
        <p:spPr>
          <a:xfrm>
            <a:off x="649224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995160" y="403250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RGB → YUV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separate brightness from colour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75120" y="4416552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32" name="Shape 28"/>
          <p:cNvSpPr/>
          <p:nvPr/>
        </p:nvSpPr>
        <p:spPr>
          <a:xfrm>
            <a:off x="6492240" y="4636008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33" name="Text 29"/>
          <p:cNvSpPr txBox="1"/>
          <p:nvPr/>
        </p:nvSpPr>
        <p:spPr>
          <a:xfrm>
            <a:off x="649224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995160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equalisation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cancel staining differences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675120" y="5001768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36" name="Shape 32"/>
          <p:cNvSpPr/>
          <p:nvPr/>
        </p:nvSpPr>
        <p:spPr>
          <a:xfrm>
            <a:off x="6492240" y="5221224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37" name="Text 33"/>
          <p:cNvSpPr txBox="1"/>
          <p:nvPr/>
        </p:nvSpPr>
        <p:spPr>
          <a:xfrm>
            <a:off x="649224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520293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back → RGB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feed the CNN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779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model from cheating on staining artifacts → ~99.9% accuracy, 100% precision.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2023–2024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benchmarking: does 'heavy' win?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 stops chasing new architectures and instead asks: fairly compared, do big residual backbones actually beat small ones?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48716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7" name="Image 0" descr="/tmp/build/assets/ic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662733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Hemachandran et al. [10] — 2023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vs. MobileNetV2 vs. ResNet-50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reached 97.06%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matching a much heavier residual backbone. (The paper is honest about an internal inconsistency in its own conclusions.)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519672" y="248716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662733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Mujahid et al. [11] — 2024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12-layer CNN vs. 11 backbones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carefully tuned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hit 97.57%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lowest test loss (0.0995) — fine-tuned pooling &amp; dropout can out-converge generic pre-trained nets.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14400" y="5166360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19" name="Image 2" descr="/tmp/build/assets/ic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49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93776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lightweight models rival heavy ones on this task. Efficiency is not a compromise — it's a viable design goal.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11 studies on one page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4114800"/>
                <a:gridCol w="414223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(Year)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Liang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16-layer CNN from scratch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97.37% — beats AlexNet features (91.99%)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CNNs as feature extractors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Mapped optimal transfer layers; scalable 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VGG-19 + SqueezeNet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variance, better 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Umer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CNN + YUV stain normalization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~99.9% acc, 100% precision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Fuhad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Autoencoder + knowledge distillation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99.23% · 4,600 FLOPS · &lt;1 s · fixed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Zhao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 + FSRCNN super-res + SSD300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 · cross-species (P. vivax)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CNN + cyclical 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 · 409K params · ~97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Marques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· 10-fold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98.29% · AUC 99.76% ·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Madhu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Inception-V3 + Capsule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99.35% · preserves spatial 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Hemachandran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vs MobileNetV2 vs 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97.06% · light ≈ 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Mujahid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12-layer CNN vs 11 backbones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97.57% · lowest test loss (0.0995)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accuracy ranking is misleading — protocols, splits and data-cleaning differ across papers (see next slide).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accuracy across studies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starts at 94% to reveal differences.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66760" y="1600200"/>
            <a:ext cx="3273552" cy="4160520"/>
          </a:xfrm>
          <a:prstGeom prst="roundRect">
            <a:avLst>
              <a:gd name="adj" fmla="val 2514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8709660" y="1943100"/>
            <a:ext cx="777240" cy="777240"/>
          </a:xfrm>
          <a:prstGeom prst="ellipse">
            <a:avLst/>
          </a:prstGeom>
          <a:solidFill>
            <a:srgbClr val="CC4A3F"/>
          </a:solidFill>
          <a:ln/>
        </p:spPr>
        <p:txBody>
          <a:bodyPr/>
          <a:p/>
        </p:txBody>
      </p:sp>
      <p:pic>
        <p:nvPicPr>
          <p:cNvPr id="8" name="Image 0" descr="/tmp/build/assets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213741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20848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8686800" y="3118104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8961120" y="30266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splits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33375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5-fold, 10-fold and 80:20 aren't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0" y="4050792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8961120" y="39593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70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 on the noisy set, some on cleaned labels.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86800" y="4983480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8961120" y="48920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leakage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52029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scores may hide patient-level data leakage.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" y="576072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40080" y="5029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BONUS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— what nobody has solved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23544" y="2157984"/>
            <a:ext cx="749808" cy="749808"/>
          </a:xfrm>
          <a:prstGeom prst="ellipse">
            <a:avLst/>
          </a:prstGeom>
          <a:solidFill>
            <a:srgbClr val="CC4A3F"/>
          </a:solidFill>
          <a:ln/>
        </p:spPr>
        <p:txBody>
          <a:bodyPr/>
          <a:p/>
        </p:txBody>
      </p:sp>
      <p:pic>
        <p:nvPicPr>
          <p:cNvPr id="9" name="Image 0" descr="/tmp/build/assets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2345436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data leakage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image-level splits put cells from the same patient in both train and test — inflating accuracy and hiding poor generalisation. Only [1] and [2] split by patient.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45936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629400" y="2157984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1" descr="/tmp/build/assets/ic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52" y="2345436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0376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580376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Single-species focus</a:t>
            </a:r>
            <a:endParaRPr lang="en-US" sz="1650" dirty="0"/>
          </a:p>
        </p:txBody>
      </p:sp>
      <p:sp>
        <p:nvSpPr>
          <p:cNvPr id="18" name="Text 14"/>
          <p:cNvSpPr txBox="1"/>
          <p:nvPr/>
        </p:nvSpPr>
        <p:spPr>
          <a:xfrm>
            <a:off x="6665976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models are trained only on P. falciparum. Performance on P. vivax, ovale, malariae, knowlesi is largely untested — only Zhao [6] tried.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923544" y="4361688"/>
            <a:ext cx="749808" cy="749808"/>
          </a:xfrm>
          <a:prstGeom prst="ellipse">
            <a:avLst/>
          </a:prstGeom>
          <a:solidFill>
            <a:srgbClr val="D99A00"/>
          </a:solidFill>
          <a:ln/>
        </p:spPr>
        <p:txBody>
          <a:bodyPr/>
          <a:p/>
        </p:txBody>
      </p:sp>
      <p:pic>
        <p:nvPicPr>
          <p:cNvPr id="21" name="Image 2" descr="/tmp/build/assets/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4549140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874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874520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ground-truth labels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Fuhad [5], everyone trains and reports on the mislabeled public set — so many 'state-of-the-art' numbers are measured against imperfect labels.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345936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26" name="Shape 21"/>
          <p:cNvSpPr/>
          <p:nvPr/>
        </p:nvSpPr>
        <p:spPr>
          <a:xfrm>
            <a:off x="6629400" y="4361688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7" name="Image 3" descr="/tmp/build/assets/ic_work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4549140"/>
            <a:ext cx="374904" cy="3749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80376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4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7580376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Clinical-workflow gap</a:t>
            </a:r>
            <a:endParaRPr lang="en-US" sz="1650" dirty="0"/>
          </a:p>
        </p:txBody>
      </p:sp>
      <p:sp>
        <p:nvSpPr>
          <p:cNvPr id="30" name="Text 24"/>
          <p:cNvSpPr txBox="1"/>
          <p:nvPr/>
        </p:nvSpPr>
        <p:spPr>
          <a:xfrm>
            <a:off x="6665976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centres on clean, pre-segmented single cells. Real labs need raw, unsegmented thick smears with overlapping cells and background noise.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GAPS TO A PLAN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literature shapes our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and lesson maps directly onto a design decision — the review is our roadmap, not just background reading.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249424"/>
            <a:ext cx="603504" cy="603504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7" name="Image 0" descr="/tmp/build/assets/ic_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394265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2677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YUV stain normalization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74920" y="23865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074920" y="23865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Umer [4]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2677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Immunise the model against staining variation between labs.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632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" y="3163824"/>
            <a:ext cx="603504" cy="603504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4" name="Image 1" descr="/tmp/build/assets/ic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21" y="3308665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82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corrected dataset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4920" y="33009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074920" y="33009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Fuhad [5]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1821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clean labels so we learn real features, not artifacts.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39776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68680" y="4078224"/>
            <a:ext cx="603504" cy="603504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1" name="Image 2" descr="/tmp/build/assets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21" y="4223065"/>
            <a:ext cx="313822" cy="31382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0965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5-fold CV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74920" y="42153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 txBox="1"/>
          <p:nvPr/>
        </p:nvSpPr>
        <p:spPr>
          <a:xfrm>
            <a:off x="5074920" y="42153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Rajaraman [2]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096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patient before splitting — honest, leakage-free validation.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48920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68680" y="4992624"/>
            <a:ext cx="603504" cy="603504"/>
          </a:xfrm>
          <a:prstGeom prst="ellipse">
            <a:avLst/>
          </a:prstGeom>
          <a:solidFill>
            <a:srgbClr val="CC4A3F"/>
          </a:solidFill>
          <a:ln/>
        </p:spPr>
        <p:txBody>
          <a:bodyPr/>
          <a:p/>
        </p:txBody>
      </p:sp>
      <p:pic>
        <p:nvPicPr>
          <p:cNvPr id="28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21" y="5137465"/>
            <a:ext cx="313822" cy="31382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010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architecture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074920" y="51297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 txBox="1"/>
          <p:nvPr/>
        </p:nvSpPr>
        <p:spPr>
          <a:xfrm>
            <a:off x="5074920" y="5129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Masud [7] / Fuhad [5]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858000" y="50109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real-time, on-device inference for low-resource settings.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maturing field — and where we go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05840" y="1691640"/>
            <a:ext cx="10195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6F1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has moved from proof-of-concept CNNs → variance-reducing ensembles → capsule networks that preserve cell structure → lightweight models that run offline on a phone.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largely solved on clean data; the open problems are now about trust and deployment.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NEXT STAGES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4480560"/>
            <a:ext cx="8961120" cy="0"/>
          </a:xfrm>
          <a:prstGeom prst="line">
            <a:avLst/>
          </a:prstGeom>
          <a:noFill/>
          <a:ln w="25400">
            <a:solidFill>
              <a:srgbClr val="0E627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0160" y="4160520"/>
            <a:ext cx="640080" cy="64008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2801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 paper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public code, on the NIH set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5204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baseline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its reported numbers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76072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hypothesis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variable, a direction &amp; why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0100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0010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ablations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compare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24128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102412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write up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format, honest limits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5332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to build a clinically reliable, deployable malaria-screening system — with the gaps above as our contribution.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PHASE 2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literature review to a working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101955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6F1F3"/>
                </a:solidFill>
                <a:latin typeface="Calibri"/>
              </a:rPr>
              <a:t>Malaria is still confirmed by a technician scanning Giemsa-stained blood smears under a microscope: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slow, subjective and expert-dependent.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 Deep CNNs trained on the NIH cell dataset now report 96–99.9 % accuracy, but our review found that most evaluate on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random image-level splits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, so cells from the same patient sit in both training and testing. Phase 2 makes this concrete: we rebuild one strong published model, then ask how it holds up under fairer, stain-robust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C0C9"/>
                </a:solidFill>
                <a:latin typeface="Calibri"/>
              </a:rPr>
              <a:t>WHAT THIS PHASE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1832" y="4114800"/>
            <a:ext cx="658368" cy="658368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4279392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647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1 · Pick a base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Marques et al. [8]: EfficientNet-B0 with a stratified 10-fold ensemble. Open-source, strict CV, 98.29 %.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9432" y="4114800"/>
            <a:ext cx="658368" cy="65836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427939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223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2 · Reproduce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Rebuild its training recipe on the NIH set and match its numbers. This becomes our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57031" y="4114800"/>
            <a:ext cx="658368" cy="65836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27939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799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3 · State our hypothesis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Two changes, one variable each: a leakage-free split (H1) and YUV stain normalisation (H2).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53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Milestones 2 &amp; 3: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baseline reproduction (notebook) + hypothesis for the proposed changes.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BASE PAPER · MARQUES ET AL. [8],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Why EfficientNet-B0 + a 10-fold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Multimedia Tools and Applications 81 (2022). We need a published, reproducible model to compare our changes against.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2221991"/>
            <a:ext cx="548640" cy="54864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59151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219456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Open-source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9631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Authors released their code, so a fair, faithful reproduction is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9232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3118103"/>
            <a:ext cx="548640" cy="5486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526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1328" y="309067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Strict, stratified 10-fold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9242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most rigorous protocol in our review. Every image is validated once.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49808" y="4014215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15137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3986783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Light backbone (~4–5 M params)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8853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B0 is the smallest EfficientNet, so it stays close to our deployability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91456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4910328"/>
            <a:ext cx="548640" cy="54864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04748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882896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Strong, but not at the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8464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98.29 % leaves room to measure whether a change helps or hurts.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03120"/>
            <a:ext cx="5056632" cy="3474720"/>
          </a:xfrm>
          <a:prstGeom prst="roundRect">
            <a:avLst>
              <a:gd name="adj" fmla="val 6000"/>
            </a:avLst>
          </a:prstGeom>
          <a:solidFill>
            <a:srgbClr val="17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THE METHOD WE REPRODUCE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0" y="2642616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0" y="2642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6060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NIH cells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60604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27,558 crops · 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3127248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0" y="31272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90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090672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224 × 224 RGB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0" y="3611880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57530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ImageNet weights, fully fine-tuned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0" y="4096512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0" y="40965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0599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059936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Adam 1e-4 · LR plateau decay → 1e-6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0" y="4581144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0" y="45811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5445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544568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stratified 10-fold cross-validation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0" y="5065776"/>
            <a:ext cx="310896" cy="310896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0" y="50657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292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Ensemble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02920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average the 10 fold models' probabilities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97.70 %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mean single-fold accuracy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98.29 %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46704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98.82 %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recall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99.76 %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ROC-AUC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Rebuilding the paper's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Same data, backbone, optimiser, schedule and validation. Deviations are listed openly.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589788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10312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 [8]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notebook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NIH, 27,558 cells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(Kaggle mirror)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EfficientNet-B0, ImageNet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Adam, lr 1e-4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LR schedule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Plateau, p = 6 → 1e-6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Stratified 10-fold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+ 10 % untouched 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Augmentation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Albumentations (unlisted)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Flips + 90° rotations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≤ 15, early stop (p =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Folds trained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3 of 10 (free GPU)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A79B"/>
                </a:solidFill>
                <a:latin typeface="Calibri"/>
              </a:rPr>
              <a:t>Same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matches the paper     </a:t>
            </a:r>
            <a:r>
              <a:rPr sz="1050" b="1" i="0">
                <a:solidFill>
                  <a:srgbClr val="D99A00"/>
                </a:solidFill>
                <a:latin typeface="Calibri"/>
              </a:rPr>
              <a:t>Amber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documented deviation (missing detail or compute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2057400"/>
            <a:ext cx="4919472" cy="406908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RESULTS · NIH TEST 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49440" y="2560320"/>
          <a:ext cx="4462272" cy="277977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20240"/>
                <a:gridCol w="1271016"/>
                <a:gridCol w="12710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Mean fold accuracy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97.38 %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Ensemble accuracy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98.29 %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97.57 %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Recall (sensitivity)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96.81 %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97.74 %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98.31 %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949440" y="5440680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262E"/>
                </a:solidFill>
                <a:latin typeface="Calibri"/>
              </a:rPr>
              <a:t>Success criterion: </a:t>
            </a:r>
            <a:r>
              <a:rPr sz="1100" b="0" i="0">
                <a:solidFill>
                  <a:srgbClr val="41525B"/>
                </a:solidFill>
                <a:latin typeface="Calibri"/>
              </a:rPr>
              <a:t>within ≈ 1 pp of the paper. Ours = notebook §10 output (Kaggle 2× T4 GPU).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475720" y="6172200"/>
            <a:ext cx="822960" cy="82296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A2A00"/>
                </a:solidFill>
                <a:latin typeface="Calibri"/>
              </a:rPr>
              <a:t>★ OUR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proposed changes, one variable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H1 ·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Leakage-free, slide-grouped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Split by slide/patient (StratifiedGroupKFold) instead of random images. Model unchanged.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Accuracy and MCC fall below the image-split baseline, and fold-to-fold spread widens.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Cells from one slide share stain, lighting and the patient's cell shape. A random split lets the model recognise the slide rather than the parasite.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20256" y="2057400"/>
            <a:ext cx="731520" cy="73152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24028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4656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H2 ·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YUV stain normalisation (Umer [4])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Add RGB → YUV → histogram-equalise Y → RGB before EfficientNet-B0. Grouped split kept fixed.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Higher recall and MCC than the H1 model on unseen slides; little change on the random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Equalising brightness strips slide-specific colour cues, so the network has to rely on parasite morphology. That's the signal that carries across labs.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2531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9A00"/>
                </a:solidFill>
                <a:latin typeface="Calibri"/>
              </a:rPr>
              <a:t>Falsifiable:  </a:t>
            </a:r>
            <a:r>
              <a:rPr sz="1250" b="0" i="0">
                <a:solidFill>
                  <a:srgbClr val="CFE3E8"/>
                </a:solidFill>
                <a:latin typeface="Calibri"/>
              </a:rPr>
              <a:t>if H2's gain over H1 is smaller than the fold-to-fold standard deviation, we reject H2. If grouped and random splits score the same, H1 is rejected and leakage is not a real issue on this dataset.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HOW WE WILL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Ablation plan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Each comparison changes exactly one thing (shown in brackets). Same seeds, epochs and folds throughout.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40080"/>
                <a:gridCol w="1920240"/>
                <a:gridCol w="1691640"/>
                <a:gridCol w="5468112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 (paper)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Baseline: does our reproduction match [8]?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EA79B"/>
                          </a:solidFill>
                          <a:latin typeface="Calibri"/>
                        </a:rPr>
                        <a:t>Milestone 2 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H1: how big is the leakage gap (A0 − A1)?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H2: does stain normalisation help on unseen slides (A2 − A1)?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Control: is H2's gain specific to new slides (A3 − A0 ≈ 0)?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5074920"/>
            <a:ext cx="566928" cy="56692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5216652"/>
            <a:ext cx="283464" cy="283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81328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Accuracy, recall (missed infections), MCC, ROC-AUC. Mean ± SD over folds plus the hold-out ensemble.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07992" y="5074920"/>
            <a:ext cx="566928" cy="566928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5216652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9512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Clinical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Recall first: a missed parasitized cell (false negative) costs more than a false alarm.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66176" y="5074920"/>
            <a:ext cx="566928" cy="56692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5216652"/>
            <a:ext cx="283464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Already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notebook has the grouped split and YUV switches. A1–A3 are one flag 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eleven reviewed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Liang et al., “CNN-Based Image Analysis for Malaria Diagnosis,” IEEE BIBM, 2016.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S. Rajaraman et al., “Pre-trained CNNs as feature extractors toward improved malaria parasite detection,” PeerJ 6:e4568, 2018.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Rajaraman et al., “Performance evaluation of deep neural ensembles toward malaria parasite detection,” PeerJ 7:e6977, 2019.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M. Umer et al., “A Novel Stacked CNN for Malarial Parasite Detection in Thin Blood Smear Images,” IEEE Access 8,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K. M. F. Fuhad et al., “Deep Learning Based Automatic Malaria Parasite Detection … Smartphone Application,” Diagnostics 10(5):329,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O. S. Zhao et al., “Convolutional neural networks to automate the screening of malaria in low-resource countries,” PeerJ 8:e9674, 2020.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50876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M. Masud et al., “Leveraging Deep Learning Techniques for Malaria Parasite Detection Using Mobile Application,” WCMC 2020:8895429.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G. Marques et al., “An ensemble-based approach for automated medical diagnosis of malaria using EfficientNet,” MTAP 81, 2022.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G. Madhu et al., “Intelligent diagnostic model … imperative inception-based capsule neural networks,” Scientific Reports 13,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K. Hemachandran et al., “Performance Analysis of Deep Learning Algorithms in Diagnosis of Malaria Disease,” Diagnostics 13(3):534,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Mujahid et al., “Efficient deep learning-based approach for malaria detection using red blood cell smears,” Scientific Reports 14, 2024.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397764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0" y="4297680"/>
            <a:ext cx="822960" cy="82296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8" name="Image 0" descr="/tmp/build/assets/ic_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45034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8096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on methods, results, or our chosen research gap are welcome.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</a:t>
            </a:r>
            <a:pPr indent="0" marL="0">
              <a:buNone/>
            </a:pPr>
            <a:r>
              <a:rPr lang="en-US" sz="11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 · J Amathziah · C Murali Madhav · Ravi Yadav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A0 results at a glance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Ensemble of our 3 fold models on the 2,756-image hold-out test set, next to what Marques et al. [8] report.</a:t>
            </a:r>
          </a:p>
        </p:txBody>
      </p:sp>
      <p:sp>
        <p:nvSpPr>
          <p:cNvPr id="6" name="Rounded Rectangle 6"/>
          <p:cNvSpPr/>
          <p:nvPr/>
        </p:nvSpPr>
        <p:spPr>
          <a:xfrm>
            <a:off x="548640" y="2057400"/>
            <a:ext cx="4454730" cy="231224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685800" y="2194560"/>
            <a:ext cx="41804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PAPER VS. OURS</a:t>
            </a:r>
          </a:p>
        </p:txBody>
      </p:sp>
      <p:pic>
        <p:nvPicPr>
          <p:cNvPr id="8" name="Figure Paper" descr="A0_vs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0"/>
            <a:ext cx="4180410" cy="1672164"/>
          </a:xfrm>
          <a:prstGeom prst="rect">
            <a:avLst/>
          </a:prstGeom>
        </p:spPr>
      </p:pic>
      <p:sp>
        <p:nvSpPr>
          <p:cNvPr id="9" name="Rounded Rectangle 6"/>
          <p:cNvSpPr/>
          <p:nvPr/>
        </p:nvSpPr>
        <p:spPr>
          <a:xfrm>
            <a:off x="5186250" y="2057400"/>
            <a:ext cx="6454056" cy="231224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7"/>
          <p:cNvSpPr txBox="1"/>
          <p:nvPr/>
        </p:nvSpPr>
        <p:spPr>
          <a:xfrm>
            <a:off x="5323410" y="2194560"/>
            <a:ext cx="617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TRAINING CURVES · CONFUSION MATRIX · ROC</a:t>
            </a:r>
          </a:p>
        </p:txBody>
      </p:sp>
      <p:pic>
        <p:nvPicPr>
          <p:cNvPr id="11" name="Figure Training" descr="A0_curves_cm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3410" y="2560320"/>
            <a:ext cx="6179736" cy="1672164"/>
          </a:xfrm>
          <a:prstGeom prst="rect">
            <a:avLst/>
          </a:prstGeom>
        </p:spPr>
      </p:pic>
      <p:sp>
        <p:nvSpPr>
          <p:cNvPr id="12" name="Shape 15"/>
          <p:cNvSpPr/>
          <p:nvPr/>
        </p:nvSpPr>
        <p:spPr>
          <a:xfrm>
            <a:off x="548640" y="4689684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13" name="Shape 16"/>
          <p:cNvSpPr/>
          <p:nvPr/>
        </p:nvSpPr>
        <p:spPr>
          <a:xfrm>
            <a:off x="905256" y="4790268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14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954860"/>
            <a:ext cx="329184" cy="329184"/>
          </a:xfrm>
          <a:prstGeom prst="rect">
            <a:avLst/>
          </a:prstGeom>
        </p:spPr>
      </p:pic>
      <p:sp>
        <p:nvSpPr>
          <p:cNvPr id="15" name="Text 17"/>
          <p:cNvSpPr txBox="1"/>
          <p:nvPr/>
        </p:nvSpPr>
        <p:spPr>
          <a:xfrm>
            <a:off x="1783080" y="4689684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 pp of the paper on both headline accuracies; recall is 2 pp lower (44 missed infected cells).</a:t>
            </a:r>
            <a:endParaRPr lang="en-US" sz="1550" dirty="0"/>
          </a:p>
        </p:txBody>
      </p:sp>
      <p:sp>
        <p:nvSpPr>
          <p:cNvPr id="16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2026-09-01T19:49:07Z</dcterms:created>
  <dcterms:modified xsi:type="dcterms:W3CDTF">2026-09-01T19:49:07Z</dcterms:modified>
</cp:coreProperties>
</file>